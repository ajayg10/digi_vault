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56"/>
  </p:notesMasterIdLst>
  <p:sldIdLst>
    <p:sldId id="283" r:id="rId2"/>
    <p:sldId id="331" r:id="rId3"/>
    <p:sldId id="332" r:id="rId4"/>
    <p:sldId id="364" r:id="rId5"/>
    <p:sldId id="366" r:id="rId6"/>
    <p:sldId id="365" r:id="rId7"/>
    <p:sldId id="367" r:id="rId8"/>
    <p:sldId id="333" r:id="rId9"/>
    <p:sldId id="368" r:id="rId10"/>
    <p:sldId id="371" r:id="rId11"/>
    <p:sldId id="369" r:id="rId12"/>
    <p:sldId id="372" r:id="rId13"/>
    <p:sldId id="370" r:id="rId14"/>
    <p:sldId id="373" r:id="rId15"/>
    <p:sldId id="340" r:id="rId16"/>
    <p:sldId id="341" r:id="rId17"/>
    <p:sldId id="374" r:id="rId18"/>
    <p:sldId id="334" r:id="rId19"/>
    <p:sldId id="342" r:id="rId20"/>
    <p:sldId id="375" r:id="rId21"/>
    <p:sldId id="343" r:id="rId22"/>
    <p:sldId id="335" r:id="rId23"/>
    <p:sldId id="376" r:id="rId24"/>
    <p:sldId id="346" r:id="rId25"/>
    <p:sldId id="347" r:id="rId26"/>
    <p:sldId id="377" r:id="rId27"/>
    <p:sldId id="348" r:id="rId28"/>
    <p:sldId id="349" r:id="rId29"/>
    <p:sldId id="338" r:id="rId30"/>
    <p:sldId id="350" r:id="rId31"/>
    <p:sldId id="351" r:id="rId32"/>
    <p:sldId id="352" r:id="rId33"/>
    <p:sldId id="353" r:id="rId34"/>
    <p:sldId id="378" r:id="rId35"/>
    <p:sldId id="354" r:id="rId36"/>
    <p:sldId id="379" r:id="rId37"/>
    <p:sldId id="380" r:id="rId38"/>
    <p:sldId id="381" r:id="rId39"/>
    <p:sldId id="382" r:id="rId40"/>
    <p:sldId id="383" r:id="rId41"/>
    <p:sldId id="384" r:id="rId42"/>
    <p:sldId id="385" r:id="rId43"/>
    <p:sldId id="386" r:id="rId44"/>
    <p:sldId id="387" r:id="rId45"/>
    <p:sldId id="357" r:id="rId46"/>
    <p:sldId id="388" r:id="rId47"/>
    <p:sldId id="358" r:id="rId48"/>
    <p:sldId id="359" r:id="rId49"/>
    <p:sldId id="389" r:id="rId50"/>
    <p:sldId id="360" r:id="rId51"/>
    <p:sldId id="390" r:id="rId52"/>
    <p:sldId id="361" r:id="rId53"/>
    <p:sldId id="362" r:id="rId54"/>
    <p:sldId id="344"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250" autoAdjust="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25F32F-8FA8-4785-BF22-B963D186180D}" type="datetimeFigureOut">
              <a:rPr lang="en-IN" smtClean="0"/>
              <a:t>10-04-2026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DB310D-395D-4200-8780-AE7F918EB5CF}" type="slidenum">
              <a:rPr lang="en-IN" smtClean="0"/>
              <a:t>‹#›</a:t>
            </a:fld>
            <a:endParaRPr lang="en-IN"/>
          </a:p>
        </p:txBody>
      </p:sp>
    </p:spTree>
    <p:extLst>
      <p:ext uri="{BB962C8B-B14F-4D97-AF65-F5344CB8AC3E}">
        <p14:creationId xmlns:p14="http://schemas.microsoft.com/office/powerpoint/2010/main" val="3580822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960CF53-8CB7-4E5E-B542-A4CC34AE9A12}" type="datetime1">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D9983535-1E6E-4ADC-95DC-7CB1F6551BDC}" type="datetime1">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7F43325-D4CA-4411-A6D6-1805347EB4AE}" type="datetime1">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ED10BBF-7EF8-42A2-87CC-A96A5EA8CF49}" type="datetime1">
              <a:rPr lang="en-US" smtClean="0"/>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C09996-03AD-4CE8-8A39-A15837B76C11}" type="datetime1">
              <a:rPr lang="en-US" smtClean="0"/>
              <a:t>4/10/2026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EAE91FE-E641-4418-BECE-1F1455CDA6E2}" type="datetime1">
              <a:rPr lang="en-US" smtClean="0"/>
              <a:t>4/10/2026</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2170B400-A039-49EA-B0EA-B25FAE092A1F}" type="datetime1">
              <a:rPr lang="en-US" smtClean="0"/>
              <a:t>4/10/2026</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Date Placeholder 4"/>
          <p:cNvSpPr>
            <a:spLocks noGrp="1"/>
          </p:cNvSpPr>
          <p:nvPr>
            <p:ph type="dt" sz="half" idx="10"/>
          </p:nvPr>
        </p:nvSpPr>
        <p:spPr/>
        <p:txBody>
          <a:bodyPr/>
          <a:lstStyle/>
          <a:p>
            <a:fld id="{EBB03668-AEBA-4CB7-ABA7-1911D34B188D}" type="datetime1">
              <a:rPr lang="en-US" smtClean="0"/>
              <a:t>4/10/2026</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F72A8A9-2E31-441D-9023-DCABC27B690F}" type="datetime1">
              <a:rPr lang="en-US" smtClean="0"/>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AAE4810-D6A6-42E6-820B-52329B838850}" type="datetime1">
              <a:rPr lang="en-US" smtClean="0"/>
              <a:t>4/10/2026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8079E453-E497-49A9-A007-45E8A3DC98F5}" type="datetime1">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3524266-AD85-4C78-8D3F-94571EEF9D07}" type="datetime1">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21DFE8B-353A-44C3-BC8A-F1943600F72D}" type="datetime1">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2F5D19AE-F5D9-4A03-B00A-A1004339838D}" type="datetime1">
              <a:rPr lang="en-US" smtClean="0"/>
              <a:t>4/10/2026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68A5AA2A-3E09-4D8E-BC04-C44728EE4E64}" type="datetime1">
              <a:rPr lang="en-US" smtClean="0"/>
              <a:t>4/10/2026</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398850-6A91-4B79-AE53-DDF2B2555F45}" type="datetime1">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1873146-B195-424A-9965-485B9EA4C006}" type="datetime1">
              <a:rPr lang="en-US" smtClean="0"/>
              <a:t>4/10/2026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2B46369-C6DC-46FB-BC28-50069088C048}" type="datetime1">
              <a:rPr lang="en-US" smtClean="0"/>
              <a:t>4/10/2026</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F5669-45A9-4F04-A3CB-5FA863CC9675}"/>
              </a:ext>
            </a:extLst>
          </p:cNvPr>
          <p:cNvSpPr>
            <a:spLocks noGrp="1"/>
          </p:cNvSpPr>
          <p:nvPr>
            <p:ph type="title"/>
          </p:nvPr>
        </p:nvSpPr>
        <p:spPr>
          <a:xfrm>
            <a:off x="646111" y="452716"/>
            <a:ext cx="9968101" cy="5876365"/>
          </a:xfrm>
        </p:spPr>
        <p:txBody>
          <a:bodyPr/>
          <a:lstStyle/>
          <a:p>
            <a:pPr algn="ctr"/>
            <a:r>
              <a:rPr lang="en-GB" sz="3200" b="1" dirty="0">
                <a:latin typeface="Times New Roman" panose="02020603050405020304" pitchFamily="18" charset="0"/>
                <a:cs typeface="Times New Roman" panose="02020603050405020304" pitchFamily="18" charset="0"/>
              </a:rPr>
              <a:t>Subject Code:21EEO304T</a:t>
            </a:r>
            <a:br>
              <a:rPr lang="en-GB" sz="3200" b="1" dirty="0">
                <a:latin typeface="Times New Roman" panose="02020603050405020304" pitchFamily="18" charset="0"/>
                <a:cs typeface="Times New Roman" panose="02020603050405020304" pitchFamily="18" charset="0"/>
              </a:rPr>
            </a:br>
            <a:r>
              <a:rPr lang="en-GB" sz="3200" b="1" dirty="0">
                <a:latin typeface="Times New Roman" panose="02020603050405020304" pitchFamily="18" charset="0"/>
                <a:cs typeface="Times New Roman" panose="02020603050405020304" pitchFamily="18" charset="0"/>
              </a:rPr>
              <a:t>Subject Name: Energy Efficient Practices</a:t>
            </a:r>
            <a:br>
              <a:rPr lang="en-IN" dirty="0"/>
            </a:b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br>
              <a:rPr lang="en-IN" dirty="0"/>
            </a:br>
            <a:r>
              <a:rPr lang="en-IN" dirty="0"/>
              <a:t>      </a:t>
            </a:r>
            <a:endParaRPr lang="en-GB" dirty="0"/>
          </a:p>
        </p:txBody>
      </p:sp>
      <p:sp>
        <p:nvSpPr>
          <p:cNvPr id="3" name="Subtitle 2"/>
          <p:cNvSpPr txBox="1">
            <a:spLocks/>
          </p:cNvSpPr>
          <p:nvPr/>
        </p:nvSpPr>
        <p:spPr>
          <a:xfrm>
            <a:off x="3516793" y="4361329"/>
            <a:ext cx="6400800" cy="1752600"/>
          </a:xfrm>
          <a:prstGeom prst="rect">
            <a:avLst/>
          </a:prstGeom>
        </p:spPr>
        <p:txBody>
          <a:bodyP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None/>
            </a:pPr>
            <a:r>
              <a:rPr lang="en-US" sz="2700" b="1" i="1" dirty="0">
                <a:latin typeface="Times New Roman" pitchFamily="18" charset="0"/>
                <a:cs typeface="Times New Roman" pitchFamily="18" charset="0"/>
              </a:rPr>
              <a:t>Dr. Amit Kumar</a:t>
            </a:r>
          </a:p>
          <a:p>
            <a:pPr marL="0" indent="0">
              <a:buNone/>
            </a:pPr>
            <a:r>
              <a:rPr lang="en-US" sz="2700" b="1" i="1" dirty="0">
                <a:latin typeface="Times New Roman" pitchFamily="18" charset="0"/>
                <a:cs typeface="Times New Roman" pitchFamily="18" charset="0"/>
              </a:rPr>
              <a:t>Assistant Professor</a:t>
            </a:r>
          </a:p>
          <a:p>
            <a:pPr marL="0" indent="0">
              <a:buNone/>
            </a:pPr>
            <a:r>
              <a:rPr lang="en-US" sz="2700" b="1" i="1" dirty="0">
                <a:latin typeface="Times New Roman" pitchFamily="18" charset="0"/>
                <a:cs typeface="Times New Roman" pitchFamily="18" charset="0"/>
              </a:rPr>
              <a:t>Mechanical Engineering Department</a:t>
            </a:r>
          </a:p>
        </p:txBody>
      </p:sp>
      <p:sp>
        <p:nvSpPr>
          <p:cNvPr id="4" name="TextBox 3">
            <a:extLst>
              <a:ext uri="{FF2B5EF4-FFF2-40B4-BE49-F238E27FC236}">
                <a16:creationId xmlns:a16="http://schemas.microsoft.com/office/drawing/2014/main" id="{A789BEF3-CD77-84C9-BF36-355276448887}"/>
              </a:ext>
            </a:extLst>
          </p:cNvPr>
          <p:cNvSpPr txBox="1"/>
          <p:nvPr/>
        </p:nvSpPr>
        <p:spPr>
          <a:xfrm>
            <a:off x="2531650" y="2464331"/>
            <a:ext cx="7239000" cy="477054"/>
          </a:xfrm>
          <a:prstGeom prst="rect">
            <a:avLst/>
          </a:prstGeom>
          <a:noFill/>
        </p:spPr>
        <p:txBody>
          <a:bodyPr wrap="square" rtlCol="0">
            <a:spAutoFit/>
          </a:bodyPr>
          <a:lstStyle/>
          <a:p>
            <a:pPr algn="just"/>
            <a:r>
              <a:rPr lang="en-US" sz="2500" b="1" dirty="0">
                <a:latin typeface="Times New Roman" panose="02020603050405020304" pitchFamily="18" charset="0"/>
                <a:cs typeface="Times New Roman" panose="02020603050405020304" pitchFamily="18" charset="0"/>
              </a:rPr>
              <a:t>Course Offered To</a:t>
            </a:r>
            <a:r>
              <a:rPr lang="en-US" sz="2500" dirty="0">
                <a:latin typeface="Times New Roman" panose="02020603050405020304" pitchFamily="18" charset="0"/>
                <a:cs typeface="Times New Roman" panose="02020603050405020304" pitchFamily="18" charset="0"/>
              </a:rPr>
              <a:t>: </a:t>
            </a:r>
            <a:r>
              <a:rPr lang="en-US" sz="2500" dirty="0" err="1">
                <a:latin typeface="Times New Roman" panose="02020603050405020304" pitchFamily="18" charset="0"/>
                <a:cs typeface="Times New Roman" panose="02020603050405020304" pitchFamily="18" charset="0"/>
              </a:rPr>
              <a:t>B.Tech</a:t>
            </a:r>
            <a:r>
              <a:rPr lang="en-US" sz="2500" dirty="0">
                <a:latin typeface="Times New Roman" panose="02020603050405020304" pitchFamily="18" charset="0"/>
                <a:cs typeface="Times New Roman" panose="02020603050405020304" pitchFamily="18" charset="0"/>
              </a:rPr>
              <a:t> 6</a:t>
            </a:r>
            <a:r>
              <a:rPr lang="en-US" sz="2500" baseline="30000" dirty="0">
                <a:latin typeface="Times New Roman" panose="02020603050405020304" pitchFamily="18" charset="0"/>
                <a:cs typeface="Times New Roman" panose="02020603050405020304" pitchFamily="18" charset="0"/>
              </a:rPr>
              <a:t>th</a:t>
            </a:r>
            <a:r>
              <a:rPr lang="en-US" sz="2500" dirty="0">
                <a:latin typeface="Times New Roman" panose="02020603050405020304" pitchFamily="18" charset="0"/>
                <a:cs typeface="Times New Roman" panose="02020603050405020304" pitchFamily="18" charset="0"/>
              </a:rPr>
              <a:t> Semester Students </a:t>
            </a:r>
            <a:endParaRPr lang="en-IN" sz="25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D57F1E4F-1CFF-5643-939E-02111984F565}" type="slidenum">
              <a:rPr lang="en-US" smtClean="0"/>
              <a:pPr/>
              <a:t>1</a:t>
            </a:fld>
            <a:endParaRPr lang="en-US" dirty="0"/>
          </a:p>
        </p:txBody>
      </p:sp>
    </p:spTree>
    <p:extLst>
      <p:ext uri="{BB962C8B-B14F-4D97-AF65-F5344CB8AC3E}">
        <p14:creationId xmlns:p14="http://schemas.microsoft.com/office/powerpoint/2010/main" val="42104200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530CA-F389-4261-BF1A-00BDF6099E1D}"/>
              </a:ext>
            </a:extLst>
          </p:cNvPr>
          <p:cNvSpPr>
            <a:spLocks noGrp="1"/>
          </p:cNvSpPr>
          <p:nvPr>
            <p:ph type="title"/>
          </p:nvPr>
        </p:nvSpPr>
        <p:spPr>
          <a:xfrm>
            <a:off x="672744" y="295728"/>
            <a:ext cx="9679796" cy="1950321"/>
          </a:xfrm>
        </p:spPr>
        <p:txBody>
          <a:bodyPr/>
          <a:lstStyle/>
          <a:p>
            <a:pPr algn="ctr"/>
            <a:r>
              <a:rPr lang="en-US" dirty="0">
                <a:solidFill>
                  <a:srgbClr val="FFC000"/>
                </a:solidFill>
              </a:rPr>
              <a:t>Unit-5</a:t>
            </a:r>
            <a:br>
              <a:rPr lang="en-US" dirty="0"/>
            </a:br>
            <a:r>
              <a:rPr lang="en-US" b="1" dirty="0">
                <a:solidFill>
                  <a:srgbClr val="FFFF00"/>
                </a:solidFill>
              </a:rPr>
              <a:t>Industrial Sector</a:t>
            </a:r>
            <a:endParaRPr lang="en-IN" b="1" dirty="0">
              <a:solidFill>
                <a:srgbClr val="FFFF00"/>
              </a:solidFill>
            </a:endParaRPr>
          </a:p>
        </p:txBody>
      </p:sp>
      <p:sp>
        <p:nvSpPr>
          <p:cNvPr id="3" name="Slide Number Placeholder 2">
            <a:extLst>
              <a:ext uri="{FF2B5EF4-FFF2-40B4-BE49-F238E27FC236}">
                <a16:creationId xmlns:a16="http://schemas.microsoft.com/office/drawing/2014/main" id="{18C79A04-AA10-4869-8B82-FFFFF9A1174B}"/>
              </a:ext>
            </a:extLst>
          </p:cNvPr>
          <p:cNvSpPr>
            <a:spLocks noGrp="1"/>
          </p:cNvSpPr>
          <p:nvPr>
            <p:ph type="sldNum" sz="quarter" idx="12"/>
          </p:nvPr>
        </p:nvSpPr>
        <p:spPr/>
        <p:txBody>
          <a:bodyPr/>
          <a:lstStyle/>
          <a:p>
            <a:fld id="{D57F1E4F-1CFF-5643-939E-02111984F565}" type="slidenum">
              <a:rPr lang="en-US" smtClean="0"/>
              <a:pPr/>
              <a:t>2</a:t>
            </a:fld>
            <a:endParaRPr lang="en-US" dirty="0"/>
          </a:p>
        </p:txBody>
      </p:sp>
      <p:sp>
        <p:nvSpPr>
          <p:cNvPr id="4" name="Content Placeholder 2">
            <a:extLst>
              <a:ext uri="{FF2B5EF4-FFF2-40B4-BE49-F238E27FC236}">
                <a16:creationId xmlns:a16="http://schemas.microsoft.com/office/drawing/2014/main" id="{731F8698-DDEE-4860-AEC6-CCEE6D0F353A}"/>
              </a:ext>
            </a:extLst>
          </p:cNvPr>
          <p:cNvSpPr txBox="1">
            <a:spLocks/>
          </p:cNvSpPr>
          <p:nvPr/>
        </p:nvSpPr>
        <p:spPr>
          <a:xfrm>
            <a:off x="1702375" y="2507401"/>
            <a:ext cx="8246781" cy="3548815"/>
          </a:xfrm>
          <a:prstGeom prst="rect">
            <a:avLst/>
          </a:prstGeom>
        </p:spPr>
        <p:txBody>
          <a:bodyPr>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nSpc>
                <a:spcPct val="200000"/>
              </a:lnSpc>
              <a:buFont typeface="Wingdings" panose="05000000000000000000" pitchFamily="2" charset="2"/>
              <a:buChar char="q"/>
            </a:pPr>
            <a:r>
              <a:rPr lang="en-US" sz="1800" dirty="0"/>
              <a:t>Energy efficiency in industrial sector</a:t>
            </a:r>
          </a:p>
          <a:p>
            <a:pPr>
              <a:lnSpc>
                <a:spcPct val="200000"/>
              </a:lnSpc>
              <a:buFont typeface="Wingdings" panose="05000000000000000000" pitchFamily="2" charset="2"/>
              <a:buChar char="q"/>
            </a:pPr>
            <a:r>
              <a:rPr lang="en-US" sz="1800" dirty="0"/>
              <a:t>Main challenges to improve energy efficiency in industry</a:t>
            </a:r>
            <a:r>
              <a:rPr lang="en-IN" sz="1800" dirty="0"/>
              <a:t> </a:t>
            </a:r>
          </a:p>
          <a:p>
            <a:pPr>
              <a:lnSpc>
                <a:spcPct val="200000"/>
              </a:lnSpc>
              <a:buFont typeface="Wingdings" panose="05000000000000000000" pitchFamily="2" charset="2"/>
              <a:buChar char="q"/>
            </a:pPr>
            <a:r>
              <a:rPr lang="en-US" sz="1800" dirty="0"/>
              <a:t>Energy Efficient Technologies</a:t>
            </a:r>
          </a:p>
          <a:p>
            <a:pPr>
              <a:lnSpc>
                <a:spcPct val="200000"/>
              </a:lnSpc>
              <a:buFont typeface="Wingdings" panose="05000000000000000000" pitchFamily="2" charset="2"/>
              <a:buChar char="q"/>
            </a:pPr>
            <a:r>
              <a:rPr lang="en-US" sz="1800" dirty="0"/>
              <a:t>Industrial Automation</a:t>
            </a:r>
          </a:p>
          <a:p>
            <a:pPr>
              <a:lnSpc>
                <a:spcPct val="200000"/>
              </a:lnSpc>
              <a:buFont typeface="Wingdings" panose="05000000000000000000" pitchFamily="2" charset="2"/>
              <a:buChar char="q"/>
            </a:pPr>
            <a:r>
              <a:rPr lang="en-US" sz="1800" dirty="0"/>
              <a:t>Industrial Sensors</a:t>
            </a:r>
          </a:p>
          <a:p>
            <a:pPr>
              <a:lnSpc>
                <a:spcPct val="200000"/>
              </a:lnSpc>
              <a:buFont typeface="Wingdings" panose="05000000000000000000" pitchFamily="2" charset="2"/>
              <a:buChar char="q"/>
            </a:pPr>
            <a:endParaRPr lang="en-IN" sz="1800" dirty="0"/>
          </a:p>
        </p:txBody>
      </p:sp>
    </p:spTree>
    <p:extLst>
      <p:ext uri="{BB962C8B-B14F-4D97-AF65-F5344CB8AC3E}">
        <p14:creationId xmlns:p14="http://schemas.microsoft.com/office/powerpoint/2010/main" val="2670374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3</a:t>
            </a:fld>
            <a:endParaRPr lang="en-US" dirty="0"/>
          </a:p>
        </p:txBody>
      </p:sp>
      <p:sp>
        <p:nvSpPr>
          <p:cNvPr id="4" name="Rectangle 3"/>
          <p:cNvSpPr/>
          <p:nvPr/>
        </p:nvSpPr>
        <p:spPr>
          <a:xfrm>
            <a:off x="3360278" y="417085"/>
            <a:ext cx="5077031" cy="661656"/>
          </a:xfrm>
          <a:prstGeom prst="rect">
            <a:avLst/>
          </a:prstGeom>
        </p:spPr>
        <p:txBody>
          <a:bodyPr wrap="none">
            <a:spAutoFit/>
          </a:bodyPr>
          <a:lstStyle/>
          <a:p>
            <a:pPr>
              <a:lnSpc>
                <a:spcPct val="200000"/>
              </a:lnSpc>
            </a:pPr>
            <a:r>
              <a:rPr lang="en-US" sz="2200" b="1" dirty="0">
                <a:solidFill>
                  <a:srgbClr val="FFC000"/>
                </a:solidFill>
              </a:rPr>
              <a:t>Energy efficiency in industrial sector</a:t>
            </a:r>
          </a:p>
        </p:txBody>
      </p:sp>
      <p:sp>
        <p:nvSpPr>
          <p:cNvPr id="5" name="TextBox 4"/>
          <p:cNvSpPr txBox="1"/>
          <p:nvPr/>
        </p:nvSpPr>
        <p:spPr>
          <a:xfrm>
            <a:off x="307649" y="1307506"/>
            <a:ext cx="10947162" cy="4801314"/>
          </a:xfrm>
          <a:prstGeom prst="rect">
            <a:avLst/>
          </a:prstGeom>
          <a:noFill/>
        </p:spPr>
        <p:txBody>
          <a:bodyPr wrap="square" rtlCol="0">
            <a:spAutoFit/>
          </a:bodyPr>
          <a:lstStyle/>
          <a:p>
            <a:pPr algn="just"/>
            <a:r>
              <a:rPr lang="en-US" dirty="0">
                <a:solidFill>
                  <a:srgbClr val="FFFF00"/>
                </a:solidFill>
              </a:rPr>
              <a:t>Energy efficiency </a:t>
            </a:r>
            <a:r>
              <a:rPr lang="en-US" dirty="0"/>
              <a:t>in the </a:t>
            </a:r>
            <a:r>
              <a:rPr lang="en-US" dirty="0">
                <a:solidFill>
                  <a:srgbClr val="FFFF00"/>
                </a:solidFill>
              </a:rPr>
              <a:t>industrial sector </a:t>
            </a:r>
            <a:r>
              <a:rPr lang="en-US" dirty="0"/>
              <a:t>is a critical aspect of </a:t>
            </a:r>
            <a:r>
              <a:rPr lang="en-US" dirty="0">
                <a:solidFill>
                  <a:srgbClr val="FFFF00"/>
                </a:solidFill>
              </a:rPr>
              <a:t>sustainable development</a:t>
            </a:r>
            <a:r>
              <a:rPr lang="en-US" dirty="0"/>
              <a:t>, as industries are among the </a:t>
            </a:r>
            <a:r>
              <a:rPr lang="en-US" dirty="0">
                <a:solidFill>
                  <a:srgbClr val="FFFF00"/>
                </a:solidFill>
              </a:rPr>
              <a:t>largest consumers of energy globally</a:t>
            </a:r>
            <a:r>
              <a:rPr lang="en-US" dirty="0"/>
              <a:t>. Improving </a:t>
            </a:r>
            <a:r>
              <a:rPr lang="en-US" dirty="0">
                <a:solidFill>
                  <a:srgbClr val="FFFF00"/>
                </a:solidFill>
              </a:rPr>
              <a:t>energy efficiency</a:t>
            </a:r>
            <a:r>
              <a:rPr lang="en-US" dirty="0"/>
              <a:t> not only reduces </a:t>
            </a:r>
            <a:r>
              <a:rPr lang="en-US" dirty="0">
                <a:solidFill>
                  <a:srgbClr val="FFFF00"/>
                </a:solidFill>
              </a:rPr>
              <a:t>operational costs </a:t>
            </a:r>
            <a:r>
              <a:rPr lang="en-US" dirty="0"/>
              <a:t>but also </a:t>
            </a:r>
            <a:r>
              <a:rPr lang="en-US" dirty="0">
                <a:solidFill>
                  <a:srgbClr val="FFFF00"/>
                </a:solidFill>
              </a:rPr>
              <a:t>minimizes environmental impact</a:t>
            </a:r>
            <a:r>
              <a:rPr lang="en-US" dirty="0"/>
              <a:t>. </a:t>
            </a:r>
          </a:p>
          <a:p>
            <a:pPr algn="just"/>
            <a:endParaRPr lang="en-US" dirty="0"/>
          </a:p>
          <a:p>
            <a:r>
              <a:rPr lang="en-US" b="1" dirty="0">
                <a:solidFill>
                  <a:srgbClr val="FFFF00"/>
                </a:solidFill>
              </a:rPr>
              <a:t>Importance of Energy Efficiency in Industry</a:t>
            </a:r>
          </a:p>
          <a:p>
            <a:endParaRPr lang="en-US" b="1" dirty="0"/>
          </a:p>
          <a:p>
            <a:pPr marL="285750" indent="-285750" algn="just">
              <a:buFont typeface="Arial" panose="020B0604020202020204" pitchFamily="34" charset="0"/>
              <a:buChar char="•"/>
            </a:pPr>
            <a:r>
              <a:rPr lang="en-US" b="1" dirty="0">
                <a:solidFill>
                  <a:srgbClr val="FFFF00"/>
                </a:solidFill>
              </a:rPr>
              <a:t>High Energy Consumption</a:t>
            </a:r>
            <a:r>
              <a:rPr lang="en-US" dirty="0">
                <a:solidFill>
                  <a:srgbClr val="FFFF00"/>
                </a:solidFill>
              </a:rPr>
              <a:t>: </a:t>
            </a:r>
            <a:r>
              <a:rPr lang="en-US" dirty="0"/>
              <a:t>Industries account for a </a:t>
            </a:r>
            <a:r>
              <a:rPr lang="en-US" dirty="0">
                <a:solidFill>
                  <a:srgbClr val="FFFF00"/>
                </a:solidFill>
              </a:rPr>
              <a:t>significant portion of global energy </a:t>
            </a:r>
            <a:r>
              <a:rPr lang="en-US" dirty="0"/>
              <a:t>use, especially in </a:t>
            </a:r>
            <a:r>
              <a:rPr lang="en-US" dirty="0">
                <a:solidFill>
                  <a:srgbClr val="FFFF00"/>
                </a:solidFill>
              </a:rPr>
              <a:t>energy-intensive sectors </a:t>
            </a:r>
            <a:r>
              <a:rPr lang="en-US" dirty="0"/>
              <a:t>like </a:t>
            </a:r>
            <a:r>
              <a:rPr lang="en-US" dirty="0">
                <a:solidFill>
                  <a:srgbClr val="FFFF00"/>
                </a:solidFill>
              </a:rPr>
              <a:t>manufacturing, cement, steel, and chemicals</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rgbClr val="FFFF00"/>
                </a:solidFill>
              </a:rPr>
              <a:t>Cost Savings</a:t>
            </a:r>
            <a:r>
              <a:rPr lang="en-US" dirty="0">
                <a:solidFill>
                  <a:srgbClr val="FFFF00"/>
                </a:solidFill>
              </a:rPr>
              <a:t>: </a:t>
            </a:r>
            <a:r>
              <a:rPr lang="en-US" dirty="0"/>
              <a:t>Efficient energy use reduces </a:t>
            </a:r>
            <a:r>
              <a:rPr lang="en-US" dirty="0">
                <a:solidFill>
                  <a:srgbClr val="FFFF00"/>
                </a:solidFill>
              </a:rPr>
              <a:t>production costs</a:t>
            </a:r>
            <a:r>
              <a:rPr lang="en-US" dirty="0"/>
              <a:t>, enhancing </a:t>
            </a:r>
            <a:r>
              <a:rPr lang="en-US" dirty="0">
                <a:solidFill>
                  <a:srgbClr val="FFFF00"/>
                </a:solidFill>
              </a:rPr>
              <a:t>profitability and competitiveness. </a:t>
            </a:r>
            <a:r>
              <a:rPr lang="en-US" dirty="0"/>
              <a:t>(through better equipment, optimized processes, waste heat recovery, variable speed drives, LED lighting, or smarter controls)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solidFill>
                  <a:srgbClr val="FFFF00"/>
                </a:solidFill>
              </a:rPr>
              <a:t>Environmental Benefits</a:t>
            </a:r>
            <a:r>
              <a:rPr lang="en-US" dirty="0">
                <a:solidFill>
                  <a:srgbClr val="FFFF00"/>
                </a:solidFill>
              </a:rPr>
              <a:t>: Lower energy consumption </a:t>
            </a:r>
            <a:r>
              <a:rPr lang="en-US" dirty="0"/>
              <a:t>leads to </a:t>
            </a:r>
            <a:r>
              <a:rPr lang="en-US" dirty="0">
                <a:solidFill>
                  <a:srgbClr val="FFFF00"/>
                </a:solidFill>
              </a:rPr>
              <a:t>reduced greenhouse gas emissions</a:t>
            </a:r>
            <a:r>
              <a:rPr lang="en-US" dirty="0"/>
              <a:t>, contributing to climate change mitigation.</a:t>
            </a:r>
          </a:p>
          <a:p>
            <a:pPr marL="285750" indent="-285750" algn="just">
              <a:buFont typeface="Arial" panose="020B0604020202020204" pitchFamily="34" charset="0"/>
              <a:buChar char="•"/>
            </a:pPr>
            <a:endParaRPr lang="en-US" dirty="0"/>
          </a:p>
          <a:p>
            <a:pPr algn="just"/>
            <a:endParaRPr lang="en-IN" dirty="0"/>
          </a:p>
        </p:txBody>
      </p:sp>
    </p:spTree>
    <p:extLst>
      <p:ext uri="{BB962C8B-B14F-4D97-AF65-F5344CB8AC3E}">
        <p14:creationId xmlns:p14="http://schemas.microsoft.com/office/powerpoint/2010/main" val="2397850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A1DE0B8-B227-2201-DB8F-DDF015608ABB}"/>
              </a:ext>
            </a:extLst>
          </p:cNvPr>
          <p:cNvSpPr>
            <a:spLocks noGrp="1"/>
          </p:cNvSpPr>
          <p:nvPr>
            <p:ph type="sldNum" sz="quarter" idx="12"/>
          </p:nvPr>
        </p:nvSpPr>
        <p:spPr/>
        <p:txBody>
          <a:bodyPr/>
          <a:lstStyle/>
          <a:p>
            <a:fld id="{D57F1E4F-1CFF-5643-939E-02111984F565}" type="slidenum">
              <a:rPr lang="en-US" smtClean="0"/>
              <a:pPr/>
              <a:t>4</a:t>
            </a:fld>
            <a:endParaRPr lang="en-US" dirty="0"/>
          </a:p>
        </p:txBody>
      </p:sp>
      <p:pic>
        <p:nvPicPr>
          <p:cNvPr id="7" name="Picture 6">
            <a:extLst>
              <a:ext uri="{FF2B5EF4-FFF2-40B4-BE49-F238E27FC236}">
                <a16:creationId xmlns:a16="http://schemas.microsoft.com/office/drawing/2014/main" id="{AE8D4245-29E2-7528-46F5-16F36BB1360A}"/>
              </a:ext>
            </a:extLst>
          </p:cNvPr>
          <p:cNvPicPr>
            <a:picLocks noChangeAspect="1"/>
          </p:cNvPicPr>
          <p:nvPr/>
        </p:nvPicPr>
        <p:blipFill>
          <a:blip r:embed="rId2"/>
          <a:stretch>
            <a:fillRect/>
          </a:stretch>
        </p:blipFill>
        <p:spPr>
          <a:xfrm>
            <a:off x="1397092" y="825759"/>
            <a:ext cx="9115398" cy="5206482"/>
          </a:xfrm>
          <a:prstGeom prst="rect">
            <a:avLst/>
          </a:prstGeom>
        </p:spPr>
      </p:pic>
      <p:sp>
        <p:nvSpPr>
          <p:cNvPr id="9" name="TextBox 8">
            <a:extLst>
              <a:ext uri="{FF2B5EF4-FFF2-40B4-BE49-F238E27FC236}">
                <a16:creationId xmlns:a16="http://schemas.microsoft.com/office/drawing/2014/main" id="{6135EF19-B7BF-C198-1AF1-CE60DDD76CD7}"/>
              </a:ext>
            </a:extLst>
          </p:cNvPr>
          <p:cNvSpPr txBox="1"/>
          <p:nvPr/>
        </p:nvSpPr>
        <p:spPr>
          <a:xfrm>
            <a:off x="1397092" y="295729"/>
            <a:ext cx="6097554" cy="369332"/>
          </a:xfrm>
          <a:prstGeom prst="rect">
            <a:avLst/>
          </a:prstGeom>
          <a:noFill/>
        </p:spPr>
        <p:txBody>
          <a:bodyPr wrap="square">
            <a:spAutoFit/>
          </a:bodyPr>
          <a:lstStyle/>
          <a:p>
            <a:r>
              <a:rPr lang="en-US" b="1" dirty="0">
                <a:solidFill>
                  <a:srgbClr val="FFFF00"/>
                </a:solidFill>
              </a:rPr>
              <a:t>High Energy Consumption</a:t>
            </a:r>
            <a:endParaRPr lang="en-IN" dirty="0"/>
          </a:p>
        </p:txBody>
      </p:sp>
    </p:spTree>
    <p:extLst>
      <p:ext uri="{BB962C8B-B14F-4D97-AF65-F5344CB8AC3E}">
        <p14:creationId xmlns:p14="http://schemas.microsoft.com/office/powerpoint/2010/main" val="2440651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CB44E94-6B32-A762-ECE8-1DE08843E0EB}"/>
              </a:ext>
            </a:extLst>
          </p:cNvPr>
          <p:cNvSpPr>
            <a:spLocks noGrp="1"/>
          </p:cNvSpPr>
          <p:nvPr>
            <p:ph type="sldNum" sz="quarter" idx="12"/>
          </p:nvPr>
        </p:nvSpPr>
        <p:spPr/>
        <p:txBody>
          <a:bodyPr/>
          <a:lstStyle/>
          <a:p>
            <a:fld id="{D57F1E4F-1CFF-5643-939E-02111984F565}" type="slidenum">
              <a:rPr lang="en-US" smtClean="0"/>
              <a:pPr/>
              <a:t>5</a:t>
            </a:fld>
            <a:endParaRPr lang="en-US" dirty="0"/>
          </a:p>
        </p:txBody>
      </p:sp>
      <p:pic>
        <p:nvPicPr>
          <p:cNvPr id="1026" name="Picture 2" descr="GLOBAL ENERGY CONSUMPTION&amp; SAVINGS BY SECTOR - Voronoi">
            <a:extLst>
              <a:ext uri="{FF2B5EF4-FFF2-40B4-BE49-F238E27FC236}">
                <a16:creationId xmlns:a16="http://schemas.microsoft.com/office/drawing/2014/main" id="{C7CEA96F-69E5-B609-7E79-68518A949A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422" y="1431507"/>
            <a:ext cx="8027975" cy="46294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E1B76E9-8B7E-BB52-4DD0-5F603DBAAACC}"/>
              </a:ext>
            </a:extLst>
          </p:cNvPr>
          <p:cNvSpPr txBox="1"/>
          <p:nvPr/>
        </p:nvSpPr>
        <p:spPr>
          <a:xfrm>
            <a:off x="1742492" y="878750"/>
            <a:ext cx="6097554" cy="369332"/>
          </a:xfrm>
          <a:prstGeom prst="rect">
            <a:avLst/>
          </a:prstGeom>
          <a:noFill/>
        </p:spPr>
        <p:txBody>
          <a:bodyPr wrap="square">
            <a:spAutoFit/>
          </a:bodyPr>
          <a:lstStyle/>
          <a:p>
            <a:r>
              <a:rPr lang="en-US" b="1" dirty="0">
                <a:solidFill>
                  <a:srgbClr val="FFFF00"/>
                </a:solidFill>
              </a:rPr>
              <a:t>High Energy Consumption</a:t>
            </a:r>
            <a:endParaRPr lang="en-IN" dirty="0"/>
          </a:p>
        </p:txBody>
      </p:sp>
    </p:spTree>
    <p:extLst>
      <p:ext uri="{BB962C8B-B14F-4D97-AF65-F5344CB8AC3E}">
        <p14:creationId xmlns:p14="http://schemas.microsoft.com/office/powerpoint/2010/main" val="3162262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2D3F504-DD4C-D3ED-6D80-C0D774210B05}"/>
              </a:ext>
            </a:extLst>
          </p:cNvPr>
          <p:cNvSpPr>
            <a:spLocks noGrp="1"/>
          </p:cNvSpPr>
          <p:nvPr>
            <p:ph type="sldNum" sz="quarter" idx="12"/>
          </p:nvPr>
        </p:nvSpPr>
        <p:spPr/>
        <p:txBody>
          <a:bodyPr/>
          <a:lstStyle/>
          <a:p>
            <a:fld id="{D57F1E4F-1CFF-5643-939E-02111984F565}" type="slidenum">
              <a:rPr lang="en-US" smtClean="0"/>
              <a:pPr/>
              <a:t>6</a:t>
            </a:fld>
            <a:endParaRPr lang="en-US" dirty="0"/>
          </a:p>
        </p:txBody>
      </p:sp>
      <p:pic>
        <p:nvPicPr>
          <p:cNvPr id="4" name="Picture 3">
            <a:extLst>
              <a:ext uri="{FF2B5EF4-FFF2-40B4-BE49-F238E27FC236}">
                <a16:creationId xmlns:a16="http://schemas.microsoft.com/office/drawing/2014/main" id="{1F2C9F1E-4421-2AA8-BB9E-536CFF063AC7}"/>
              </a:ext>
            </a:extLst>
          </p:cNvPr>
          <p:cNvPicPr>
            <a:picLocks noChangeAspect="1"/>
          </p:cNvPicPr>
          <p:nvPr/>
        </p:nvPicPr>
        <p:blipFill>
          <a:blip r:embed="rId2"/>
          <a:srcRect t="11195" b="20995"/>
          <a:stretch>
            <a:fillRect/>
          </a:stretch>
        </p:blipFill>
        <p:spPr>
          <a:xfrm>
            <a:off x="322382" y="1231640"/>
            <a:ext cx="11363392" cy="4815991"/>
          </a:xfrm>
          <a:prstGeom prst="rect">
            <a:avLst/>
          </a:prstGeom>
        </p:spPr>
      </p:pic>
    </p:spTree>
    <p:extLst>
      <p:ext uri="{BB962C8B-B14F-4D97-AF65-F5344CB8AC3E}">
        <p14:creationId xmlns:p14="http://schemas.microsoft.com/office/powerpoint/2010/main" val="1220092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BF9D3CF-5F13-BA3A-F6CC-28257ABADAE7}"/>
              </a:ext>
            </a:extLst>
          </p:cNvPr>
          <p:cNvSpPr>
            <a:spLocks noGrp="1"/>
          </p:cNvSpPr>
          <p:nvPr>
            <p:ph type="sldNum" sz="quarter" idx="12"/>
          </p:nvPr>
        </p:nvSpPr>
        <p:spPr/>
        <p:txBody>
          <a:bodyPr/>
          <a:lstStyle/>
          <a:p>
            <a:fld id="{D57F1E4F-1CFF-5643-939E-02111984F565}" type="slidenum">
              <a:rPr lang="en-US" smtClean="0"/>
              <a:pPr/>
              <a:t>7</a:t>
            </a:fld>
            <a:endParaRPr lang="en-US" dirty="0"/>
          </a:p>
        </p:txBody>
      </p:sp>
      <p:pic>
        <p:nvPicPr>
          <p:cNvPr id="6" name="Picture 5">
            <a:extLst>
              <a:ext uri="{FF2B5EF4-FFF2-40B4-BE49-F238E27FC236}">
                <a16:creationId xmlns:a16="http://schemas.microsoft.com/office/drawing/2014/main" id="{E1BD9576-8D5D-3A36-EC21-52A1B48D9051}"/>
              </a:ext>
            </a:extLst>
          </p:cNvPr>
          <p:cNvPicPr>
            <a:picLocks noChangeAspect="1"/>
          </p:cNvPicPr>
          <p:nvPr/>
        </p:nvPicPr>
        <p:blipFill>
          <a:blip r:embed="rId2"/>
          <a:stretch>
            <a:fillRect/>
          </a:stretch>
        </p:blipFill>
        <p:spPr>
          <a:xfrm>
            <a:off x="1418231" y="1063416"/>
            <a:ext cx="8669926" cy="4943130"/>
          </a:xfrm>
          <a:prstGeom prst="rect">
            <a:avLst/>
          </a:prstGeom>
        </p:spPr>
      </p:pic>
    </p:spTree>
    <p:extLst>
      <p:ext uri="{BB962C8B-B14F-4D97-AF65-F5344CB8AC3E}">
        <p14:creationId xmlns:p14="http://schemas.microsoft.com/office/powerpoint/2010/main" val="2628487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8</a:t>
            </a:fld>
            <a:endParaRPr lang="en-US" dirty="0"/>
          </a:p>
        </p:txBody>
      </p:sp>
      <p:sp>
        <p:nvSpPr>
          <p:cNvPr id="4" name="TextBox 3"/>
          <p:cNvSpPr txBox="1"/>
          <p:nvPr/>
        </p:nvSpPr>
        <p:spPr>
          <a:xfrm>
            <a:off x="157576" y="520511"/>
            <a:ext cx="11141796" cy="1107996"/>
          </a:xfrm>
          <a:prstGeom prst="rect">
            <a:avLst/>
          </a:prstGeom>
          <a:noFill/>
        </p:spPr>
        <p:txBody>
          <a:bodyPr wrap="square" rtlCol="0">
            <a:spAutoFit/>
          </a:bodyPr>
          <a:lstStyle/>
          <a:p>
            <a:pPr algn="ctr"/>
            <a:r>
              <a:rPr lang="en-US" sz="2800" b="1" dirty="0">
                <a:solidFill>
                  <a:srgbClr val="FFC000"/>
                </a:solidFill>
              </a:rPr>
              <a:t>Key Strategies for Energy Efficiency</a:t>
            </a:r>
          </a:p>
          <a:p>
            <a:endParaRPr lang="en-US" sz="2000" b="1" dirty="0"/>
          </a:p>
          <a:p>
            <a:pPr marL="285750" indent="-285750" algn="just">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44091008-7B47-00EB-6D77-82FBCE5F307A}"/>
              </a:ext>
            </a:extLst>
          </p:cNvPr>
          <p:cNvSpPr txBox="1"/>
          <p:nvPr/>
        </p:nvSpPr>
        <p:spPr>
          <a:xfrm>
            <a:off x="304800" y="1853289"/>
            <a:ext cx="5918718" cy="3086679"/>
          </a:xfrm>
          <a:prstGeom prst="rect">
            <a:avLst/>
          </a:prstGeom>
          <a:noFill/>
        </p:spPr>
        <p:txBody>
          <a:bodyPr wrap="square">
            <a:spAutoFit/>
          </a:bodyPr>
          <a:lstStyle/>
          <a:p>
            <a:pPr algn="just">
              <a:lnSpc>
                <a:spcPct val="150000"/>
              </a:lnSpc>
            </a:pPr>
            <a:r>
              <a:rPr lang="en-US" sz="2400" b="1" dirty="0">
                <a:solidFill>
                  <a:srgbClr val="FFFF00"/>
                </a:solidFill>
              </a:rPr>
              <a:t>(a) Energy Audits</a:t>
            </a:r>
            <a:r>
              <a:rPr lang="en-US" sz="2400" dirty="0">
                <a:solidFill>
                  <a:srgbClr val="FFFF00"/>
                </a:solidFill>
              </a:rPr>
              <a:t>: </a:t>
            </a:r>
            <a:r>
              <a:rPr lang="en-US" dirty="0">
                <a:solidFill>
                  <a:srgbClr val="FFFF00"/>
                </a:solidFill>
              </a:rPr>
              <a:t>Energy audits </a:t>
            </a:r>
            <a:r>
              <a:rPr lang="en-US" dirty="0"/>
              <a:t>are </a:t>
            </a:r>
            <a:r>
              <a:rPr lang="en-US" dirty="0">
                <a:solidFill>
                  <a:srgbClr val="FFFF00"/>
                </a:solidFill>
              </a:rPr>
              <a:t>systematic assessments of energy consumption </a:t>
            </a:r>
            <a:r>
              <a:rPr lang="en-US" dirty="0"/>
              <a:t>within an organization, facility, or industrial process. They help </a:t>
            </a:r>
            <a:r>
              <a:rPr lang="en-US" dirty="0">
                <a:solidFill>
                  <a:srgbClr val="FFFF00"/>
                </a:solidFill>
              </a:rPr>
              <a:t>identify inefficiencies, potential savings, and areas for improvement</a:t>
            </a:r>
            <a:r>
              <a:rPr lang="en-US" dirty="0"/>
              <a:t>. By conducting </a:t>
            </a:r>
            <a:r>
              <a:rPr lang="en-US" dirty="0">
                <a:solidFill>
                  <a:srgbClr val="FFFF00"/>
                </a:solidFill>
              </a:rPr>
              <a:t>regular energy audits</a:t>
            </a:r>
            <a:r>
              <a:rPr lang="en-US" dirty="0"/>
              <a:t>, industries can </a:t>
            </a:r>
            <a:r>
              <a:rPr lang="en-US" dirty="0">
                <a:solidFill>
                  <a:srgbClr val="FFFF00"/>
                </a:solidFill>
              </a:rPr>
              <a:t>optimize their energy use, reduce costs, and improve sustainability</a:t>
            </a:r>
            <a:r>
              <a:rPr lang="en-US" dirty="0"/>
              <a:t>. </a:t>
            </a:r>
          </a:p>
        </p:txBody>
      </p:sp>
      <p:pic>
        <p:nvPicPr>
          <p:cNvPr id="6146" name="Picture 2" descr="ALLICE - Energy Efficiency">
            <a:extLst>
              <a:ext uri="{FF2B5EF4-FFF2-40B4-BE49-F238E27FC236}">
                <a16:creationId xmlns:a16="http://schemas.microsoft.com/office/drawing/2014/main" id="{F6508CC1-5B02-5AC5-3093-CBAA5AAE0B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20678" y="2149846"/>
            <a:ext cx="4973216" cy="29446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9588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D7813A-F8DB-0447-5F28-AB1E9883CBEB}"/>
              </a:ext>
            </a:extLst>
          </p:cNvPr>
          <p:cNvSpPr>
            <a:spLocks noGrp="1"/>
          </p:cNvSpPr>
          <p:nvPr>
            <p:ph type="sldNum" sz="quarter" idx="12"/>
          </p:nvPr>
        </p:nvSpPr>
        <p:spPr/>
        <p:txBody>
          <a:bodyPr/>
          <a:lstStyle/>
          <a:p>
            <a:fld id="{D57F1E4F-1CFF-5643-939E-02111984F565}" type="slidenum">
              <a:rPr lang="en-US" smtClean="0"/>
              <a:pPr/>
              <a:t>9</a:t>
            </a:fld>
            <a:endParaRPr lang="en-US" dirty="0"/>
          </a:p>
        </p:txBody>
      </p:sp>
      <p:sp>
        <p:nvSpPr>
          <p:cNvPr id="5" name="TextBox 4">
            <a:extLst>
              <a:ext uri="{FF2B5EF4-FFF2-40B4-BE49-F238E27FC236}">
                <a16:creationId xmlns:a16="http://schemas.microsoft.com/office/drawing/2014/main" id="{03FCBCC5-3FA2-C050-628A-F0EFA8907F81}"/>
              </a:ext>
            </a:extLst>
          </p:cNvPr>
          <p:cNvSpPr txBox="1"/>
          <p:nvPr/>
        </p:nvSpPr>
        <p:spPr>
          <a:xfrm>
            <a:off x="625151" y="623315"/>
            <a:ext cx="9825135" cy="5441170"/>
          </a:xfrm>
          <a:prstGeom prst="rect">
            <a:avLst/>
          </a:prstGeom>
          <a:noFill/>
        </p:spPr>
        <p:txBody>
          <a:bodyPr wrap="square">
            <a:spAutoFit/>
          </a:bodyPr>
          <a:lstStyle/>
          <a:p>
            <a:pPr>
              <a:lnSpc>
                <a:spcPct val="150000"/>
              </a:lnSpc>
              <a:buNone/>
            </a:pPr>
            <a:r>
              <a:rPr lang="en-US" b="1" dirty="0"/>
              <a:t>How an Energy Audit Typically Works (Simplified Steps)</a:t>
            </a:r>
          </a:p>
          <a:p>
            <a:pPr>
              <a:lnSpc>
                <a:spcPct val="150000"/>
              </a:lnSpc>
              <a:buFont typeface="+mj-lt"/>
              <a:buAutoNum type="arabicPeriod"/>
            </a:pPr>
            <a:r>
              <a:rPr lang="en-US" b="1" dirty="0"/>
              <a:t>Collect historical data</a:t>
            </a:r>
            <a:r>
              <a:rPr lang="en-US" dirty="0"/>
              <a:t> — Review past electricity/gas bills, production records, and equipment logs to establish a baseline (e.g., kWh per ton of product).</a:t>
            </a:r>
          </a:p>
          <a:p>
            <a:pPr>
              <a:lnSpc>
                <a:spcPct val="150000"/>
              </a:lnSpc>
              <a:buFont typeface="+mj-lt"/>
              <a:buAutoNum type="arabicPeriod"/>
            </a:pPr>
            <a:r>
              <a:rPr lang="en-US" b="1" dirty="0"/>
              <a:t>On-site walkthrough and measurements</a:t>
            </a:r>
            <a:r>
              <a:rPr lang="en-US" dirty="0"/>
              <a:t> — Inspect equipment, measure actual consumption (using power meters, thermal cameras, etc.), check for leaks, and evaluate operating practices.</a:t>
            </a:r>
          </a:p>
          <a:p>
            <a:pPr>
              <a:lnSpc>
                <a:spcPct val="150000"/>
              </a:lnSpc>
              <a:buFont typeface="+mj-lt"/>
              <a:buAutoNum type="arabicPeriod"/>
            </a:pPr>
            <a:r>
              <a:rPr lang="en-US" b="1" dirty="0"/>
              <a:t>Identify inefficiencies</a:t>
            </a:r>
            <a:r>
              <a:rPr lang="en-US" dirty="0"/>
              <a:t> — Look at major energy users like motors, lighting, compressed air systems, HVAC, boilers, furnaces, and processes.</a:t>
            </a:r>
          </a:p>
          <a:p>
            <a:pPr>
              <a:lnSpc>
                <a:spcPct val="150000"/>
              </a:lnSpc>
              <a:buFont typeface="+mj-lt"/>
              <a:buAutoNum type="arabicPeriod"/>
            </a:pPr>
            <a:r>
              <a:rPr lang="en-US" b="1" dirty="0"/>
              <a:t>Propose measures</a:t>
            </a:r>
            <a:r>
              <a:rPr lang="en-US" dirty="0"/>
              <a:t> — Categorize recommendations as low-cost/no-cost (e.g., behavioral changes, maintenance) or capital investments (e.g., new equipment), with estimated savings, investment cost, and payback period.</a:t>
            </a:r>
          </a:p>
          <a:p>
            <a:pPr>
              <a:lnSpc>
                <a:spcPct val="150000"/>
              </a:lnSpc>
              <a:buFont typeface="+mj-lt"/>
              <a:buAutoNum type="arabicPeriod"/>
            </a:pPr>
            <a:r>
              <a:rPr lang="en-US" b="1" dirty="0"/>
              <a:t>Report and implement</a:t>
            </a:r>
            <a:r>
              <a:rPr lang="en-US" dirty="0"/>
              <a:t> — Prioritize actions with short payback (often &lt;2–3 years) and track results after implementation.</a:t>
            </a:r>
          </a:p>
        </p:txBody>
      </p:sp>
    </p:spTree>
    <p:extLst>
      <p:ext uri="{BB962C8B-B14F-4D97-AF65-F5344CB8AC3E}">
        <p14:creationId xmlns:p14="http://schemas.microsoft.com/office/powerpoint/2010/main" val="142325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5822850-CE0E-54ED-5FDD-73B6632843DD}"/>
              </a:ext>
            </a:extLst>
          </p:cNvPr>
          <p:cNvSpPr>
            <a:spLocks noGrp="1"/>
          </p:cNvSpPr>
          <p:nvPr>
            <p:ph type="sldNum" sz="quarter" idx="12"/>
          </p:nvPr>
        </p:nvSpPr>
        <p:spPr/>
        <p:txBody>
          <a:bodyPr/>
          <a:lstStyle/>
          <a:p>
            <a:fld id="{D57F1E4F-1CFF-5643-939E-02111984F565}" type="slidenum">
              <a:rPr lang="en-US" smtClean="0"/>
              <a:pPr/>
              <a:t>10</a:t>
            </a:fld>
            <a:endParaRPr lang="en-US" dirty="0"/>
          </a:p>
        </p:txBody>
      </p:sp>
      <p:sp>
        <p:nvSpPr>
          <p:cNvPr id="5" name="TextBox 4">
            <a:extLst>
              <a:ext uri="{FF2B5EF4-FFF2-40B4-BE49-F238E27FC236}">
                <a16:creationId xmlns:a16="http://schemas.microsoft.com/office/drawing/2014/main" id="{9A36CDA3-6312-6003-2ED6-AAD898D26ADC}"/>
              </a:ext>
            </a:extLst>
          </p:cNvPr>
          <p:cNvSpPr txBox="1"/>
          <p:nvPr/>
        </p:nvSpPr>
        <p:spPr>
          <a:xfrm>
            <a:off x="1221483" y="1466310"/>
            <a:ext cx="9331440" cy="4333174"/>
          </a:xfrm>
          <a:prstGeom prst="rect">
            <a:avLst/>
          </a:prstGeom>
          <a:noFill/>
        </p:spPr>
        <p:txBody>
          <a:bodyPr wrap="square">
            <a:spAutoFit/>
          </a:bodyPr>
          <a:lstStyle/>
          <a:p>
            <a:pPr algn="just">
              <a:lnSpc>
                <a:spcPct val="150000"/>
              </a:lnSpc>
            </a:pPr>
            <a:r>
              <a:rPr lang="en-US" sz="2400" b="1" dirty="0">
                <a:solidFill>
                  <a:srgbClr val="FFFF00"/>
                </a:solidFill>
              </a:rPr>
              <a:t>(b) Process Optimization</a:t>
            </a:r>
            <a:r>
              <a:rPr lang="en-US" sz="2400" dirty="0">
                <a:solidFill>
                  <a:srgbClr val="FFFF00"/>
                </a:solidFill>
              </a:rPr>
              <a:t>: </a:t>
            </a:r>
            <a:r>
              <a:rPr lang="en-US" dirty="0"/>
              <a:t>Process optimization refers to the </a:t>
            </a:r>
            <a:r>
              <a:rPr lang="en-US" dirty="0">
                <a:solidFill>
                  <a:srgbClr val="FFFF00"/>
                </a:solidFill>
              </a:rPr>
              <a:t>practice of analyzing, refining, and upgrading industrial operations </a:t>
            </a:r>
            <a:r>
              <a:rPr lang="en-US" dirty="0"/>
              <a:t>to achieve </a:t>
            </a:r>
            <a:r>
              <a:rPr lang="en-US" dirty="0">
                <a:solidFill>
                  <a:srgbClr val="FFFF00"/>
                </a:solidFill>
              </a:rPr>
              <a:t>maximum efficiency with minimal resource consumption.</a:t>
            </a:r>
            <a:r>
              <a:rPr lang="en-US" dirty="0"/>
              <a:t> It helps industries </a:t>
            </a:r>
            <a:r>
              <a:rPr lang="en-US" dirty="0">
                <a:solidFill>
                  <a:srgbClr val="FFFF00"/>
                </a:solidFill>
              </a:rPr>
              <a:t>eliminate inefficiencies </a:t>
            </a:r>
            <a:r>
              <a:rPr lang="en-US" dirty="0"/>
              <a:t>and improve </a:t>
            </a:r>
            <a:r>
              <a:rPr lang="en-US" dirty="0">
                <a:solidFill>
                  <a:srgbClr val="FFFF00"/>
                </a:solidFill>
              </a:rPr>
              <a:t>production processes while lowering energy costs.</a:t>
            </a:r>
          </a:p>
          <a:p>
            <a:pPr algn="just">
              <a:lnSpc>
                <a:spcPct val="150000"/>
              </a:lnSpc>
            </a:pPr>
            <a:r>
              <a:rPr lang="en-US" dirty="0">
                <a:solidFill>
                  <a:srgbClr val="FFFF00"/>
                </a:solidFill>
              </a:rPr>
              <a:t>Ex- </a:t>
            </a:r>
          </a:p>
          <a:p>
            <a:pPr marL="285750" indent="-285750" algn="just">
              <a:lnSpc>
                <a:spcPct val="150000"/>
              </a:lnSpc>
              <a:buFont typeface="Arial" panose="020B0604020202020204" pitchFamily="34" charset="0"/>
              <a:buChar char="•"/>
            </a:pPr>
            <a:r>
              <a:rPr lang="en-US" dirty="0"/>
              <a:t>1. Using </a:t>
            </a:r>
            <a:r>
              <a:rPr lang="en-US" b="1" dirty="0">
                <a:solidFill>
                  <a:srgbClr val="FFFF00"/>
                </a:solidFill>
              </a:rPr>
              <a:t>Variable Frequency Drives (VFDs)</a:t>
            </a:r>
            <a:r>
              <a:rPr lang="en-US" dirty="0">
                <a:solidFill>
                  <a:srgbClr val="FFFF00"/>
                </a:solidFill>
              </a:rPr>
              <a:t> </a:t>
            </a:r>
            <a:r>
              <a:rPr lang="en-US" dirty="0"/>
              <a:t>to optimize </a:t>
            </a:r>
            <a:r>
              <a:rPr lang="en-US" dirty="0">
                <a:solidFill>
                  <a:srgbClr val="FFFF00"/>
                </a:solidFill>
              </a:rPr>
              <a:t>motor performance </a:t>
            </a:r>
            <a:r>
              <a:rPr lang="en-US" dirty="0"/>
              <a:t>and reduce power use.</a:t>
            </a:r>
          </a:p>
          <a:p>
            <a:pPr marL="285750" indent="-285750" algn="just">
              <a:lnSpc>
                <a:spcPct val="150000"/>
              </a:lnSpc>
              <a:buFont typeface="Arial" panose="020B0604020202020204" pitchFamily="34" charset="0"/>
              <a:buChar char="•"/>
            </a:pPr>
            <a:r>
              <a:rPr lang="en-US" dirty="0"/>
              <a:t>2. </a:t>
            </a:r>
            <a:r>
              <a:rPr lang="en-US" dirty="0">
                <a:solidFill>
                  <a:srgbClr val="FFFF00"/>
                </a:solidFill>
              </a:rPr>
              <a:t>Capturing</a:t>
            </a:r>
            <a:r>
              <a:rPr lang="en-US" dirty="0"/>
              <a:t> and </a:t>
            </a:r>
            <a:r>
              <a:rPr lang="en-US" dirty="0">
                <a:solidFill>
                  <a:srgbClr val="FFFF00"/>
                </a:solidFill>
              </a:rPr>
              <a:t>reusing waste heat from industrial processes </a:t>
            </a:r>
            <a:r>
              <a:rPr lang="en-US" dirty="0"/>
              <a:t>improves </a:t>
            </a:r>
            <a:r>
              <a:rPr lang="en-US" dirty="0">
                <a:solidFill>
                  <a:srgbClr val="FFFF00"/>
                </a:solidFill>
              </a:rPr>
              <a:t>energy efficiency including air preheater, superheater etc</a:t>
            </a:r>
            <a:r>
              <a:rPr lang="en-US" dirty="0"/>
              <a:t>.</a:t>
            </a:r>
          </a:p>
          <a:p>
            <a:pPr marL="285750" indent="-285750" algn="just">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2228968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33E5E00-7BE1-3C3A-54FF-C1D0E46201A1}"/>
              </a:ext>
            </a:extLst>
          </p:cNvPr>
          <p:cNvSpPr>
            <a:spLocks noGrp="1"/>
          </p:cNvSpPr>
          <p:nvPr>
            <p:ph type="sldNum" sz="quarter" idx="12"/>
          </p:nvPr>
        </p:nvSpPr>
        <p:spPr/>
        <p:txBody>
          <a:bodyPr/>
          <a:lstStyle/>
          <a:p>
            <a:fld id="{D57F1E4F-1CFF-5643-939E-02111984F565}" type="slidenum">
              <a:rPr lang="en-US" smtClean="0"/>
              <a:pPr/>
              <a:t>11</a:t>
            </a:fld>
            <a:endParaRPr lang="en-US" dirty="0"/>
          </a:p>
        </p:txBody>
      </p:sp>
      <p:sp>
        <p:nvSpPr>
          <p:cNvPr id="5" name="TextBox 4">
            <a:extLst>
              <a:ext uri="{FF2B5EF4-FFF2-40B4-BE49-F238E27FC236}">
                <a16:creationId xmlns:a16="http://schemas.microsoft.com/office/drawing/2014/main" id="{3B2D728D-84B5-F43E-1C48-47E22656ECF5}"/>
              </a:ext>
            </a:extLst>
          </p:cNvPr>
          <p:cNvSpPr txBox="1"/>
          <p:nvPr/>
        </p:nvSpPr>
        <p:spPr>
          <a:xfrm>
            <a:off x="709126" y="708415"/>
            <a:ext cx="6634065" cy="5441170"/>
          </a:xfrm>
          <a:prstGeom prst="rect">
            <a:avLst/>
          </a:prstGeom>
          <a:noFill/>
        </p:spPr>
        <p:txBody>
          <a:bodyPr wrap="square">
            <a:spAutoFit/>
          </a:bodyPr>
          <a:lstStyle/>
          <a:p>
            <a:pPr>
              <a:lnSpc>
                <a:spcPct val="150000"/>
              </a:lnSpc>
              <a:buNone/>
            </a:pPr>
            <a:r>
              <a:rPr lang="en-IN" b="1" dirty="0"/>
              <a:t>How Process Optimization Works (Typical Approach)</a:t>
            </a:r>
          </a:p>
          <a:p>
            <a:pPr>
              <a:lnSpc>
                <a:spcPct val="150000"/>
              </a:lnSpc>
              <a:buFont typeface="+mj-lt"/>
              <a:buAutoNum type="arabicPeriod"/>
            </a:pPr>
            <a:r>
              <a:rPr lang="en-IN" b="1" dirty="0"/>
              <a:t>Map and measure</a:t>
            </a:r>
            <a:r>
              <a:rPr lang="en-IN" dirty="0"/>
              <a:t> — Document current processes (value stream mapping), install sub-meters/sensors for real-time data on energy, cycle times, yields, and bottlenecks.</a:t>
            </a:r>
          </a:p>
          <a:p>
            <a:pPr>
              <a:lnSpc>
                <a:spcPct val="150000"/>
              </a:lnSpc>
              <a:buFont typeface="+mj-lt"/>
              <a:buAutoNum type="arabicPeriod"/>
            </a:pPr>
            <a:r>
              <a:rPr lang="en-IN" b="1" dirty="0" err="1"/>
              <a:t>Analyze</a:t>
            </a:r>
            <a:r>
              <a:rPr lang="en-IN" dirty="0"/>
              <a:t> — Identify waste using tools like root cause analysis, Pareto charts, or simulation software.</a:t>
            </a:r>
          </a:p>
          <a:p>
            <a:pPr>
              <a:lnSpc>
                <a:spcPct val="150000"/>
              </a:lnSpc>
              <a:buFont typeface="+mj-lt"/>
              <a:buAutoNum type="arabicPeriod"/>
            </a:pPr>
            <a:r>
              <a:rPr lang="en-IN" b="1" dirty="0"/>
              <a:t>Redesign</a:t>
            </a:r>
            <a:r>
              <a:rPr lang="en-IN" dirty="0"/>
              <a:t> — Apply techniques: lean (eliminate non-value steps), Six Sigma (reduce variation), automation (e.g., VFDs, AI controls), heat recovery, or scheduling improvements.</a:t>
            </a:r>
          </a:p>
          <a:p>
            <a:pPr>
              <a:lnSpc>
                <a:spcPct val="150000"/>
              </a:lnSpc>
              <a:buFont typeface="+mj-lt"/>
              <a:buAutoNum type="arabicPeriod"/>
            </a:pPr>
            <a:r>
              <a:rPr lang="en-IN" b="1" dirty="0"/>
              <a:t>Implement and monitor</a:t>
            </a:r>
            <a:r>
              <a:rPr lang="en-IN" dirty="0"/>
              <a:t> — Pilot changes, track KPIs (e.g., OEE, specific energy use), and iterate.</a:t>
            </a:r>
          </a:p>
        </p:txBody>
      </p:sp>
      <p:pic>
        <p:nvPicPr>
          <p:cNvPr id="2050" name="Picture 2" descr="Thermal Cameras for Quality Control: Manufacturing Solutions">
            <a:extLst>
              <a:ext uri="{FF2B5EF4-FFF2-40B4-BE49-F238E27FC236}">
                <a16:creationId xmlns:a16="http://schemas.microsoft.com/office/drawing/2014/main" id="{5B558218-FF7A-BA9F-A02A-C53D27883B7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569" r="23874"/>
          <a:stretch>
            <a:fillRect/>
          </a:stretch>
        </p:blipFill>
        <p:spPr bwMode="auto">
          <a:xfrm>
            <a:off x="7899001" y="1530219"/>
            <a:ext cx="3789146" cy="428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46949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471A30C-A3ED-5CFE-59ED-F97791423B85}"/>
              </a:ext>
            </a:extLst>
          </p:cNvPr>
          <p:cNvSpPr>
            <a:spLocks noGrp="1"/>
          </p:cNvSpPr>
          <p:nvPr>
            <p:ph type="sldNum" sz="quarter" idx="12"/>
          </p:nvPr>
        </p:nvSpPr>
        <p:spPr/>
        <p:txBody>
          <a:bodyPr/>
          <a:lstStyle/>
          <a:p>
            <a:fld id="{D57F1E4F-1CFF-5643-939E-02111984F565}" type="slidenum">
              <a:rPr lang="en-US" smtClean="0"/>
              <a:pPr/>
              <a:t>12</a:t>
            </a:fld>
            <a:endParaRPr lang="en-US" dirty="0"/>
          </a:p>
        </p:txBody>
      </p:sp>
      <p:sp>
        <p:nvSpPr>
          <p:cNvPr id="5" name="TextBox 4">
            <a:extLst>
              <a:ext uri="{FF2B5EF4-FFF2-40B4-BE49-F238E27FC236}">
                <a16:creationId xmlns:a16="http://schemas.microsoft.com/office/drawing/2014/main" id="{3A5EEC86-5AAC-135C-BA11-A719D6A4D2CB}"/>
              </a:ext>
            </a:extLst>
          </p:cNvPr>
          <p:cNvSpPr txBox="1"/>
          <p:nvPr/>
        </p:nvSpPr>
        <p:spPr>
          <a:xfrm>
            <a:off x="1166327" y="802433"/>
            <a:ext cx="9041363" cy="4748672"/>
          </a:xfrm>
          <a:prstGeom prst="rect">
            <a:avLst/>
          </a:prstGeom>
          <a:noFill/>
        </p:spPr>
        <p:txBody>
          <a:bodyPr wrap="square">
            <a:spAutoFit/>
          </a:bodyPr>
          <a:lstStyle/>
          <a:p>
            <a:pPr algn="just">
              <a:lnSpc>
                <a:spcPct val="150000"/>
              </a:lnSpc>
            </a:pPr>
            <a:r>
              <a:rPr lang="en-US" sz="2400" b="1" dirty="0">
                <a:solidFill>
                  <a:srgbClr val="FFFF00"/>
                </a:solidFill>
              </a:rPr>
              <a:t>(c) Upgrading Equipment</a:t>
            </a:r>
            <a:r>
              <a:rPr lang="en-US" sz="2400" dirty="0">
                <a:solidFill>
                  <a:srgbClr val="FFFF00"/>
                </a:solidFill>
              </a:rPr>
              <a:t>: </a:t>
            </a:r>
            <a:r>
              <a:rPr lang="en-US" dirty="0">
                <a:solidFill>
                  <a:srgbClr val="FFFF00"/>
                </a:solidFill>
              </a:rPr>
              <a:t>Upgrading industrial equipment </a:t>
            </a:r>
            <a:r>
              <a:rPr lang="en-US" dirty="0"/>
              <a:t>is a key strategy in </a:t>
            </a:r>
            <a:r>
              <a:rPr lang="en-US" dirty="0">
                <a:solidFill>
                  <a:srgbClr val="FFFF00"/>
                </a:solidFill>
              </a:rPr>
              <a:t>improving energy efficiency.</a:t>
            </a:r>
            <a:r>
              <a:rPr lang="en-US" dirty="0"/>
              <a:t> By replacing outdated machinery with </a:t>
            </a:r>
            <a:r>
              <a:rPr lang="en-US" dirty="0">
                <a:solidFill>
                  <a:srgbClr val="FFFF00"/>
                </a:solidFill>
              </a:rPr>
              <a:t>high-efficiency alternatives</a:t>
            </a:r>
            <a:r>
              <a:rPr lang="en-US" dirty="0"/>
              <a:t>, industries can significantly reduce </a:t>
            </a:r>
            <a:r>
              <a:rPr lang="en-US" dirty="0">
                <a:solidFill>
                  <a:srgbClr val="FFFF00"/>
                </a:solidFill>
              </a:rPr>
              <a:t>energy consumption</a:t>
            </a:r>
            <a:r>
              <a:rPr lang="en-US" dirty="0"/>
              <a:t>, </a:t>
            </a:r>
            <a:r>
              <a:rPr lang="en-US" dirty="0">
                <a:solidFill>
                  <a:srgbClr val="FFFF00"/>
                </a:solidFill>
              </a:rPr>
              <a:t>operational costs</a:t>
            </a:r>
            <a:r>
              <a:rPr lang="en-US" dirty="0"/>
              <a:t>, and </a:t>
            </a:r>
            <a:r>
              <a:rPr lang="en-US" dirty="0">
                <a:solidFill>
                  <a:srgbClr val="FFFF00"/>
                </a:solidFill>
              </a:rPr>
              <a:t>environmental impact</a:t>
            </a:r>
            <a:r>
              <a:rPr lang="en-US" dirty="0"/>
              <a:t>. </a:t>
            </a:r>
          </a:p>
          <a:p>
            <a:pPr marL="285750" indent="-285750" algn="just">
              <a:lnSpc>
                <a:spcPct val="150000"/>
              </a:lnSpc>
              <a:buFont typeface="Arial" panose="020B0604020202020204" pitchFamily="34" charset="0"/>
              <a:buChar char="•"/>
            </a:pPr>
            <a:endParaRPr lang="en-US" dirty="0"/>
          </a:p>
          <a:p>
            <a:pPr algn="just">
              <a:lnSpc>
                <a:spcPct val="150000"/>
              </a:lnSpc>
            </a:pPr>
            <a:r>
              <a:rPr lang="en-US" dirty="0">
                <a:solidFill>
                  <a:srgbClr val="FFFF00"/>
                </a:solidFill>
              </a:rPr>
              <a:t>Ex-  </a:t>
            </a:r>
          </a:p>
          <a:p>
            <a:pPr marL="285750" indent="-285750" algn="just">
              <a:lnSpc>
                <a:spcPct val="150000"/>
              </a:lnSpc>
              <a:buFont typeface="Arial" panose="020B0604020202020204" pitchFamily="34" charset="0"/>
              <a:buChar char="•"/>
            </a:pPr>
            <a:r>
              <a:rPr lang="en-US" dirty="0"/>
              <a:t>1) </a:t>
            </a:r>
            <a:r>
              <a:rPr lang="en-US" dirty="0">
                <a:solidFill>
                  <a:srgbClr val="FFFF00"/>
                </a:solidFill>
              </a:rPr>
              <a:t>Retrofitting fluorescent lamps </a:t>
            </a:r>
            <a:r>
              <a:rPr lang="en-US" dirty="0"/>
              <a:t>with </a:t>
            </a:r>
            <a:r>
              <a:rPr lang="en-US" dirty="0">
                <a:solidFill>
                  <a:srgbClr val="FFFF00"/>
                </a:solidFill>
              </a:rPr>
              <a:t>LEDs</a:t>
            </a:r>
            <a:r>
              <a:rPr lang="en-US" dirty="0"/>
              <a:t> in warehouses can reduce </a:t>
            </a:r>
            <a:r>
              <a:rPr lang="en-US" dirty="0">
                <a:solidFill>
                  <a:srgbClr val="FFFF00"/>
                </a:solidFill>
              </a:rPr>
              <a:t>electricity costs by 50%.</a:t>
            </a:r>
          </a:p>
          <a:p>
            <a:pPr marL="285750" indent="-285750" algn="just">
              <a:lnSpc>
                <a:spcPct val="150000"/>
              </a:lnSpc>
              <a:buFont typeface="Arial" panose="020B0604020202020204" pitchFamily="34" charset="0"/>
              <a:buChar char="•"/>
            </a:pPr>
            <a:r>
              <a:rPr lang="en-US" b="1" dirty="0"/>
              <a:t>(2) </a:t>
            </a:r>
            <a:r>
              <a:rPr lang="en-US" dirty="0">
                <a:solidFill>
                  <a:srgbClr val="FFFF00"/>
                </a:solidFill>
              </a:rPr>
              <a:t>Energy-efficient welding machines </a:t>
            </a:r>
            <a:r>
              <a:rPr lang="en-US" dirty="0"/>
              <a:t>reduce </a:t>
            </a:r>
            <a:r>
              <a:rPr lang="en-US" dirty="0">
                <a:solidFill>
                  <a:srgbClr val="FFFF00"/>
                </a:solidFill>
              </a:rPr>
              <a:t>electricity demand</a:t>
            </a:r>
            <a:r>
              <a:rPr lang="en-US" dirty="0"/>
              <a:t>.</a:t>
            </a:r>
          </a:p>
          <a:p>
            <a:pPr marL="285750" indent="-285750" algn="just">
              <a:lnSpc>
                <a:spcPct val="150000"/>
              </a:lnSpc>
              <a:buFont typeface="Arial" panose="020B0604020202020204" pitchFamily="34" charset="0"/>
              <a:buChar char="•"/>
            </a:pPr>
            <a:r>
              <a:rPr lang="en-US" b="1" dirty="0"/>
              <a:t>(3) </a:t>
            </a:r>
            <a:r>
              <a:rPr lang="en-US" dirty="0">
                <a:solidFill>
                  <a:srgbClr val="FFFF00"/>
                </a:solidFill>
              </a:rPr>
              <a:t>HVAC systems with VFDs improve </a:t>
            </a:r>
            <a:r>
              <a:rPr lang="en-US" dirty="0"/>
              <a:t>energy efficiency </a:t>
            </a:r>
            <a:r>
              <a:rPr lang="en-US" dirty="0">
                <a:solidFill>
                  <a:srgbClr val="FFFF00"/>
                </a:solidFill>
              </a:rPr>
              <a:t>by 20-50%.</a:t>
            </a:r>
            <a:endParaRPr lang="en-US" b="1" dirty="0">
              <a:solidFill>
                <a:srgbClr val="FFFF00"/>
              </a:solidFill>
            </a:endParaRPr>
          </a:p>
          <a:p>
            <a:pPr marL="285750" indent="-285750" algn="just">
              <a:lnSpc>
                <a:spcPct val="150000"/>
              </a:lnSpc>
              <a:buFont typeface="Arial" panose="020B0604020202020204" pitchFamily="34" charset="0"/>
              <a:buChar char="•"/>
            </a:pPr>
            <a:endParaRPr lang="en-US" dirty="0">
              <a:solidFill>
                <a:srgbClr val="FFFF00"/>
              </a:solidFill>
            </a:endParaRPr>
          </a:p>
        </p:txBody>
      </p:sp>
    </p:spTree>
    <p:extLst>
      <p:ext uri="{BB962C8B-B14F-4D97-AF65-F5344CB8AC3E}">
        <p14:creationId xmlns:p14="http://schemas.microsoft.com/office/powerpoint/2010/main" val="2738538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6E4539-BDDF-0E4B-200C-D8F64F205535}"/>
              </a:ext>
            </a:extLst>
          </p:cNvPr>
          <p:cNvSpPr>
            <a:spLocks noGrp="1"/>
          </p:cNvSpPr>
          <p:nvPr>
            <p:ph type="sldNum" sz="quarter" idx="12"/>
          </p:nvPr>
        </p:nvSpPr>
        <p:spPr/>
        <p:txBody>
          <a:bodyPr/>
          <a:lstStyle/>
          <a:p>
            <a:fld id="{D57F1E4F-1CFF-5643-939E-02111984F565}" type="slidenum">
              <a:rPr lang="en-US" smtClean="0"/>
              <a:pPr/>
              <a:t>13</a:t>
            </a:fld>
            <a:endParaRPr lang="en-US" dirty="0"/>
          </a:p>
        </p:txBody>
      </p:sp>
      <p:sp>
        <p:nvSpPr>
          <p:cNvPr id="11" name="TextBox 10">
            <a:extLst>
              <a:ext uri="{FF2B5EF4-FFF2-40B4-BE49-F238E27FC236}">
                <a16:creationId xmlns:a16="http://schemas.microsoft.com/office/drawing/2014/main" id="{ED357755-04B7-9054-4B83-9BBC1181B516}"/>
              </a:ext>
            </a:extLst>
          </p:cNvPr>
          <p:cNvSpPr txBox="1"/>
          <p:nvPr/>
        </p:nvSpPr>
        <p:spPr>
          <a:xfrm>
            <a:off x="727788" y="880513"/>
            <a:ext cx="9624752" cy="5025671"/>
          </a:xfrm>
          <a:prstGeom prst="rect">
            <a:avLst/>
          </a:prstGeom>
          <a:noFill/>
        </p:spPr>
        <p:txBody>
          <a:bodyPr wrap="square">
            <a:spAutoFit/>
          </a:bodyPr>
          <a:lstStyle/>
          <a:p>
            <a:pPr>
              <a:lnSpc>
                <a:spcPct val="150000"/>
              </a:lnSpc>
              <a:buNone/>
            </a:pPr>
            <a:r>
              <a:rPr lang="en-US" b="1" dirty="0"/>
              <a:t>Practical Example: A Forging/Wheel Manufacturing Plant in Jamshedpur</a:t>
            </a:r>
          </a:p>
          <a:p>
            <a:pPr>
              <a:lnSpc>
                <a:spcPct val="150000"/>
              </a:lnSpc>
              <a:buNone/>
            </a:pPr>
            <a:r>
              <a:rPr lang="en-US" dirty="0">
                <a:effectLst/>
              </a:rPr>
              <a:t>Many local units rely on motors (for presses, fans, pumps, conveyors), lighting, compressed air, cooling systems, and induction/heat treatment furnaces. Upgrading key items yields quick, measurable gains.</a:t>
            </a:r>
          </a:p>
          <a:p>
            <a:pPr>
              <a:lnSpc>
                <a:spcPct val="150000"/>
              </a:lnSpc>
              <a:buNone/>
            </a:pPr>
            <a:r>
              <a:rPr lang="en-US" b="1" dirty="0">
                <a:effectLst/>
              </a:rPr>
              <a:t>Before upgrade (typical baseline):</a:t>
            </a:r>
            <a:endParaRPr lang="en-US" dirty="0">
              <a:effectLst/>
            </a:endParaRPr>
          </a:p>
          <a:p>
            <a:pPr>
              <a:lnSpc>
                <a:spcPct val="150000"/>
              </a:lnSpc>
              <a:buFont typeface="Arial" panose="020B0604020202020204" pitchFamily="34" charset="0"/>
              <a:buChar char="•"/>
            </a:pPr>
            <a:r>
              <a:rPr lang="en-US" dirty="0"/>
              <a:t>50–100+ old IE1/IE2 motors (7.5–75 kW) running pumps, fans, compressors, and presses → efficiency ~80–88%.</a:t>
            </a:r>
          </a:p>
          <a:p>
            <a:pPr>
              <a:lnSpc>
                <a:spcPct val="150000"/>
              </a:lnSpc>
              <a:buFont typeface="Arial" panose="020B0604020202020204" pitchFamily="34" charset="0"/>
              <a:buChar char="•"/>
            </a:pPr>
            <a:r>
              <a:rPr lang="en-US" dirty="0"/>
              <a:t>Conventional fluorescent/high-pressure sodium lighting.</a:t>
            </a:r>
          </a:p>
          <a:p>
            <a:pPr>
              <a:lnSpc>
                <a:spcPct val="150000"/>
              </a:lnSpc>
              <a:buFont typeface="Arial" panose="020B0604020202020204" pitchFamily="34" charset="0"/>
              <a:buChar char="•"/>
            </a:pPr>
            <a:r>
              <a:rPr lang="en-US" dirty="0"/>
              <a:t>Fixed-speed compressors and old chillers/HVAC.</a:t>
            </a:r>
          </a:p>
          <a:p>
            <a:pPr>
              <a:lnSpc>
                <a:spcPct val="150000"/>
              </a:lnSpc>
              <a:buFont typeface="Arial" panose="020B0604020202020204" pitchFamily="34" charset="0"/>
              <a:buChar char="•"/>
            </a:pPr>
            <a:r>
              <a:rPr lang="en-US" dirty="0"/>
              <a:t>Older resistance/coal-fired furnaces or basic induction setups.</a:t>
            </a:r>
          </a:p>
          <a:p>
            <a:pPr>
              <a:lnSpc>
                <a:spcPct val="150000"/>
              </a:lnSpc>
              <a:buFont typeface="Arial" panose="020B0604020202020204" pitchFamily="34" charset="0"/>
              <a:buChar char="•"/>
            </a:pPr>
            <a:r>
              <a:rPr lang="en-US" dirty="0"/>
              <a:t>Annual energy bill: ₹50–200 lakh+ (depending on scale); motors/compressors often 50–70% of total consumption.</a:t>
            </a:r>
          </a:p>
        </p:txBody>
      </p:sp>
    </p:spTree>
    <p:extLst>
      <p:ext uri="{BB962C8B-B14F-4D97-AF65-F5344CB8AC3E}">
        <p14:creationId xmlns:p14="http://schemas.microsoft.com/office/powerpoint/2010/main" val="2830273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349A8F7-8C41-437A-157A-1A6633D94E88}"/>
              </a:ext>
            </a:extLst>
          </p:cNvPr>
          <p:cNvSpPr>
            <a:spLocks noGrp="1"/>
          </p:cNvSpPr>
          <p:nvPr>
            <p:ph type="sldNum" sz="quarter" idx="12"/>
          </p:nvPr>
        </p:nvSpPr>
        <p:spPr/>
        <p:txBody>
          <a:bodyPr/>
          <a:lstStyle/>
          <a:p>
            <a:fld id="{D57F1E4F-1CFF-5643-939E-02111984F565}" type="slidenum">
              <a:rPr lang="en-US" smtClean="0"/>
              <a:pPr/>
              <a:t>14</a:t>
            </a:fld>
            <a:endParaRPr lang="en-US" dirty="0"/>
          </a:p>
        </p:txBody>
      </p:sp>
      <p:sp>
        <p:nvSpPr>
          <p:cNvPr id="5" name="TextBox 4">
            <a:extLst>
              <a:ext uri="{FF2B5EF4-FFF2-40B4-BE49-F238E27FC236}">
                <a16:creationId xmlns:a16="http://schemas.microsoft.com/office/drawing/2014/main" id="{929F2E9C-B10A-9884-3C43-5E50157B1DFF}"/>
              </a:ext>
            </a:extLst>
          </p:cNvPr>
          <p:cNvSpPr txBox="1"/>
          <p:nvPr/>
        </p:nvSpPr>
        <p:spPr>
          <a:xfrm>
            <a:off x="1001261" y="673779"/>
            <a:ext cx="9069355" cy="5579669"/>
          </a:xfrm>
          <a:prstGeom prst="rect">
            <a:avLst/>
          </a:prstGeom>
          <a:noFill/>
        </p:spPr>
        <p:txBody>
          <a:bodyPr wrap="square">
            <a:spAutoFit/>
          </a:bodyPr>
          <a:lstStyle/>
          <a:p>
            <a:pPr algn="just">
              <a:lnSpc>
                <a:spcPct val="150000"/>
              </a:lnSpc>
            </a:pPr>
            <a:r>
              <a:rPr lang="en-US" sz="2400" b="1" dirty="0">
                <a:solidFill>
                  <a:srgbClr val="FFFF00"/>
                </a:solidFill>
              </a:rPr>
              <a:t>(d) Waste Heat Recovery</a:t>
            </a:r>
            <a:r>
              <a:rPr lang="en-US" sz="2400" dirty="0">
                <a:solidFill>
                  <a:srgbClr val="FFFF00"/>
                </a:solidFill>
              </a:rPr>
              <a:t>: </a:t>
            </a:r>
            <a:r>
              <a:rPr lang="en-US" dirty="0">
                <a:solidFill>
                  <a:srgbClr val="FFFF00"/>
                </a:solidFill>
              </a:rPr>
              <a:t>Waste heat recovery </a:t>
            </a:r>
            <a:r>
              <a:rPr lang="en-US" dirty="0"/>
              <a:t>is a </a:t>
            </a:r>
            <a:r>
              <a:rPr lang="en-US" dirty="0">
                <a:solidFill>
                  <a:srgbClr val="FFFF00"/>
                </a:solidFill>
              </a:rPr>
              <a:t>crucial energy-efficient strategy </a:t>
            </a:r>
            <a:r>
              <a:rPr lang="en-US" dirty="0"/>
              <a:t>in industries that helps </a:t>
            </a:r>
            <a:r>
              <a:rPr lang="en-US" dirty="0">
                <a:solidFill>
                  <a:srgbClr val="FFFF00"/>
                </a:solidFill>
              </a:rPr>
              <a:t>capture excess heat generated </a:t>
            </a:r>
            <a:r>
              <a:rPr lang="en-US" dirty="0"/>
              <a:t>during </a:t>
            </a:r>
            <a:r>
              <a:rPr lang="en-US" dirty="0">
                <a:solidFill>
                  <a:srgbClr val="FFFF00"/>
                </a:solidFill>
              </a:rPr>
              <a:t>industrial processes </a:t>
            </a:r>
            <a:r>
              <a:rPr lang="en-US" dirty="0"/>
              <a:t>and reuse it, </a:t>
            </a:r>
            <a:r>
              <a:rPr lang="en-US" dirty="0">
                <a:solidFill>
                  <a:srgbClr val="FFFF00"/>
                </a:solidFill>
              </a:rPr>
              <a:t>minimizing energy waste </a:t>
            </a:r>
            <a:r>
              <a:rPr lang="en-US" dirty="0"/>
              <a:t>and </a:t>
            </a:r>
            <a:r>
              <a:rPr lang="en-US" dirty="0">
                <a:solidFill>
                  <a:srgbClr val="FFFF00"/>
                </a:solidFill>
              </a:rPr>
              <a:t>lowering operational costs</a:t>
            </a:r>
            <a:r>
              <a:rPr lang="en-US" dirty="0"/>
              <a:t>. </a:t>
            </a:r>
          </a:p>
          <a:p>
            <a:pPr marL="285750" indent="-285750" algn="just">
              <a:lnSpc>
                <a:spcPct val="150000"/>
              </a:lnSpc>
              <a:buFont typeface="Arial" panose="020B0604020202020204" pitchFamily="34" charset="0"/>
              <a:buChar char="•"/>
            </a:pPr>
            <a:r>
              <a:rPr lang="en-US" dirty="0">
                <a:solidFill>
                  <a:srgbClr val="FFFF00"/>
                </a:solidFill>
              </a:rPr>
              <a:t>Waste heat </a:t>
            </a:r>
            <a:r>
              <a:rPr lang="en-US" dirty="0"/>
              <a:t>refers to </a:t>
            </a:r>
            <a:r>
              <a:rPr lang="en-US" dirty="0">
                <a:solidFill>
                  <a:srgbClr val="FFFF00"/>
                </a:solidFill>
              </a:rPr>
              <a:t>unused thermal energy </a:t>
            </a:r>
            <a:r>
              <a:rPr lang="en-US" dirty="0"/>
              <a:t>released during various </a:t>
            </a:r>
            <a:r>
              <a:rPr lang="en-US" dirty="0">
                <a:solidFill>
                  <a:srgbClr val="FFFF00"/>
                </a:solidFill>
              </a:rPr>
              <a:t>industrial operations, such as combustion, chemical reactions</a:t>
            </a:r>
            <a:r>
              <a:rPr lang="en-US" dirty="0"/>
              <a:t>, and material processing. Waste heat recovery involves </a:t>
            </a:r>
            <a:r>
              <a:rPr lang="en-US" dirty="0">
                <a:solidFill>
                  <a:srgbClr val="FFFF00"/>
                </a:solidFill>
              </a:rPr>
              <a:t>harnessing this excess heat </a:t>
            </a:r>
            <a:r>
              <a:rPr lang="en-US" dirty="0"/>
              <a:t>and </a:t>
            </a:r>
            <a:r>
              <a:rPr lang="en-US" dirty="0">
                <a:solidFill>
                  <a:srgbClr val="FFFF00"/>
                </a:solidFill>
              </a:rPr>
              <a:t>repurposing it for other applications</a:t>
            </a:r>
            <a:r>
              <a:rPr lang="en-US" dirty="0"/>
              <a:t>, reducing </a:t>
            </a:r>
            <a:r>
              <a:rPr lang="en-US" dirty="0">
                <a:solidFill>
                  <a:srgbClr val="FFFF00"/>
                </a:solidFill>
              </a:rPr>
              <a:t>overall energy demand</a:t>
            </a:r>
            <a:r>
              <a:rPr lang="en-US" dirty="0"/>
              <a:t>.</a:t>
            </a:r>
          </a:p>
          <a:p>
            <a:pPr marL="285750" indent="-285750" algn="just">
              <a:lnSpc>
                <a:spcPct val="150000"/>
              </a:lnSpc>
              <a:buFont typeface="Arial" panose="020B0604020202020204" pitchFamily="34" charset="0"/>
              <a:buChar char="•"/>
            </a:pPr>
            <a:r>
              <a:rPr lang="en-US" dirty="0">
                <a:solidFill>
                  <a:srgbClr val="FFFF00"/>
                </a:solidFill>
              </a:rPr>
              <a:t>Ex-</a:t>
            </a:r>
            <a:r>
              <a:rPr lang="en-US" dirty="0"/>
              <a:t> </a:t>
            </a:r>
            <a:r>
              <a:rPr lang="en-US" dirty="0">
                <a:solidFill>
                  <a:srgbClr val="FFFF00"/>
                </a:solidFill>
              </a:rPr>
              <a:t>Shell-and-tube heat exchangers </a:t>
            </a:r>
            <a:r>
              <a:rPr lang="en-US" dirty="0"/>
              <a:t>in chemical plants improve thermal efficiency.</a:t>
            </a:r>
          </a:p>
          <a:p>
            <a:pPr marL="285750" indent="-285750" algn="just">
              <a:lnSpc>
                <a:spcPct val="150000"/>
              </a:lnSpc>
              <a:buFont typeface="Arial" panose="020B0604020202020204" pitchFamily="34" charset="0"/>
              <a:buChar char="•"/>
            </a:pPr>
            <a:r>
              <a:rPr lang="en-US" dirty="0">
                <a:solidFill>
                  <a:srgbClr val="FFFF00"/>
                </a:solidFill>
              </a:rPr>
              <a:t>Turbo chargers </a:t>
            </a:r>
            <a:r>
              <a:rPr lang="en-US" dirty="0"/>
              <a:t>uses the exhaust gas from the IC engine to drive the compressor for drawing in fresh air. And in turn improves the efficiency by 20-40%.</a:t>
            </a:r>
          </a:p>
        </p:txBody>
      </p:sp>
    </p:spTree>
    <p:extLst>
      <p:ext uri="{BB962C8B-B14F-4D97-AF65-F5344CB8AC3E}">
        <p14:creationId xmlns:p14="http://schemas.microsoft.com/office/powerpoint/2010/main" val="9325280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15</a:t>
            </a:fld>
            <a:endParaRPr lang="en-US" dirty="0"/>
          </a:p>
        </p:txBody>
      </p:sp>
      <p:sp>
        <p:nvSpPr>
          <p:cNvPr id="4" name="Rectangle 3"/>
          <p:cNvSpPr/>
          <p:nvPr/>
        </p:nvSpPr>
        <p:spPr>
          <a:xfrm>
            <a:off x="521294" y="137814"/>
            <a:ext cx="10049853" cy="5995167"/>
          </a:xfrm>
          <a:prstGeom prst="rect">
            <a:avLst/>
          </a:prstGeom>
        </p:spPr>
        <p:txBody>
          <a:bodyPr wrap="square">
            <a:spAutoFit/>
          </a:bodyPr>
          <a:lstStyle/>
          <a:p>
            <a:pPr algn="just">
              <a:lnSpc>
                <a:spcPct val="150000"/>
              </a:lnSpc>
            </a:pPr>
            <a:endParaRPr lang="en-US" b="1" dirty="0"/>
          </a:p>
          <a:p>
            <a:pPr marL="285750" indent="-285750" algn="just">
              <a:lnSpc>
                <a:spcPct val="150000"/>
              </a:lnSpc>
              <a:buFont typeface="Arial" panose="020B0604020202020204" pitchFamily="34" charset="0"/>
              <a:buChar char="•"/>
            </a:pPr>
            <a:endParaRPr lang="en-US" dirty="0"/>
          </a:p>
          <a:p>
            <a:pPr algn="just">
              <a:lnSpc>
                <a:spcPct val="150000"/>
              </a:lnSpc>
            </a:pPr>
            <a:r>
              <a:rPr lang="en-US" sz="2400" b="1" dirty="0">
                <a:solidFill>
                  <a:srgbClr val="FFFF00"/>
                </a:solidFill>
              </a:rPr>
              <a:t>(e) Automation and Control Systems</a:t>
            </a:r>
            <a:r>
              <a:rPr lang="en-US" sz="2400" dirty="0">
                <a:solidFill>
                  <a:srgbClr val="FFFF00"/>
                </a:solidFill>
              </a:rPr>
              <a:t>: </a:t>
            </a:r>
            <a:r>
              <a:rPr lang="en-US" dirty="0">
                <a:solidFill>
                  <a:srgbClr val="FFFF00"/>
                </a:solidFill>
              </a:rPr>
              <a:t>Automation and control systems </a:t>
            </a:r>
            <a:r>
              <a:rPr lang="en-US" dirty="0"/>
              <a:t>play a vital role in improving energy efficiency across industries, commercial spaces, and smart grids. These systems monitor, regulate, and optimize energy consumption using real-time data, reducing waste and ensuring smooth operations.</a:t>
            </a:r>
          </a:p>
          <a:p>
            <a:pPr marL="285750" indent="-285750" algn="just">
              <a:lnSpc>
                <a:spcPct val="150000"/>
              </a:lnSpc>
              <a:buFont typeface="Arial" panose="020B0604020202020204" pitchFamily="34" charset="0"/>
              <a:buChar char="•"/>
            </a:pPr>
            <a:endParaRPr lang="en-US" dirty="0"/>
          </a:p>
          <a:p>
            <a:pPr>
              <a:lnSpc>
                <a:spcPct val="150000"/>
              </a:lnSpc>
            </a:pPr>
            <a:r>
              <a:rPr lang="en-US" b="1" dirty="0">
                <a:solidFill>
                  <a:srgbClr val="FFFF00"/>
                </a:solidFill>
              </a:rPr>
              <a:t>Key Components of Automation and Control Systems</a:t>
            </a:r>
          </a:p>
          <a:p>
            <a:pPr>
              <a:lnSpc>
                <a:spcPct val="150000"/>
              </a:lnSpc>
            </a:pPr>
            <a:r>
              <a:rPr lang="en-US" b="1" dirty="0"/>
              <a:t>Sensors</a:t>
            </a:r>
            <a:r>
              <a:rPr lang="en-US" dirty="0"/>
              <a:t>: Detect temperature, pressure, occupancy, and power consumption.</a:t>
            </a:r>
          </a:p>
          <a:p>
            <a:pPr>
              <a:lnSpc>
                <a:spcPct val="150000"/>
              </a:lnSpc>
            </a:pPr>
            <a:r>
              <a:rPr lang="en-US" b="1" dirty="0"/>
              <a:t>Controllers (PLCs, Microcontrollers)</a:t>
            </a:r>
            <a:r>
              <a:rPr lang="en-US" dirty="0"/>
              <a:t>: Process data and issue commands for optimization.</a:t>
            </a:r>
          </a:p>
          <a:p>
            <a:pPr>
              <a:lnSpc>
                <a:spcPct val="150000"/>
              </a:lnSpc>
            </a:pPr>
            <a:r>
              <a:rPr lang="en-US" b="1" dirty="0"/>
              <a:t>Actuators</a:t>
            </a:r>
            <a:r>
              <a:rPr lang="en-US" dirty="0"/>
              <a:t>: Execute commands by adjusting motors, HVAC systems, and lighting.</a:t>
            </a:r>
          </a:p>
          <a:p>
            <a:pPr>
              <a:lnSpc>
                <a:spcPct val="150000"/>
              </a:lnSpc>
            </a:pPr>
            <a:r>
              <a:rPr lang="en-US" b="1" dirty="0"/>
              <a:t>SCADA (Supervisory Control and Data Acquisition)</a:t>
            </a:r>
            <a:r>
              <a:rPr lang="en-US" dirty="0"/>
              <a:t>: Provides real-time monitoring and control.</a:t>
            </a:r>
          </a:p>
          <a:p>
            <a:pPr>
              <a:lnSpc>
                <a:spcPct val="150000"/>
              </a:lnSpc>
            </a:pPr>
            <a:endParaRPr lang="en-US" dirty="0"/>
          </a:p>
        </p:txBody>
      </p:sp>
    </p:spTree>
    <p:extLst>
      <p:ext uri="{BB962C8B-B14F-4D97-AF65-F5344CB8AC3E}">
        <p14:creationId xmlns:p14="http://schemas.microsoft.com/office/powerpoint/2010/main" val="2741426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16</a:t>
            </a:fld>
            <a:endParaRPr lang="en-US" dirty="0"/>
          </a:p>
        </p:txBody>
      </p:sp>
      <p:sp>
        <p:nvSpPr>
          <p:cNvPr id="5" name="TextBox 4">
            <a:extLst>
              <a:ext uri="{FF2B5EF4-FFF2-40B4-BE49-F238E27FC236}">
                <a16:creationId xmlns:a16="http://schemas.microsoft.com/office/drawing/2014/main" id="{C1ECE912-EF6F-58C8-5739-45938D4627C5}"/>
              </a:ext>
            </a:extLst>
          </p:cNvPr>
          <p:cNvSpPr txBox="1"/>
          <p:nvPr/>
        </p:nvSpPr>
        <p:spPr>
          <a:xfrm>
            <a:off x="342899" y="295729"/>
            <a:ext cx="9920773" cy="2031325"/>
          </a:xfrm>
          <a:prstGeom prst="rect">
            <a:avLst/>
          </a:prstGeom>
          <a:noFill/>
        </p:spPr>
        <p:txBody>
          <a:bodyPr wrap="square">
            <a:spAutoFit/>
          </a:bodyPr>
          <a:lstStyle/>
          <a:p>
            <a:pPr>
              <a:buNone/>
            </a:pPr>
            <a:r>
              <a:rPr lang="en-IN" b="1" dirty="0">
                <a:effectLst/>
              </a:rPr>
              <a:t>Automation upgrades and results (typical in Indian MSME/large plants):</a:t>
            </a:r>
            <a:endParaRPr lang="en-IN" dirty="0">
              <a:effectLst/>
            </a:endParaRPr>
          </a:p>
          <a:p>
            <a:pPr>
              <a:buFont typeface="+mj-lt"/>
              <a:buAutoNum type="arabicPeriod"/>
            </a:pPr>
            <a:r>
              <a:rPr lang="en-IN" b="1" dirty="0"/>
              <a:t> VFDs + PLC Control on Variable Loads</a:t>
            </a:r>
            <a:endParaRPr lang="en-IN" dirty="0"/>
          </a:p>
          <a:p>
            <a:pPr marL="742950" lvl="1" indent="-285750">
              <a:buFont typeface="+mj-lt"/>
              <a:buAutoNum type="arabicPeriod"/>
            </a:pPr>
            <a:r>
              <a:rPr lang="en-IN" dirty="0"/>
              <a:t>Install VFDs on fans, pumps, compressors; integrate with PLC for automatic speed adjustment based on pressure/flow demand.</a:t>
            </a:r>
          </a:p>
          <a:p>
            <a:pPr marL="742950" lvl="1" indent="-285750">
              <a:buFont typeface="+mj-lt"/>
              <a:buAutoNum type="arabicPeriod"/>
            </a:pPr>
            <a:r>
              <a:rPr lang="en-IN" dirty="0"/>
              <a:t>Example: Compressor runs at 50–70% speed during low air demand → 20–50% savings (cube law savings). → Annual: ₹5–15 lakh saved per large system; payback 1–2 years.</a:t>
            </a:r>
          </a:p>
        </p:txBody>
      </p:sp>
      <p:sp>
        <p:nvSpPr>
          <p:cNvPr id="7" name="TextBox 6">
            <a:extLst>
              <a:ext uri="{FF2B5EF4-FFF2-40B4-BE49-F238E27FC236}">
                <a16:creationId xmlns:a16="http://schemas.microsoft.com/office/drawing/2014/main" id="{2E88E5E8-E456-77F4-2903-EFC251BE96B0}"/>
              </a:ext>
            </a:extLst>
          </p:cNvPr>
          <p:cNvSpPr txBox="1"/>
          <p:nvPr/>
        </p:nvSpPr>
        <p:spPr>
          <a:xfrm>
            <a:off x="664418" y="2826838"/>
            <a:ext cx="6223518" cy="2031325"/>
          </a:xfrm>
          <a:prstGeom prst="rect">
            <a:avLst/>
          </a:prstGeom>
          <a:noFill/>
        </p:spPr>
        <p:txBody>
          <a:bodyPr wrap="square">
            <a:spAutoFit/>
          </a:bodyPr>
          <a:lstStyle/>
          <a:p>
            <a:r>
              <a:rPr lang="en-IN" b="1" dirty="0"/>
              <a:t>2. SCADA/EMS for Plant-Wide Monitoring</a:t>
            </a:r>
            <a:r>
              <a:rPr lang="en-IN" dirty="0"/>
              <a:t> Centralized dashboard tracks kWh by machine/line, alerts on anomalies (e.g., high furnace temp), schedules shutdowns, and optimizes load shedding.</a:t>
            </a:r>
          </a:p>
          <a:p>
            <a:pPr>
              <a:buFont typeface="Arial" panose="020B0604020202020204" pitchFamily="34" charset="0"/>
              <a:buChar char="•"/>
            </a:pPr>
            <a:r>
              <a:rPr lang="en-IN" dirty="0"/>
              <a:t>Example: Auto-shut idle presses during breaks; predictive alerts for motor faults. → 10–25% overall reduction; enables data-driven decisions.</a:t>
            </a:r>
          </a:p>
        </p:txBody>
      </p:sp>
      <p:pic>
        <p:nvPicPr>
          <p:cNvPr id="8" name="Picture 7">
            <a:extLst>
              <a:ext uri="{FF2B5EF4-FFF2-40B4-BE49-F238E27FC236}">
                <a16:creationId xmlns:a16="http://schemas.microsoft.com/office/drawing/2014/main" id="{388F8F77-DEC5-6132-5363-DD6FA29F5568}"/>
              </a:ext>
            </a:extLst>
          </p:cNvPr>
          <p:cNvPicPr>
            <a:picLocks noChangeAspect="1"/>
          </p:cNvPicPr>
          <p:nvPr/>
        </p:nvPicPr>
        <p:blipFill>
          <a:blip r:embed="rId2"/>
          <a:stretch>
            <a:fillRect/>
          </a:stretch>
        </p:blipFill>
        <p:spPr>
          <a:xfrm>
            <a:off x="6887936" y="2327054"/>
            <a:ext cx="5304064" cy="3030894"/>
          </a:xfrm>
          <a:prstGeom prst="rect">
            <a:avLst/>
          </a:prstGeom>
        </p:spPr>
      </p:pic>
      <p:sp>
        <p:nvSpPr>
          <p:cNvPr id="10" name="TextBox 9">
            <a:extLst>
              <a:ext uri="{FF2B5EF4-FFF2-40B4-BE49-F238E27FC236}">
                <a16:creationId xmlns:a16="http://schemas.microsoft.com/office/drawing/2014/main" id="{1CA5ABB4-C7BE-2F15-5735-18EBBDA2E4C3}"/>
              </a:ext>
            </a:extLst>
          </p:cNvPr>
          <p:cNvSpPr txBox="1"/>
          <p:nvPr/>
        </p:nvSpPr>
        <p:spPr>
          <a:xfrm>
            <a:off x="622817" y="5461871"/>
            <a:ext cx="11121311" cy="1200329"/>
          </a:xfrm>
          <a:prstGeom prst="rect">
            <a:avLst/>
          </a:prstGeom>
          <a:noFill/>
        </p:spPr>
        <p:txBody>
          <a:bodyPr wrap="square">
            <a:spAutoFit/>
          </a:bodyPr>
          <a:lstStyle/>
          <a:p>
            <a:r>
              <a:rPr lang="en-US" b="1" dirty="0"/>
              <a:t>3. Building/Process Management Systems (BMS/EMS)</a:t>
            </a:r>
            <a:r>
              <a:rPr lang="en-US" dirty="0"/>
              <a:t> For office areas, lighting/HVAC auto-adjust based on occupancy/time/weather.</a:t>
            </a:r>
          </a:p>
          <a:p>
            <a:pPr>
              <a:buFont typeface="Arial" panose="020B0604020202020204" pitchFamily="34" charset="0"/>
              <a:buChar char="•"/>
            </a:pPr>
            <a:r>
              <a:rPr lang="en-US" dirty="0"/>
              <a:t>In production: Integrate with furnace controls for optimal heating cycles. → Lighting/HVAC savings 30–60%; process tweaks add 5–15%.</a:t>
            </a:r>
          </a:p>
        </p:txBody>
      </p:sp>
    </p:spTree>
    <p:extLst>
      <p:ext uri="{BB962C8B-B14F-4D97-AF65-F5344CB8AC3E}">
        <p14:creationId xmlns:p14="http://schemas.microsoft.com/office/powerpoint/2010/main" val="3428235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00BDD36-89C3-76BB-7D5A-A1906467DABF}"/>
              </a:ext>
            </a:extLst>
          </p:cNvPr>
          <p:cNvSpPr>
            <a:spLocks noGrp="1"/>
          </p:cNvSpPr>
          <p:nvPr>
            <p:ph type="sldNum" sz="quarter" idx="12"/>
          </p:nvPr>
        </p:nvSpPr>
        <p:spPr/>
        <p:txBody>
          <a:bodyPr/>
          <a:lstStyle/>
          <a:p>
            <a:fld id="{D57F1E4F-1CFF-5643-939E-02111984F565}" type="slidenum">
              <a:rPr lang="en-US" smtClean="0"/>
              <a:pPr/>
              <a:t>17</a:t>
            </a:fld>
            <a:endParaRPr lang="en-US" dirty="0"/>
          </a:p>
        </p:txBody>
      </p:sp>
      <p:sp>
        <p:nvSpPr>
          <p:cNvPr id="5" name="TextBox 4">
            <a:extLst>
              <a:ext uri="{FF2B5EF4-FFF2-40B4-BE49-F238E27FC236}">
                <a16:creationId xmlns:a16="http://schemas.microsoft.com/office/drawing/2014/main" id="{09611BF0-B60E-601E-11F5-2A6AC2459D61}"/>
              </a:ext>
            </a:extLst>
          </p:cNvPr>
          <p:cNvSpPr txBox="1"/>
          <p:nvPr/>
        </p:nvSpPr>
        <p:spPr>
          <a:xfrm>
            <a:off x="744116" y="460320"/>
            <a:ext cx="9407590" cy="923330"/>
          </a:xfrm>
          <a:prstGeom prst="rect">
            <a:avLst/>
          </a:prstGeom>
          <a:noFill/>
        </p:spPr>
        <p:txBody>
          <a:bodyPr wrap="square">
            <a:spAutoFit/>
          </a:bodyPr>
          <a:lstStyle/>
          <a:p>
            <a:r>
              <a:rPr lang="en-IN" b="1" dirty="0"/>
              <a:t>4. Broader Integration (Smart Grid/ Demand Response)</a:t>
            </a:r>
            <a:r>
              <a:rPr lang="en-IN" dirty="0"/>
              <a:t> Participate in utility programs (e.g., JUSCO/Tata Power demand response) via automated load curtailment during peaks. → Avoid penalties; earn incentives.</a:t>
            </a:r>
          </a:p>
        </p:txBody>
      </p:sp>
      <p:pic>
        <p:nvPicPr>
          <p:cNvPr id="4098" name="Picture 2" descr="Smart grid technology | Smart grid energy application">
            <a:extLst>
              <a:ext uri="{FF2B5EF4-FFF2-40B4-BE49-F238E27FC236}">
                <a16:creationId xmlns:a16="http://schemas.microsoft.com/office/drawing/2014/main" id="{E7A0F04B-9952-4006-7E87-D7BF3C34A8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9387" y="1730339"/>
            <a:ext cx="6556310" cy="4277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236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18</a:t>
            </a:fld>
            <a:endParaRPr lang="en-US" dirty="0"/>
          </a:p>
        </p:txBody>
      </p:sp>
      <p:sp>
        <p:nvSpPr>
          <p:cNvPr id="4" name="TextBox 3"/>
          <p:cNvSpPr txBox="1"/>
          <p:nvPr/>
        </p:nvSpPr>
        <p:spPr>
          <a:xfrm>
            <a:off x="1191448" y="214533"/>
            <a:ext cx="9161092" cy="461665"/>
          </a:xfrm>
          <a:prstGeom prst="rect">
            <a:avLst/>
          </a:prstGeom>
          <a:noFill/>
        </p:spPr>
        <p:txBody>
          <a:bodyPr wrap="square" rtlCol="0">
            <a:spAutoFit/>
          </a:bodyPr>
          <a:lstStyle/>
          <a:p>
            <a:r>
              <a:rPr lang="en-US" sz="2400" b="1" dirty="0">
                <a:solidFill>
                  <a:srgbClr val="FFC000"/>
                </a:solidFill>
              </a:rPr>
              <a:t>Main challenges to improve energy efficiency in industry</a:t>
            </a:r>
            <a:endParaRPr lang="en-IN" sz="2400" b="1" dirty="0">
              <a:solidFill>
                <a:srgbClr val="FFC000"/>
              </a:solidFill>
            </a:endParaRPr>
          </a:p>
        </p:txBody>
      </p:sp>
      <p:sp>
        <p:nvSpPr>
          <p:cNvPr id="5" name="Rectangle 4"/>
          <p:cNvSpPr/>
          <p:nvPr/>
        </p:nvSpPr>
        <p:spPr>
          <a:xfrm>
            <a:off x="444381" y="771066"/>
            <a:ext cx="9908159" cy="5355312"/>
          </a:xfrm>
          <a:prstGeom prst="rect">
            <a:avLst/>
          </a:prstGeom>
        </p:spPr>
        <p:txBody>
          <a:bodyPr wrap="square">
            <a:spAutoFit/>
          </a:bodyPr>
          <a:lstStyle/>
          <a:p>
            <a:pPr algn="just"/>
            <a:r>
              <a:rPr lang="en-US" dirty="0"/>
              <a:t>Improving energy efficiency in the industrial sector is essential but comes with several challenges. </a:t>
            </a:r>
          </a:p>
          <a:p>
            <a:pPr algn="just"/>
            <a:endParaRPr lang="en-US" dirty="0"/>
          </a:p>
          <a:p>
            <a:pPr algn="just"/>
            <a:r>
              <a:rPr lang="en-US" dirty="0"/>
              <a:t>Here are the main obstacles:</a:t>
            </a:r>
          </a:p>
          <a:p>
            <a:pPr algn="just"/>
            <a:endParaRPr lang="en-US" dirty="0"/>
          </a:p>
          <a:p>
            <a:pPr algn="just"/>
            <a:r>
              <a:rPr lang="en-US" dirty="0"/>
              <a:t>1. </a:t>
            </a:r>
            <a:r>
              <a:rPr lang="en-US" b="1" dirty="0">
                <a:solidFill>
                  <a:srgbClr val="FFFF00"/>
                </a:solidFill>
              </a:rPr>
              <a:t>High Initial Investment Costs</a:t>
            </a:r>
          </a:p>
          <a:p>
            <a:pPr algn="just"/>
            <a:r>
              <a:rPr lang="en-US" b="1" dirty="0"/>
              <a:t>Challenge</a:t>
            </a:r>
            <a:r>
              <a:rPr lang="en-US" dirty="0"/>
              <a:t>: </a:t>
            </a:r>
            <a:r>
              <a:rPr lang="en-US" dirty="0">
                <a:solidFill>
                  <a:srgbClr val="FFFF00"/>
                </a:solidFill>
              </a:rPr>
              <a:t>High initial investment costs </a:t>
            </a:r>
            <a:r>
              <a:rPr lang="en-US" dirty="0"/>
              <a:t>pose a major </a:t>
            </a:r>
            <a:r>
              <a:rPr lang="en-US" dirty="0">
                <a:solidFill>
                  <a:srgbClr val="FFFF00"/>
                </a:solidFill>
              </a:rPr>
              <a:t>challenge for businesses, especially small and medium-sized enterprises </a:t>
            </a:r>
            <a:r>
              <a:rPr lang="en-US" dirty="0"/>
              <a:t>(SMEs), when adopting energy-efficient technologies. These upgrades—like </a:t>
            </a:r>
            <a:r>
              <a:rPr lang="en-US" dirty="0">
                <a:solidFill>
                  <a:srgbClr val="FFFF00"/>
                </a:solidFill>
              </a:rPr>
              <a:t>advanced machinery, automation systems, or renewable energy solutions</a:t>
            </a:r>
            <a:r>
              <a:rPr lang="en-US" dirty="0"/>
              <a:t>—typically require a </a:t>
            </a:r>
            <a:r>
              <a:rPr lang="en-US" dirty="0">
                <a:solidFill>
                  <a:srgbClr val="FFFF00"/>
                </a:solidFill>
              </a:rPr>
              <a:t>substantial upfront financial commitment.</a:t>
            </a:r>
          </a:p>
          <a:p>
            <a:pPr algn="just"/>
            <a:endParaRPr lang="en-US" dirty="0"/>
          </a:p>
          <a:p>
            <a:pPr algn="just"/>
            <a:r>
              <a:rPr lang="en-US" b="1" dirty="0"/>
              <a:t>Impact</a:t>
            </a:r>
            <a:r>
              <a:rPr lang="en-US" dirty="0"/>
              <a:t>: While these </a:t>
            </a:r>
            <a:r>
              <a:rPr lang="en-US" dirty="0">
                <a:solidFill>
                  <a:srgbClr val="FFFF00"/>
                </a:solidFill>
              </a:rPr>
              <a:t>investments</a:t>
            </a:r>
            <a:r>
              <a:rPr lang="en-US" dirty="0"/>
              <a:t> often lead to</a:t>
            </a:r>
            <a:r>
              <a:rPr lang="en-US" u="sng" dirty="0"/>
              <a:t> </a:t>
            </a:r>
            <a:r>
              <a:rPr lang="en-US" u="sng" dirty="0">
                <a:solidFill>
                  <a:srgbClr val="FFFF00"/>
                </a:solidFill>
              </a:rPr>
              <a:t>lower operational costs and energy savings over time</a:t>
            </a:r>
            <a:r>
              <a:rPr lang="en-US" dirty="0"/>
              <a:t>, SMEs may find it </a:t>
            </a:r>
            <a:r>
              <a:rPr lang="en-US" dirty="0">
                <a:solidFill>
                  <a:srgbClr val="FFFF00"/>
                </a:solidFill>
              </a:rPr>
              <a:t>difficult to allocate the necessary funds</a:t>
            </a:r>
            <a:r>
              <a:rPr lang="en-US" dirty="0"/>
              <a:t>. </a:t>
            </a:r>
            <a:r>
              <a:rPr lang="en-US" dirty="0">
                <a:solidFill>
                  <a:srgbClr val="FFFF00"/>
                </a:solidFill>
              </a:rPr>
              <a:t>Limited access to financing</a:t>
            </a:r>
            <a:r>
              <a:rPr lang="en-US" dirty="0"/>
              <a:t>, cash flow constraints, or </a:t>
            </a:r>
            <a:r>
              <a:rPr lang="en-US" u="sng" dirty="0">
                <a:solidFill>
                  <a:srgbClr val="FFFF00"/>
                </a:solidFill>
              </a:rPr>
              <a:t>uncertainty about the return </a:t>
            </a:r>
            <a:r>
              <a:rPr lang="en-US" u="sng" dirty="0"/>
              <a:t>on investment</a:t>
            </a:r>
            <a:r>
              <a:rPr lang="en-US" dirty="0"/>
              <a:t> can make businesses </a:t>
            </a:r>
            <a:r>
              <a:rPr lang="en-US" dirty="0">
                <a:solidFill>
                  <a:srgbClr val="FFFF00"/>
                </a:solidFill>
              </a:rPr>
              <a:t>hesitant to take the leap</a:t>
            </a:r>
            <a:r>
              <a:rPr lang="en-US" dirty="0"/>
              <a:t>, even if the long-term benefits </a:t>
            </a:r>
            <a:r>
              <a:rPr lang="en-US" dirty="0">
                <a:solidFill>
                  <a:srgbClr val="FFFF00"/>
                </a:solidFill>
              </a:rPr>
              <a:t>outweigh the costs</a:t>
            </a:r>
            <a:r>
              <a:rPr lang="en-US" dirty="0"/>
              <a:t>.</a:t>
            </a:r>
          </a:p>
          <a:p>
            <a:endParaRPr lang="en-US" dirty="0"/>
          </a:p>
          <a:p>
            <a:endParaRPr lang="en-IN" dirty="0"/>
          </a:p>
        </p:txBody>
      </p:sp>
    </p:spTree>
    <p:extLst>
      <p:ext uri="{BB962C8B-B14F-4D97-AF65-F5344CB8AC3E}">
        <p14:creationId xmlns:p14="http://schemas.microsoft.com/office/powerpoint/2010/main" val="3353403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19</a:t>
            </a:fld>
            <a:endParaRPr lang="en-US" dirty="0"/>
          </a:p>
        </p:txBody>
      </p:sp>
      <p:sp>
        <p:nvSpPr>
          <p:cNvPr id="4" name="Rectangle 3"/>
          <p:cNvSpPr/>
          <p:nvPr/>
        </p:nvSpPr>
        <p:spPr>
          <a:xfrm>
            <a:off x="364619" y="39355"/>
            <a:ext cx="9987921" cy="5078313"/>
          </a:xfrm>
          <a:prstGeom prst="rect">
            <a:avLst/>
          </a:prstGeom>
        </p:spPr>
        <p:txBody>
          <a:bodyPr wrap="square">
            <a:spAutoFit/>
          </a:bodyPr>
          <a:lstStyle/>
          <a:p>
            <a:pPr algn="just"/>
            <a:r>
              <a:rPr lang="en-US" dirty="0"/>
              <a:t>2. </a:t>
            </a:r>
            <a:r>
              <a:rPr lang="en-US" b="1" dirty="0">
                <a:solidFill>
                  <a:srgbClr val="FFFF00"/>
                </a:solidFill>
              </a:rPr>
              <a:t>Lack of Awareness and Expertise</a:t>
            </a:r>
          </a:p>
          <a:p>
            <a:pPr algn="just"/>
            <a:endParaRPr lang="en-US" b="1" dirty="0"/>
          </a:p>
          <a:p>
            <a:pPr algn="just"/>
            <a:r>
              <a:rPr lang="en-US" b="1" dirty="0"/>
              <a:t>Challenge</a:t>
            </a:r>
            <a:r>
              <a:rPr lang="en-US" dirty="0"/>
              <a:t>: </a:t>
            </a:r>
            <a:r>
              <a:rPr lang="en-US" dirty="0">
                <a:solidFill>
                  <a:srgbClr val="FFFF00"/>
                </a:solidFill>
              </a:rPr>
              <a:t>Lack of awareness and expertise </a:t>
            </a:r>
            <a:r>
              <a:rPr lang="en-US" dirty="0"/>
              <a:t>presents a significant barrier to adopting energy-efficient technologies across industries. Many businesses, </a:t>
            </a:r>
            <a:r>
              <a:rPr lang="en-US" dirty="0">
                <a:solidFill>
                  <a:srgbClr val="FFFF00"/>
                </a:solidFill>
              </a:rPr>
              <a:t>especially small and medium-sized enterprises (SMEs),</a:t>
            </a:r>
            <a:r>
              <a:rPr lang="en-US" dirty="0"/>
              <a:t> may not be </a:t>
            </a:r>
            <a:r>
              <a:rPr lang="en-US" u="sng" dirty="0">
                <a:solidFill>
                  <a:srgbClr val="FFFF00"/>
                </a:solidFill>
              </a:rPr>
              <a:t>fully informed </a:t>
            </a:r>
            <a:r>
              <a:rPr lang="en-US" u="sng" dirty="0"/>
              <a:t>about the </a:t>
            </a:r>
            <a:r>
              <a:rPr lang="en-US" u="sng" dirty="0">
                <a:solidFill>
                  <a:srgbClr val="FFFF00"/>
                </a:solidFill>
              </a:rPr>
              <a:t>latest advancements in energy efficiency</a:t>
            </a:r>
            <a:r>
              <a:rPr lang="en-US" u="sng" dirty="0"/>
              <a:t> or the </a:t>
            </a:r>
            <a:r>
              <a:rPr lang="en-US" u="sng" dirty="0">
                <a:solidFill>
                  <a:srgbClr val="FFFF00"/>
                </a:solidFill>
              </a:rPr>
              <a:t>long-term benefits </a:t>
            </a:r>
            <a:r>
              <a:rPr lang="en-US" u="sng" dirty="0"/>
              <a:t>they offer.</a:t>
            </a:r>
            <a:r>
              <a:rPr lang="en-US" dirty="0"/>
              <a:t> This </a:t>
            </a:r>
            <a:r>
              <a:rPr lang="en-US" dirty="0">
                <a:solidFill>
                  <a:srgbClr val="FFFF00"/>
                </a:solidFill>
              </a:rPr>
              <a:t>knowledge</a:t>
            </a:r>
            <a:r>
              <a:rPr lang="en-US" dirty="0"/>
              <a:t> </a:t>
            </a:r>
            <a:r>
              <a:rPr lang="en-US" dirty="0">
                <a:solidFill>
                  <a:srgbClr val="FFFF00"/>
                </a:solidFill>
              </a:rPr>
              <a:t>gap </a:t>
            </a:r>
            <a:r>
              <a:rPr lang="en-US" dirty="0"/>
              <a:t>can stem from </a:t>
            </a:r>
          </a:p>
          <a:p>
            <a:pPr marL="285750" indent="-285750" algn="just">
              <a:buFont typeface="Arial" panose="020B0604020202020204" pitchFamily="34" charset="0"/>
              <a:buChar char="•"/>
            </a:pPr>
            <a:r>
              <a:rPr lang="en-US" dirty="0">
                <a:solidFill>
                  <a:srgbClr val="FFFF00"/>
                </a:solidFill>
              </a:rPr>
              <a:t>limited access to educational resources</a:t>
            </a:r>
            <a:r>
              <a:rPr lang="en-US" dirty="0"/>
              <a:t>, </a:t>
            </a:r>
          </a:p>
          <a:p>
            <a:pPr marL="285750" indent="-285750" algn="just">
              <a:buFont typeface="Arial" panose="020B0604020202020204" pitchFamily="34" charset="0"/>
              <a:buChar char="•"/>
            </a:pPr>
            <a:r>
              <a:rPr lang="en-US" dirty="0">
                <a:solidFill>
                  <a:srgbClr val="FFFF00"/>
                </a:solidFill>
              </a:rPr>
              <a:t>insufficient training programs</a:t>
            </a:r>
            <a:r>
              <a:rPr lang="en-US" dirty="0"/>
              <a:t>, or a </a:t>
            </a:r>
          </a:p>
          <a:p>
            <a:pPr marL="285750" indent="-285750" algn="just">
              <a:buFont typeface="Arial" panose="020B0604020202020204" pitchFamily="34" charset="0"/>
              <a:buChar char="•"/>
            </a:pPr>
            <a:r>
              <a:rPr lang="en-US" dirty="0"/>
              <a:t>lack of </a:t>
            </a:r>
            <a:r>
              <a:rPr lang="en-US" dirty="0">
                <a:solidFill>
                  <a:srgbClr val="FFFF00"/>
                </a:solidFill>
              </a:rPr>
              <a:t>emphasis on sustainability </a:t>
            </a:r>
            <a:r>
              <a:rPr lang="en-US" dirty="0"/>
              <a:t>within certain sectors.</a:t>
            </a:r>
          </a:p>
          <a:p>
            <a:pPr algn="just"/>
            <a:endParaRPr lang="en-US" b="1" dirty="0"/>
          </a:p>
          <a:p>
            <a:pPr algn="just"/>
            <a:r>
              <a:rPr lang="en-US" b="1" dirty="0"/>
              <a:t>Impact</a:t>
            </a:r>
            <a:r>
              <a:rPr lang="en-US" dirty="0"/>
              <a:t>: Without </a:t>
            </a:r>
            <a:r>
              <a:rPr lang="en-US" dirty="0">
                <a:solidFill>
                  <a:srgbClr val="FFFF00"/>
                </a:solidFill>
              </a:rPr>
              <a:t>proper awareness</a:t>
            </a:r>
            <a:r>
              <a:rPr lang="en-US" dirty="0"/>
              <a:t>, industries may </a:t>
            </a:r>
            <a:r>
              <a:rPr lang="en-US" dirty="0">
                <a:solidFill>
                  <a:srgbClr val="FFFF00"/>
                </a:solidFill>
              </a:rPr>
              <a:t>continue using outdated systems </a:t>
            </a:r>
            <a:r>
              <a:rPr lang="en-US" dirty="0"/>
              <a:t>that consume </a:t>
            </a:r>
            <a:r>
              <a:rPr lang="en-US" dirty="0">
                <a:solidFill>
                  <a:srgbClr val="FFFF00"/>
                </a:solidFill>
              </a:rPr>
              <a:t>excess energy</a:t>
            </a:r>
            <a:r>
              <a:rPr lang="en-US" dirty="0"/>
              <a:t>, leading to </a:t>
            </a:r>
            <a:r>
              <a:rPr lang="en-US" dirty="0">
                <a:solidFill>
                  <a:srgbClr val="FFFF00"/>
                </a:solidFill>
              </a:rPr>
              <a:t>higher operational costs and environmental consequences.</a:t>
            </a:r>
            <a:r>
              <a:rPr lang="en-US" dirty="0"/>
              <a:t> </a:t>
            </a:r>
            <a:r>
              <a:rPr lang="en-US" dirty="0">
                <a:solidFill>
                  <a:srgbClr val="FFFF00"/>
                </a:solidFill>
              </a:rPr>
              <a:t>Businesses that fail to upgrade</a:t>
            </a:r>
            <a:r>
              <a:rPr lang="en-US" dirty="0"/>
              <a:t> may also miss out on </a:t>
            </a:r>
            <a:r>
              <a:rPr lang="en-US" dirty="0">
                <a:solidFill>
                  <a:srgbClr val="FFFF00"/>
                </a:solidFill>
              </a:rPr>
              <a:t>government incentives, tax benefits,</a:t>
            </a:r>
            <a:r>
              <a:rPr lang="en-US" dirty="0"/>
              <a:t> or </a:t>
            </a:r>
            <a:r>
              <a:rPr lang="en-US" dirty="0">
                <a:solidFill>
                  <a:srgbClr val="FFFF00"/>
                </a:solidFill>
              </a:rPr>
              <a:t>competitive advantages</a:t>
            </a:r>
            <a:r>
              <a:rPr lang="en-US" dirty="0"/>
              <a:t> that energy-efficient practices can provide.</a:t>
            </a:r>
          </a:p>
          <a:p>
            <a:pPr algn="just"/>
            <a:endParaRPr lang="en-US" dirty="0"/>
          </a:p>
          <a:p>
            <a:pPr algn="just"/>
            <a:endParaRPr lang="en-US" dirty="0"/>
          </a:p>
        </p:txBody>
      </p:sp>
    </p:spTree>
    <p:extLst>
      <p:ext uri="{BB962C8B-B14F-4D97-AF65-F5344CB8AC3E}">
        <p14:creationId xmlns:p14="http://schemas.microsoft.com/office/powerpoint/2010/main" val="225671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328A0AC-AD28-547E-D63A-0E0A5E10A609}"/>
              </a:ext>
            </a:extLst>
          </p:cNvPr>
          <p:cNvSpPr>
            <a:spLocks noGrp="1"/>
          </p:cNvSpPr>
          <p:nvPr>
            <p:ph type="sldNum" sz="quarter" idx="12"/>
          </p:nvPr>
        </p:nvSpPr>
        <p:spPr/>
        <p:txBody>
          <a:bodyPr/>
          <a:lstStyle/>
          <a:p>
            <a:fld id="{D57F1E4F-1CFF-5643-939E-02111984F565}" type="slidenum">
              <a:rPr lang="en-US" smtClean="0"/>
              <a:pPr/>
              <a:t>20</a:t>
            </a:fld>
            <a:endParaRPr lang="en-US" dirty="0"/>
          </a:p>
        </p:txBody>
      </p:sp>
      <p:sp>
        <p:nvSpPr>
          <p:cNvPr id="5" name="TextBox 4">
            <a:extLst>
              <a:ext uri="{FF2B5EF4-FFF2-40B4-BE49-F238E27FC236}">
                <a16:creationId xmlns:a16="http://schemas.microsoft.com/office/drawing/2014/main" id="{135985CD-6AC4-3287-C853-93BEF25395B7}"/>
              </a:ext>
            </a:extLst>
          </p:cNvPr>
          <p:cNvSpPr txBox="1"/>
          <p:nvPr/>
        </p:nvSpPr>
        <p:spPr>
          <a:xfrm>
            <a:off x="725456" y="560692"/>
            <a:ext cx="8297245" cy="646331"/>
          </a:xfrm>
          <a:prstGeom prst="rect">
            <a:avLst/>
          </a:prstGeom>
          <a:noFill/>
        </p:spPr>
        <p:txBody>
          <a:bodyPr wrap="square">
            <a:spAutoFit/>
          </a:bodyPr>
          <a:lstStyle/>
          <a:p>
            <a:pPr>
              <a:buNone/>
            </a:pPr>
            <a:r>
              <a:rPr lang="en-US" dirty="0">
                <a:effectLst/>
              </a:rPr>
              <a:t>Example: Compressed Air Systems in Manufacturing SMEs (Very Common in India and Globally)</a:t>
            </a:r>
          </a:p>
        </p:txBody>
      </p:sp>
      <p:sp>
        <p:nvSpPr>
          <p:cNvPr id="7" name="TextBox 6">
            <a:extLst>
              <a:ext uri="{FF2B5EF4-FFF2-40B4-BE49-F238E27FC236}">
                <a16:creationId xmlns:a16="http://schemas.microsoft.com/office/drawing/2014/main" id="{4D1C0581-FD83-32C2-88ED-1DA4E99C79E7}"/>
              </a:ext>
            </a:extLst>
          </p:cNvPr>
          <p:cNvSpPr txBox="1"/>
          <p:nvPr/>
        </p:nvSpPr>
        <p:spPr>
          <a:xfrm>
            <a:off x="725456" y="3059668"/>
            <a:ext cx="6097554" cy="369332"/>
          </a:xfrm>
          <a:prstGeom prst="rect">
            <a:avLst/>
          </a:prstGeom>
          <a:noFill/>
        </p:spPr>
        <p:txBody>
          <a:bodyPr wrap="square">
            <a:spAutoFit/>
          </a:bodyPr>
          <a:lstStyle/>
          <a:p>
            <a:pPr>
              <a:buNone/>
            </a:pPr>
            <a:r>
              <a:rPr lang="en-US" dirty="0">
                <a:effectLst/>
              </a:rPr>
              <a:t>Example: Lighting and Motors in Indian SMEs</a:t>
            </a:r>
          </a:p>
        </p:txBody>
      </p:sp>
      <p:sp>
        <p:nvSpPr>
          <p:cNvPr id="8" name="Rectangle 1">
            <a:extLst>
              <a:ext uri="{FF2B5EF4-FFF2-40B4-BE49-F238E27FC236}">
                <a16:creationId xmlns:a16="http://schemas.microsoft.com/office/drawing/2014/main" id="{D13CFC61-0C96-1D33-D979-28BD8223DD1B}"/>
              </a:ext>
            </a:extLst>
          </p:cNvPr>
          <p:cNvSpPr>
            <a:spLocks noChangeArrowheads="1"/>
          </p:cNvSpPr>
          <p:nvPr/>
        </p:nvSpPr>
        <p:spPr bwMode="auto">
          <a:xfrm>
            <a:off x="1219979" y="1343605"/>
            <a:ext cx="7924021"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20–40% of the compressed air is lost through leaks.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compressor runs unnecessarily during lunch breaks or night shifts.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Old fixed-speed compressors waste huge amounts of electricity compared to modern variable-speed drives (VSD). </a:t>
            </a:r>
          </a:p>
        </p:txBody>
      </p:sp>
      <p:sp>
        <p:nvSpPr>
          <p:cNvPr id="9" name="Rectangle 2">
            <a:extLst>
              <a:ext uri="{FF2B5EF4-FFF2-40B4-BE49-F238E27FC236}">
                <a16:creationId xmlns:a16="http://schemas.microsoft.com/office/drawing/2014/main" id="{0E903DBC-6838-0FA6-A6F9-42257FA3B3CA}"/>
              </a:ext>
            </a:extLst>
          </p:cNvPr>
          <p:cNvSpPr>
            <a:spLocks noChangeArrowheads="1"/>
          </p:cNvSpPr>
          <p:nvPr/>
        </p:nvSpPr>
        <p:spPr bwMode="auto">
          <a:xfrm>
            <a:off x="1219979" y="3319197"/>
            <a:ext cx="824826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Switching to </a:t>
            </a:r>
            <a:r>
              <a:rPr kumimoji="0" lang="en-US" altLang="en-US" sz="1800" b="1" i="0" u="none" strike="noStrike" cap="none" normalizeH="0" baseline="0" dirty="0">
                <a:ln>
                  <a:noFill/>
                </a:ln>
                <a:solidFill>
                  <a:schemeClr val="tx1"/>
                </a:solidFill>
                <a:effectLst/>
                <a:latin typeface="Arial" panose="020B0604020202020204" pitchFamily="34" charset="0"/>
              </a:rPr>
              <a:t>LED lighting with sensors</a:t>
            </a:r>
            <a:r>
              <a:rPr kumimoji="0" lang="en-US" altLang="en-US" sz="1800" b="0" i="0" u="none" strike="noStrike" cap="none" normalizeH="0" baseline="0" dirty="0">
                <a:ln>
                  <a:noFill/>
                </a:ln>
                <a:solidFill>
                  <a:schemeClr val="tx1"/>
                </a:solidFill>
                <a:effectLst/>
                <a:latin typeface="Arial" panose="020B0604020202020204" pitchFamily="34" charset="0"/>
              </a:rPr>
              <a:t> can cut lighting energy by 50–70%.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Replacing old motors with energy-efficient IE3/IE4 class motors + variable frequency drives can save 10–30% on motor electricity. </a:t>
            </a:r>
          </a:p>
        </p:txBody>
      </p:sp>
      <p:pic>
        <p:nvPicPr>
          <p:cNvPr id="12" name="Picture 11">
            <a:extLst>
              <a:ext uri="{FF2B5EF4-FFF2-40B4-BE49-F238E27FC236}">
                <a16:creationId xmlns:a16="http://schemas.microsoft.com/office/drawing/2014/main" id="{2422714B-6A96-E4FF-69B5-115BAFEB138A}"/>
              </a:ext>
            </a:extLst>
          </p:cNvPr>
          <p:cNvPicPr>
            <a:picLocks noChangeAspect="1"/>
          </p:cNvPicPr>
          <p:nvPr/>
        </p:nvPicPr>
        <p:blipFill>
          <a:blip r:embed="rId2"/>
          <a:srcRect l="18286"/>
          <a:stretch>
            <a:fillRect/>
          </a:stretch>
        </p:blipFill>
        <p:spPr>
          <a:xfrm>
            <a:off x="9144000" y="1207023"/>
            <a:ext cx="2976237" cy="2428160"/>
          </a:xfrm>
          <a:prstGeom prst="rect">
            <a:avLst/>
          </a:prstGeom>
        </p:spPr>
      </p:pic>
      <p:sp>
        <p:nvSpPr>
          <p:cNvPr id="14" name="TextBox 13">
            <a:extLst>
              <a:ext uri="{FF2B5EF4-FFF2-40B4-BE49-F238E27FC236}">
                <a16:creationId xmlns:a16="http://schemas.microsoft.com/office/drawing/2014/main" id="{D46C2218-D257-6EC0-BBE7-D6D9C2011701}"/>
              </a:ext>
            </a:extLst>
          </p:cNvPr>
          <p:cNvSpPr txBox="1"/>
          <p:nvPr/>
        </p:nvSpPr>
        <p:spPr>
          <a:xfrm>
            <a:off x="598939" y="4936495"/>
            <a:ext cx="10172700" cy="1754326"/>
          </a:xfrm>
          <a:prstGeom prst="rect">
            <a:avLst/>
          </a:prstGeom>
          <a:noFill/>
        </p:spPr>
        <p:txBody>
          <a:bodyPr wrap="square">
            <a:spAutoFit/>
          </a:bodyPr>
          <a:lstStyle/>
          <a:p>
            <a:r>
              <a:rPr lang="en-US" b="1" dirty="0">
                <a:solidFill>
                  <a:srgbClr val="FFFF00"/>
                </a:solidFill>
              </a:rPr>
              <a:t>3. Resistance to Change</a:t>
            </a:r>
          </a:p>
          <a:p>
            <a:endParaRPr lang="en-US" b="1" dirty="0"/>
          </a:p>
          <a:p>
            <a:pPr algn="just"/>
            <a:r>
              <a:rPr lang="en-US" b="1" dirty="0"/>
              <a:t>Challenge</a:t>
            </a:r>
            <a:r>
              <a:rPr lang="en-US" dirty="0"/>
              <a:t>: </a:t>
            </a:r>
            <a:r>
              <a:rPr lang="en-US" dirty="0">
                <a:solidFill>
                  <a:srgbClr val="FFFF00"/>
                </a:solidFill>
              </a:rPr>
              <a:t>Resistance to change </a:t>
            </a:r>
            <a:r>
              <a:rPr lang="en-US" dirty="0"/>
              <a:t>is a </a:t>
            </a:r>
            <a:r>
              <a:rPr lang="en-US" dirty="0">
                <a:solidFill>
                  <a:srgbClr val="FFFF00"/>
                </a:solidFill>
              </a:rPr>
              <a:t>major obstacle </a:t>
            </a:r>
            <a:r>
              <a:rPr lang="en-US" dirty="0"/>
              <a:t>in the </a:t>
            </a:r>
            <a:r>
              <a:rPr lang="en-US" dirty="0">
                <a:solidFill>
                  <a:srgbClr val="FFFF00"/>
                </a:solidFill>
              </a:rPr>
              <a:t>adoption of energy-efficient technologies </a:t>
            </a:r>
            <a:r>
              <a:rPr lang="en-US" dirty="0"/>
              <a:t>across industries. Many </a:t>
            </a:r>
            <a:r>
              <a:rPr lang="en-US" dirty="0">
                <a:solidFill>
                  <a:srgbClr val="FFFF00"/>
                </a:solidFill>
              </a:rPr>
              <a:t>businesses hesitate </a:t>
            </a:r>
            <a:r>
              <a:rPr lang="en-US" dirty="0"/>
              <a:t>to </a:t>
            </a:r>
            <a:r>
              <a:rPr lang="en-US" dirty="0">
                <a:solidFill>
                  <a:srgbClr val="FFFF00"/>
                </a:solidFill>
              </a:rPr>
              <a:t>upgrade due to fears that new systems might disrupt existing workflows</a:t>
            </a:r>
            <a:r>
              <a:rPr lang="en-US" dirty="0"/>
              <a:t>, </a:t>
            </a:r>
            <a:r>
              <a:rPr lang="en-US" dirty="0">
                <a:solidFill>
                  <a:srgbClr val="FFFF00"/>
                </a:solidFill>
              </a:rPr>
              <a:t>reduce productivity during the transition</a:t>
            </a:r>
            <a:r>
              <a:rPr lang="en-US" dirty="0"/>
              <a:t>, or </a:t>
            </a:r>
            <a:r>
              <a:rPr lang="en-US" dirty="0">
                <a:solidFill>
                  <a:srgbClr val="FFFF00"/>
                </a:solidFill>
              </a:rPr>
              <a:t>fail to deliver </a:t>
            </a:r>
            <a:r>
              <a:rPr lang="en-US" dirty="0"/>
              <a:t>the </a:t>
            </a:r>
            <a:r>
              <a:rPr lang="en-US" dirty="0">
                <a:solidFill>
                  <a:srgbClr val="FFFF00"/>
                </a:solidFill>
              </a:rPr>
              <a:t>promised return </a:t>
            </a:r>
            <a:r>
              <a:rPr lang="en-US" dirty="0"/>
              <a:t>on investment.</a:t>
            </a:r>
          </a:p>
        </p:txBody>
      </p:sp>
      <p:sp>
        <p:nvSpPr>
          <p:cNvPr id="15" name="Rectangle 14">
            <a:extLst>
              <a:ext uri="{FF2B5EF4-FFF2-40B4-BE49-F238E27FC236}">
                <a16:creationId xmlns:a16="http://schemas.microsoft.com/office/drawing/2014/main" id="{DD5391D0-119E-C98F-8ADA-6248602C47F4}"/>
              </a:ext>
            </a:extLst>
          </p:cNvPr>
          <p:cNvSpPr/>
          <p:nvPr/>
        </p:nvSpPr>
        <p:spPr>
          <a:xfrm>
            <a:off x="494522" y="466531"/>
            <a:ext cx="8649478" cy="432940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340448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21</a:t>
            </a:fld>
            <a:endParaRPr lang="en-US" dirty="0"/>
          </a:p>
        </p:txBody>
      </p:sp>
      <p:sp>
        <p:nvSpPr>
          <p:cNvPr id="4" name="TextBox 3"/>
          <p:cNvSpPr txBox="1"/>
          <p:nvPr/>
        </p:nvSpPr>
        <p:spPr>
          <a:xfrm>
            <a:off x="401652" y="295729"/>
            <a:ext cx="9733660" cy="5078313"/>
          </a:xfrm>
          <a:prstGeom prst="rect">
            <a:avLst/>
          </a:prstGeom>
          <a:noFill/>
        </p:spPr>
        <p:txBody>
          <a:bodyPr wrap="square" rtlCol="0">
            <a:spAutoFit/>
          </a:bodyPr>
          <a:lstStyle/>
          <a:p>
            <a:pPr algn="just"/>
            <a:r>
              <a:rPr lang="en-US" b="1" dirty="0"/>
              <a:t>Impact: </a:t>
            </a:r>
            <a:r>
              <a:rPr lang="en-US" dirty="0"/>
              <a:t>This </a:t>
            </a:r>
            <a:r>
              <a:rPr lang="en-US" dirty="0">
                <a:solidFill>
                  <a:srgbClr val="FFFF00"/>
                </a:solidFill>
              </a:rPr>
              <a:t>reluctance slows down </a:t>
            </a:r>
            <a:r>
              <a:rPr lang="en-US" dirty="0"/>
              <a:t>the </a:t>
            </a:r>
            <a:r>
              <a:rPr lang="en-US" dirty="0">
                <a:solidFill>
                  <a:srgbClr val="FFFF00"/>
                </a:solidFill>
              </a:rPr>
              <a:t>shift to more sustainable practices</a:t>
            </a:r>
            <a:r>
              <a:rPr lang="en-US" dirty="0"/>
              <a:t>, </a:t>
            </a:r>
            <a:r>
              <a:rPr lang="en-US" dirty="0">
                <a:solidFill>
                  <a:srgbClr val="FFFF00"/>
                </a:solidFill>
              </a:rPr>
              <a:t>leaving industries stuck with outdated</a:t>
            </a:r>
            <a:r>
              <a:rPr lang="en-US" dirty="0"/>
              <a:t>, </a:t>
            </a:r>
            <a:r>
              <a:rPr lang="en-US" dirty="0">
                <a:solidFill>
                  <a:srgbClr val="FFFF00"/>
                </a:solidFill>
              </a:rPr>
              <a:t>energy-intensive technologies</a:t>
            </a:r>
            <a:r>
              <a:rPr lang="en-US" dirty="0"/>
              <a:t>. Even when long-term cost savings and efficiency improvements are clear, </a:t>
            </a:r>
            <a:r>
              <a:rPr lang="en-US" dirty="0">
                <a:solidFill>
                  <a:srgbClr val="FFFF00"/>
                </a:solidFill>
              </a:rPr>
              <a:t>uncertainty</a:t>
            </a:r>
            <a:r>
              <a:rPr lang="en-US" dirty="0"/>
              <a:t> can prevent companies from making </a:t>
            </a:r>
            <a:r>
              <a:rPr lang="en-US" dirty="0">
                <a:solidFill>
                  <a:srgbClr val="FFFF00"/>
                </a:solidFill>
              </a:rPr>
              <a:t>necessary changes</a:t>
            </a:r>
            <a:r>
              <a:rPr lang="en-US" dirty="0"/>
              <a:t>.</a:t>
            </a:r>
          </a:p>
          <a:p>
            <a:pPr algn="just"/>
            <a:endParaRPr lang="en-US" b="1" dirty="0"/>
          </a:p>
          <a:p>
            <a:pPr algn="just"/>
            <a:r>
              <a:rPr lang="en-US" b="1" dirty="0">
                <a:solidFill>
                  <a:srgbClr val="FFFF00"/>
                </a:solidFill>
              </a:rPr>
              <a:t>4. Limited Access to Financing</a:t>
            </a:r>
          </a:p>
          <a:p>
            <a:pPr algn="just"/>
            <a:endParaRPr lang="en-US" b="1" dirty="0">
              <a:solidFill>
                <a:srgbClr val="FFFF00"/>
              </a:solidFill>
            </a:endParaRPr>
          </a:p>
          <a:p>
            <a:pPr algn="just"/>
            <a:r>
              <a:rPr lang="en-US" b="1" dirty="0"/>
              <a:t>Challenge: </a:t>
            </a:r>
            <a:r>
              <a:rPr lang="en-US" dirty="0">
                <a:solidFill>
                  <a:srgbClr val="FFFF00"/>
                </a:solidFill>
              </a:rPr>
              <a:t>Access to financing </a:t>
            </a:r>
            <a:r>
              <a:rPr lang="en-US" dirty="0"/>
              <a:t>is a </a:t>
            </a:r>
            <a:r>
              <a:rPr lang="en-US" dirty="0">
                <a:solidFill>
                  <a:srgbClr val="FFFF00"/>
                </a:solidFill>
              </a:rPr>
              <a:t>major roadblock </a:t>
            </a:r>
            <a:r>
              <a:rPr lang="en-US" dirty="0"/>
              <a:t>for industries looking to </a:t>
            </a:r>
            <a:r>
              <a:rPr lang="en-US" dirty="0">
                <a:solidFill>
                  <a:srgbClr val="FFFF00"/>
                </a:solidFill>
              </a:rPr>
              <a:t>invest in energy-efficient technologies</a:t>
            </a:r>
            <a:r>
              <a:rPr lang="en-US" dirty="0"/>
              <a:t>. Even </a:t>
            </a:r>
            <a:r>
              <a:rPr lang="en-US" dirty="0">
                <a:solidFill>
                  <a:srgbClr val="FFFF00"/>
                </a:solidFill>
              </a:rPr>
              <a:t>when businesses recognize the benefits </a:t>
            </a:r>
            <a:r>
              <a:rPr lang="en-US" dirty="0"/>
              <a:t>and are </a:t>
            </a:r>
            <a:r>
              <a:rPr lang="en-US" dirty="0">
                <a:solidFill>
                  <a:srgbClr val="FFFF00"/>
                </a:solidFill>
              </a:rPr>
              <a:t>willing to make upgrades</a:t>
            </a:r>
            <a:r>
              <a:rPr lang="en-US" dirty="0"/>
              <a:t>, they </a:t>
            </a:r>
            <a:r>
              <a:rPr lang="en-US" dirty="0">
                <a:solidFill>
                  <a:srgbClr val="FFFF00"/>
                </a:solidFill>
              </a:rPr>
              <a:t>may struggle to secure loans or incentives </a:t>
            </a:r>
            <a:r>
              <a:rPr lang="en-US" dirty="0"/>
              <a:t>due to </a:t>
            </a:r>
            <a:r>
              <a:rPr lang="en-US" u="sng" dirty="0">
                <a:solidFill>
                  <a:srgbClr val="FFFF00"/>
                </a:solidFill>
              </a:rPr>
              <a:t>strict eligibility criteria</a:t>
            </a:r>
            <a:r>
              <a:rPr lang="en-US" u="sng" dirty="0"/>
              <a:t>, </a:t>
            </a:r>
            <a:r>
              <a:rPr lang="en-US" u="sng" dirty="0">
                <a:solidFill>
                  <a:srgbClr val="FFFF00"/>
                </a:solidFill>
              </a:rPr>
              <a:t>complex application processes</a:t>
            </a:r>
            <a:r>
              <a:rPr lang="en-US" u="sng" dirty="0"/>
              <a:t>, or </a:t>
            </a:r>
            <a:r>
              <a:rPr lang="en-US" u="sng" dirty="0">
                <a:solidFill>
                  <a:srgbClr val="FFFF00"/>
                </a:solidFill>
              </a:rPr>
              <a:t>limited availability of financial programs </a:t>
            </a:r>
            <a:r>
              <a:rPr lang="en-US" u="sng" dirty="0"/>
              <a:t>tailored for sustainability efforts</a:t>
            </a:r>
            <a:r>
              <a:rPr lang="en-US" dirty="0"/>
              <a:t>.</a:t>
            </a:r>
          </a:p>
          <a:p>
            <a:pPr algn="just"/>
            <a:endParaRPr lang="en-US" dirty="0"/>
          </a:p>
          <a:p>
            <a:pPr algn="just"/>
            <a:r>
              <a:rPr lang="en-US" b="1" dirty="0"/>
              <a:t>Impact: </a:t>
            </a:r>
            <a:r>
              <a:rPr lang="en-US" dirty="0">
                <a:solidFill>
                  <a:srgbClr val="FFFF00"/>
                </a:solidFill>
              </a:rPr>
              <a:t>Without adequate funding</a:t>
            </a:r>
            <a:r>
              <a:rPr lang="en-US" dirty="0"/>
              <a:t>, </a:t>
            </a:r>
            <a:r>
              <a:rPr lang="en-US" dirty="0">
                <a:solidFill>
                  <a:srgbClr val="FFFF00"/>
                </a:solidFill>
              </a:rPr>
              <a:t>industries may delay or abandon plans </a:t>
            </a:r>
            <a:r>
              <a:rPr lang="en-US" dirty="0"/>
              <a:t>for energy-efficient upgrades, </a:t>
            </a:r>
            <a:r>
              <a:rPr lang="en-US" dirty="0">
                <a:solidFill>
                  <a:srgbClr val="FFFF00"/>
                </a:solidFill>
              </a:rPr>
              <a:t>preventing them </a:t>
            </a:r>
            <a:r>
              <a:rPr lang="en-US" dirty="0"/>
              <a:t>from </a:t>
            </a:r>
            <a:r>
              <a:rPr lang="en-US" dirty="0">
                <a:solidFill>
                  <a:srgbClr val="FFFF00"/>
                </a:solidFill>
              </a:rPr>
              <a:t>improving operational efficiency and reducing costs in the long run</a:t>
            </a:r>
            <a:r>
              <a:rPr lang="en-US" dirty="0"/>
              <a:t>. This challenge is </a:t>
            </a:r>
            <a:r>
              <a:rPr lang="en-US" dirty="0">
                <a:solidFill>
                  <a:srgbClr val="FFFF00"/>
                </a:solidFill>
              </a:rPr>
              <a:t>particularly significant for small and medium-sized enterprises (SMEs)</a:t>
            </a:r>
            <a:r>
              <a:rPr lang="en-US" dirty="0"/>
              <a:t>, which </a:t>
            </a:r>
            <a:r>
              <a:rPr lang="en-US" dirty="0">
                <a:solidFill>
                  <a:srgbClr val="FFFF00"/>
                </a:solidFill>
              </a:rPr>
              <a:t>often lack </a:t>
            </a:r>
            <a:r>
              <a:rPr lang="en-US" dirty="0"/>
              <a:t>the </a:t>
            </a:r>
            <a:r>
              <a:rPr lang="en-US" dirty="0">
                <a:solidFill>
                  <a:srgbClr val="FFFF00"/>
                </a:solidFill>
              </a:rPr>
              <a:t>financial flexibility </a:t>
            </a:r>
            <a:r>
              <a:rPr lang="en-US" dirty="0"/>
              <a:t>to absorb </a:t>
            </a:r>
            <a:r>
              <a:rPr lang="en-US" dirty="0">
                <a:solidFill>
                  <a:srgbClr val="FFFF00"/>
                </a:solidFill>
              </a:rPr>
              <a:t>high upfront costs </a:t>
            </a:r>
            <a:r>
              <a:rPr lang="en-US" dirty="0"/>
              <a:t>without external support.</a:t>
            </a:r>
            <a:endParaRPr lang="en-IN" b="1" dirty="0"/>
          </a:p>
        </p:txBody>
      </p:sp>
      <p:sp>
        <p:nvSpPr>
          <p:cNvPr id="7" name="TextBox 6">
            <a:extLst>
              <a:ext uri="{FF2B5EF4-FFF2-40B4-BE49-F238E27FC236}">
                <a16:creationId xmlns:a16="http://schemas.microsoft.com/office/drawing/2014/main" id="{792F6CE2-1A00-31B3-35F1-6166CDA113AC}"/>
              </a:ext>
            </a:extLst>
          </p:cNvPr>
          <p:cNvSpPr txBox="1"/>
          <p:nvPr/>
        </p:nvSpPr>
        <p:spPr>
          <a:xfrm>
            <a:off x="401652" y="5553439"/>
            <a:ext cx="11653499" cy="1200329"/>
          </a:xfrm>
          <a:prstGeom prst="rect">
            <a:avLst/>
          </a:prstGeom>
          <a:noFill/>
          <a:ln>
            <a:solidFill>
              <a:schemeClr val="tx1"/>
            </a:solidFill>
          </a:ln>
        </p:spPr>
        <p:txBody>
          <a:bodyPr wrap="square">
            <a:spAutoFit/>
          </a:bodyPr>
          <a:lstStyle/>
          <a:p>
            <a:pPr>
              <a:buNone/>
            </a:pPr>
            <a:r>
              <a:rPr lang="en-US" dirty="0">
                <a:effectLst/>
              </a:rPr>
              <a:t>However, most struggled because:</a:t>
            </a:r>
          </a:p>
          <a:p>
            <a:pPr>
              <a:buFont typeface="Arial" panose="020B0604020202020204" pitchFamily="34" charset="0"/>
              <a:buChar char="•"/>
            </a:pPr>
            <a:r>
              <a:rPr lang="en-US" dirty="0"/>
              <a:t>Their plant and machinery were already pledged as collateral for working capital or expansion loans.</a:t>
            </a:r>
          </a:p>
          <a:p>
            <a:pPr>
              <a:buFont typeface="Arial" panose="020B0604020202020204" pitchFamily="34" charset="0"/>
              <a:buChar char="•"/>
            </a:pPr>
            <a:r>
              <a:rPr lang="en-US" dirty="0"/>
              <a:t>Banks were hesitant to lend without additional security.</a:t>
            </a:r>
          </a:p>
          <a:p>
            <a:pPr>
              <a:buFont typeface="Arial" panose="020B0604020202020204" pitchFamily="34" charset="0"/>
              <a:buChar char="•"/>
            </a:pPr>
            <a:r>
              <a:rPr lang="en-US" dirty="0"/>
              <a:t>The application process for subsidies or low-interest loans was lengthy and bureaucratic.</a:t>
            </a:r>
          </a:p>
        </p:txBody>
      </p:sp>
    </p:spTree>
    <p:extLst>
      <p:ext uri="{BB962C8B-B14F-4D97-AF65-F5344CB8AC3E}">
        <p14:creationId xmlns:p14="http://schemas.microsoft.com/office/powerpoint/2010/main" val="1955295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22</a:t>
            </a:fld>
            <a:endParaRPr lang="en-US" dirty="0"/>
          </a:p>
        </p:txBody>
      </p:sp>
      <p:sp>
        <p:nvSpPr>
          <p:cNvPr id="4" name="TextBox 3"/>
          <p:cNvSpPr txBox="1"/>
          <p:nvPr/>
        </p:nvSpPr>
        <p:spPr>
          <a:xfrm>
            <a:off x="170916" y="295729"/>
            <a:ext cx="10181624" cy="6463308"/>
          </a:xfrm>
          <a:prstGeom prst="rect">
            <a:avLst/>
          </a:prstGeom>
          <a:noFill/>
        </p:spPr>
        <p:txBody>
          <a:bodyPr wrap="square" rtlCol="0">
            <a:spAutoFit/>
          </a:bodyPr>
          <a:lstStyle/>
          <a:p>
            <a:pPr algn="just"/>
            <a:endParaRPr lang="en-US" dirty="0"/>
          </a:p>
          <a:p>
            <a:pPr algn="just"/>
            <a:r>
              <a:rPr lang="en-US" b="1" dirty="0">
                <a:solidFill>
                  <a:srgbClr val="FFFF00"/>
                </a:solidFill>
              </a:rPr>
              <a:t>5. Technological Barriers</a:t>
            </a:r>
          </a:p>
          <a:p>
            <a:pPr algn="just"/>
            <a:endParaRPr lang="en-US" b="1" dirty="0"/>
          </a:p>
          <a:p>
            <a:pPr algn="just"/>
            <a:r>
              <a:rPr lang="en-US" b="1" dirty="0"/>
              <a:t>Challenge</a:t>
            </a:r>
            <a:r>
              <a:rPr lang="en-US" dirty="0"/>
              <a:t>: </a:t>
            </a:r>
            <a:r>
              <a:rPr lang="en-US" dirty="0">
                <a:solidFill>
                  <a:srgbClr val="FFFF00"/>
                </a:solidFill>
              </a:rPr>
              <a:t>Technological barriers </a:t>
            </a:r>
            <a:r>
              <a:rPr lang="en-US" dirty="0"/>
              <a:t>can significantly </a:t>
            </a:r>
            <a:r>
              <a:rPr lang="en-US" dirty="0">
                <a:solidFill>
                  <a:srgbClr val="FFFF00"/>
                </a:solidFill>
              </a:rPr>
              <a:t>hinder</a:t>
            </a:r>
            <a:r>
              <a:rPr lang="en-US" dirty="0"/>
              <a:t> the </a:t>
            </a:r>
            <a:r>
              <a:rPr lang="en-US" dirty="0">
                <a:solidFill>
                  <a:srgbClr val="FFFF00"/>
                </a:solidFill>
              </a:rPr>
              <a:t>adoption of energy-efficient solutions </a:t>
            </a:r>
            <a:r>
              <a:rPr lang="en-US" dirty="0"/>
              <a:t>in certain industries. </a:t>
            </a:r>
            <a:r>
              <a:rPr lang="en-US" u="sng" dirty="0">
                <a:solidFill>
                  <a:srgbClr val="FFFF00"/>
                </a:solidFill>
              </a:rPr>
              <a:t>Some sectors </a:t>
            </a:r>
            <a:r>
              <a:rPr lang="en-US" u="sng" dirty="0"/>
              <a:t>rely on </a:t>
            </a:r>
            <a:r>
              <a:rPr lang="en-US" u="sng" dirty="0">
                <a:solidFill>
                  <a:srgbClr val="FFFF00"/>
                </a:solidFill>
              </a:rPr>
              <a:t>highly specialized equipment </a:t>
            </a:r>
            <a:r>
              <a:rPr lang="en-US" u="sng" dirty="0"/>
              <a:t>or processes that may not yet have </a:t>
            </a:r>
            <a:r>
              <a:rPr lang="en-US" u="sng" dirty="0">
                <a:solidFill>
                  <a:srgbClr val="FFFF00"/>
                </a:solidFill>
              </a:rPr>
              <a:t>viable energy-efficient alternatives.</a:t>
            </a:r>
            <a:r>
              <a:rPr lang="en-US" dirty="0">
                <a:solidFill>
                  <a:srgbClr val="FFFF00"/>
                </a:solidFill>
              </a:rPr>
              <a:t> </a:t>
            </a:r>
          </a:p>
          <a:p>
            <a:pPr algn="just"/>
            <a:r>
              <a:rPr lang="en-US" dirty="0"/>
              <a:t>For example, </a:t>
            </a:r>
            <a:r>
              <a:rPr lang="en-US" dirty="0">
                <a:solidFill>
                  <a:srgbClr val="FFFF00"/>
                </a:solidFill>
              </a:rPr>
              <a:t>heavy industries</a:t>
            </a:r>
            <a:r>
              <a:rPr lang="en-US" dirty="0"/>
              <a:t> such as </a:t>
            </a:r>
            <a:r>
              <a:rPr lang="en-US" dirty="0">
                <a:solidFill>
                  <a:srgbClr val="FFFF00"/>
                </a:solidFill>
              </a:rPr>
              <a:t>steel production</a:t>
            </a:r>
            <a:r>
              <a:rPr lang="en-US" dirty="0"/>
              <a:t>, </a:t>
            </a:r>
            <a:r>
              <a:rPr lang="en-US" dirty="0">
                <a:solidFill>
                  <a:srgbClr val="FFFF00"/>
                </a:solidFill>
              </a:rPr>
              <a:t>cement manufacturing</a:t>
            </a:r>
            <a:r>
              <a:rPr lang="en-US" dirty="0"/>
              <a:t>, and </a:t>
            </a:r>
            <a:r>
              <a:rPr lang="en-US" dirty="0">
                <a:solidFill>
                  <a:srgbClr val="FFFF00"/>
                </a:solidFill>
              </a:rPr>
              <a:t>chemical processing </a:t>
            </a:r>
            <a:r>
              <a:rPr lang="en-US" dirty="0"/>
              <a:t>often depend on </a:t>
            </a:r>
            <a:r>
              <a:rPr lang="en-US" dirty="0">
                <a:solidFill>
                  <a:srgbClr val="FFFF00"/>
                </a:solidFill>
              </a:rPr>
              <a:t>high-temperature operations </a:t>
            </a:r>
            <a:r>
              <a:rPr lang="en-US" dirty="0"/>
              <a:t>that require </a:t>
            </a:r>
            <a:r>
              <a:rPr lang="en-US" dirty="0">
                <a:solidFill>
                  <a:srgbClr val="FFFF00"/>
                </a:solidFill>
              </a:rPr>
              <a:t>substantial energy input</a:t>
            </a:r>
            <a:r>
              <a:rPr lang="en-US" dirty="0"/>
              <a:t>, with limited scope for </a:t>
            </a:r>
            <a:r>
              <a:rPr lang="en-US" dirty="0">
                <a:solidFill>
                  <a:srgbClr val="FFFF00"/>
                </a:solidFill>
              </a:rPr>
              <a:t>immediate efficiency improvements</a:t>
            </a:r>
            <a:r>
              <a:rPr lang="en-US" dirty="0"/>
              <a:t>.</a:t>
            </a:r>
          </a:p>
          <a:p>
            <a:pPr algn="just"/>
            <a:endParaRPr lang="en-US" b="1" dirty="0"/>
          </a:p>
          <a:p>
            <a:pPr algn="just"/>
            <a:endParaRPr lang="en-US" b="1" dirty="0"/>
          </a:p>
          <a:p>
            <a:pPr algn="just"/>
            <a:r>
              <a:rPr lang="en-US" b="1" dirty="0"/>
              <a:t>Impact</a:t>
            </a:r>
            <a:r>
              <a:rPr lang="en-US" dirty="0"/>
              <a:t>:</a:t>
            </a:r>
          </a:p>
          <a:p>
            <a:pPr algn="just"/>
            <a:r>
              <a:rPr lang="en-US" b="1" dirty="0"/>
              <a:t>Slow Adoption </a:t>
            </a:r>
            <a:r>
              <a:rPr lang="en-US" dirty="0"/>
              <a:t>– </a:t>
            </a:r>
            <a:r>
              <a:rPr lang="en-US" dirty="0">
                <a:solidFill>
                  <a:srgbClr val="FFFF00"/>
                </a:solidFill>
              </a:rPr>
              <a:t>Industries with complex requirements </a:t>
            </a:r>
            <a:r>
              <a:rPr lang="en-US" dirty="0"/>
              <a:t>may </a:t>
            </a:r>
            <a:r>
              <a:rPr lang="en-US" dirty="0">
                <a:solidFill>
                  <a:srgbClr val="FFFF00"/>
                </a:solidFill>
              </a:rPr>
              <a:t>struggle to transition </a:t>
            </a:r>
            <a:r>
              <a:rPr lang="en-US" dirty="0"/>
              <a:t>to energy-saving technologies.</a:t>
            </a:r>
          </a:p>
          <a:p>
            <a:pPr algn="just"/>
            <a:r>
              <a:rPr lang="en-US" b="1" dirty="0"/>
              <a:t>Limited Innovation </a:t>
            </a:r>
            <a:r>
              <a:rPr lang="en-US" dirty="0"/>
              <a:t>– Certain </a:t>
            </a:r>
            <a:r>
              <a:rPr lang="en-US" dirty="0">
                <a:solidFill>
                  <a:srgbClr val="FFFF00"/>
                </a:solidFill>
              </a:rPr>
              <a:t>processes may not yet have energy-efficient substitutes </a:t>
            </a:r>
            <a:r>
              <a:rPr lang="en-US" dirty="0"/>
              <a:t>due to </a:t>
            </a:r>
            <a:r>
              <a:rPr lang="en-US" dirty="0">
                <a:solidFill>
                  <a:srgbClr val="FFFF00"/>
                </a:solidFill>
              </a:rPr>
              <a:t>technological constraints</a:t>
            </a:r>
            <a:r>
              <a:rPr lang="en-US" dirty="0"/>
              <a:t>.</a:t>
            </a:r>
          </a:p>
          <a:p>
            <a:pPr algn="just"/>
            <a:r>
              <a:rPr lang="en-US" b="1" dirty="0"/>
              <a:t>High Costs for Alternatives </a:t>
            </a:r>
            <a:r>
              <a:rPr lang="en-US" dirty="0"/>
              <a:t>– The </a:t>
            </a:r>
            <a:r>
              <a:rPr lang="en-US" dirty="0">
                <a:solidFill>
                  <a:srgbClr val="FFFF00"/>
                </a:solidFill>
              </a:rPr>
              <a:t>development and implementation </a:t>
            </a:r>
            <a:r>
              <a:rPr lang="en-US" dirty="0"/>
              <a:t>of custom energy-efficient solutions can be </a:t>
            </a:r>
            <a:r>
              <a:rPr lang="en-US" dirty="0">
                <a:solidFill>
                  <a:srgbClr val="FFFF00"/>
                </a:solidFill>
              </a:rPr>
              <a:t>expensive</a:t>
            </a:r>
            <a:r>
              <a:rPr lang="en-US" dirty="0"/>
              <a:t>.</a:t>
            </a:r>
          </a:p>
          <a:p>
            <a:pPr algn="just"/>
            <a:r>
              <a:rPr lang="en-US" b="1" dirty="0"/>
              <a:t>Environmental Concerns </a:t>
            </a:r>
            <a:r>
              <a:rPr lang="en-US" dirty="0"/>
              <a:t>– </a:t>
            </a:r>
            <a:r>
              <a:rPr lang="en-US" dirty="0">
                <a:solidFill>
                  <a:srgbClr val="FFFF00"/>
                </a:solidFill>
              </a:rPr>
              <a:t>Continued reliance on traditional</a:t>
            </a:r>
            <a:r>
              <a:rPr lang="en-US" dirty="0"/>
              <a:t>, energy-intensive technologies can </a:t>
            </a:r>
            <a:r>
              <a:rPr lang="en-US" dirty="0">
                <a:solidFill>
                  <a:srgbClr val="FFFF00"/>
                </a:solidFill>
              </a:rPr>
              <a:t>increase carbon emissions</a:t>
            </a:r>
            <a:r>
              <a:rPr lang="en-US" dirty="0"/>
              <a:t>.</a:t>
            </a:r>
          </a:p>
          <a:p>
            <a:pPr algn="just"/>
            <a:endParaRPr lang="en-US" dirty="0"/>
          </a:p>
          <a:p>
            <a:pPr algn="just"/>
            <a:endParaRPr lang="en-US" dirty="0"/>
          </a:p>
          <a:p>
            <a:endParaRPr lang="en-IN" dirty="0"/>
          </a:p>
        </p:txBody>
      </p:sp>
    </p:spTree>
    <p:extLst>
      <p:ext uri="{BB962C8B-B14F-4D97-AF65-F5344CB8AC3E}">
        <p14:creationId xmlns:p14="http://schemas.microsoft.com/office/powerpoint/2010/main" val="9783388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BFD9C71-2097-1DF0-964A-66255E1ED5C8}"/>
              </a:ext>
            </a:extLst>
          </p:cNvPr>
          <p:cNvSpPr>
            <a:spLocks noGrp="1"/>
          </p:cNvSpPr>
          <p:nvPr>
            <p:ph type="sldNum" sz="quarter" idx="12"/>
          </p:nvPr>
        </p:nvSpPr>
        <p:spPr/>
        <p:txBody>
          <a:bodyPr/>
          <a:lstStyle/>
          <a:p>
            <a:fld id="{D57F1E4F-1CFF-5643-939E-02111984F565}" type="slidenum">
              <a:rPr lang="en-US" smtClean="0"/>
              <a:pPr/>
              <a:t>23</a:t>
            </a:fld>
            <a:endParaRPr lang="en-US" dirty="0"/>
          </a:p>
        </p:txBody>
      </p:sp>
      <p:sp>
        <p:nvSpPr>
          <p:cNvPr id="5" name="TextBox 4">
            <a:extLst>
              <a:ext uri="{FF2B5EF4-FFF2-40B4-BE49-F238E27FC236}">
                <a16:creationId xmlns:a16="http://schemas.microsoft.com/office/drawing/2014/main" id="{57E1491D-40C7-D2A3-7596-A11CB0C7D9EC}"/>
              </a:ext>
            </a:extLst>
          </p:cNvPr>
          <p:cNvSpPr txBox="1"/>
          <p:nvPr/>
        </p:nvSpPr>
        <p:spPr>
          <a:xfrm>
            <a:off x="758078" y="1063416"/>
            <a:ext cx="9806474" cy="4247317"/>
          </a:xfrm>
          <a:prstGeom prst="rect">
            <a:avLst/>
          </a:prstGeom>
          <a:noFill/>
          <a:ln>
            <a:solidFill>
              <a:schemeClr val="tx1"/>
            </a:solidFill>
          </a:ln>
        </p:spPr>
        <p:txBody>
          <a:bodyPr wrap="square">
            <a:spAutoFit/>
          </a:bodyPr>
          <a:lstStyle/>
          <a:p>
            <a:pPr>
              <a:buNone/>
            </a:pPr>
            <a:r>
              <a:rPr lang="en-US" b="1" dirty="0">
                <a:effectLst/>
              </a:rPr>
              <a:t>Real-World Example</a:t>
            </a:r>
            <a:r>
              <a:rPr lang="en-US" dirty="0">
                <a:effectLst/>
              </a:rPr>
              <a:t>: </a:t>
            </a:r>
            <a:r>
              <a:rPr lang="en-US" b="1" dirty="0">
                <a:effectLst/>
              </a:rPr>
              <a:t>Cement Manufacturing</a:t>
            </a:r>
            <a:r>
              <a:rPr lang="en-US" dirty="0">
                <a:effectLst/>
              </a:rPr>
              <a:t> — One of the best examples worldwide and in India. Making Portland cement involves heating limestone and clay in a huge rotary kiln to about 1450°C to produce clinker. This high-temperature process releases CO₂ not only from burning fuel but also from the chemical reaction in limestone itself (process emissions).</a:t>
            </a:r>
          </a:p>
          <a:p>
            <a:pPr>
              <a:buNone/>
            </a:pPr>
            <a:endParaRPr lang="en-US" dirty="0">
              <a:effectLst/>
            </a:endParaRPr>
          </a:p>
          <a:p>
            <a:pPr>
              <a:buNone/>
            </a:pPr>
            <a:r>
              <a:rPr lang="en-US" dirty="0">
                <a:effectLst/>
              </a:rPr>
              <a:t>Even the most modern cement plants in India (using best available technology) can only improve energy efficiency by a small margin (around 0.04% per year through incremental upgrades like </a:t>
            </a:r>
            <a:r>
              <a:rPr lang="en-US" u="sng" dirty="0">
                <a:effectLst/>
              </a:rPr>
              <a:t>better insulation, efficient fans, or waste heat recovery</a:t>
            </a:r>
            <a:r>
              <a:rPr lang="en-US" dirty="0">
                <a:effectLst/>
              </a:rPr>
              <a:t>). There is no simple "plug-and-play" efficient replacement for the kiln that maintains the same output and quality at much lower energy use.</a:t>
            </a:r>
          </a:p>
          <a:p>
            <a:pPr>
              <a:buNone/>
            </a:pPr>
            <a:endParaRPr lang="en-US" dirty="0">
              <a:effectLst/>
            </a:endParaRPr>
          </a:p>
          <a:p>
            <a:pPr>
              <a:buNone/>
            </a:pPr>
            <a:r>
              <a:rPr lang="en-US" dirty="0">
                <a:effectLst/>
              </a:rPr>
              <a:t>True low-carbon alternatives (like using hydrogen, electric kilns, or completely new binders such as magnesium oxide cement) are still in pilot or early demonstration stages and are not yet viable at commercial scale for most Indian cement plants.</a:t>
            </a:r>
          </a:p>
        </p:txBody>
      </p:sp>
      <p:sp>
        <p:nvSpPr>
          <p:cNvPr id="7" name="TextBox 6">
            <a:extLst>
              <a:ext uri="{FF2B5EF4-FFF2-40B4-BE49-F238E27FC236}">
                <a16:creationId xmlns:a16="http://schemas.microsoft.com/office/drawing/2014/main" id="{889AD67F-0078-D4C5-ECAA-F98062533F75}"/>
              </a:ext>
            </a:extLst>
          </p:cNvPr>
          <p:cNvSpPr txBox="1"/>
          <p:nvPr/>
        </p:nvSpPr>
        <p:spPr>
          <a:xfrm>
            <a:off x="758078" y="679572"/>
            <a:ext cx="6097554" cy="369332"/>
          </a:xfrm>
          <a:prstGeom prst="rect">
            <a:avLst/>
          </a:prstGeom>
          <a:noFill/>
        </p:spPr>
        <p:txBody>
          <a:bodyPr wrap="square">
            <a:spAutoFit/>
          </a:bodyPr>
          <a:lstStyle/>
          <a:p>
            <a:pPr algn="just"/>
            <a:r>
              <a:rPr lang="en-US" b="1" dirty="0">
                <a:solidFill>
                  <a:srgbClr val="FFFF00"/>
                </a:solidFill>
              </a:rPr>
              <a:t>Technological Barriers Example </a:t>
            </a:r>
          </a:p>
        </p:txBody>
      </p:sp>
    </p:spTree>
    <p:extLst>
      <p:ext uri="{BB962C8B-B14F-4D97-AF65-F5344CB8AC3E}">
        <p14:creationId xmlns:p14="http://schemas.microsoft.com/office/powerpoint/2010/main" val="27888180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24</a:t>
            </a:fld>
            <a:endParaRPr lang="en-US" dirty="0"/>
          </a:p>
        </p:txBody>
      </p:sp>
      <p:sp>
        <p:nvSpPr>
          <p:cNvPr id="4" name="TextBox 3"/>
          <p:cNvSpPr txBox="1"/>
          <p:nvPr/>
        </p:nvSpPr>
        <p:spPr>
          <a:xfrm>
            <a:off x="282010" y="295729"/>
            <a:ext cx="9745789" cy="4524315"/>
          </a:xfrm>
          <a:prstGeom prst="rect">
            <a:avLst/>
          </a:prstGeom>
          <a:noFill/>
        </p:spPr>
        <p:txBody>
          <a:bodyPr wrap="square" rtlCol="0">
            <a:spAutoFit/>
          </a:bodyPr>
          <a:lstStyle/>
          <a:p>
            <a:r>
              <a:rPr lang="en-US" b="1" dirty="0">
                <a:solidFill>
                  <a:srgbClr val="FFFF00"/>
                </a:solidFill>
              </a:rPr>
              <a:t>6. Policy and Regulatory Gaps</a:t>
            </a:r>
          </a:p>
          <a:p>
            <a:endParaRPr lang="en-US" b="1" dirty="0"/>
          </a:p>
          <a:p>
            <a:pPr algn="just"/>
            <a:r>
              <a:rPr lang="en-US" b="1" dirty="0"/>
              <a:t>Challenge: </a:t>
            </a:r>
            <a:r>
              <a:rPr lang="en-US" b="1" dirty="0">
                <a:solidFill>
                  <a:srgbClr val="FFFF00"/>
                </a:solidFill>
              </a:rPr>
              <a:t>Policy and Regulatory Gaps</a:t>
            </a:r>
            <a:r>
              <a:rPr lang="en-US" dirty="0">
                <a:solidFill>
                  <a:srgbClr val="FFFF00"/>
                </a:solidFill>
              </a:rPr>
              <a:t> </a:t>
            </a:r>
            <a:r>
              <a:rPr lang="en-US" dirty="0"/>
              <a:t>can be a </a:t>
            </a:r>
            <a:r>
              <a:rPr lang="en-US" dirty="0">
                <a:solidFill>
                  <a:srgbClr val="FFFF00"/>
                </a:solidFill>
              </a:rPr>
              <a:t>significant hurdle for industries </a:t>
            </a:r>
            <a:r>
              <a:rPr lang="en-US" dirty="0"/>
              <a:t>seeking to implement energy-efficient solutions. </a:t>
            </a:r>
            <a:r>
              <a:rPr lang="en-US" u="sng" dirty="0"/>
              <a:t>When </a:t>
            </a:r>
            <a:r>
              <a:rPr lang="en-US" u="sng" dirty="0">
                <a:solidFill>
                  <a:srgbClr val="FFFF00"/>
                </a:solidFill>
              </a:rPr>
              <a:t>government policies, incentives, or regulations are unclear</a:t>
            </a:r>
            <a:r>
              <a:rPr lang="en-US" u="sng" dirty="0"/>
              <a:t>, inconsistent, or insufficient, </a:t>
            </a:r>
            <a:r>
              <a:rPr lang="en-US" u="sng" dirty="0">
                <a:solidFill>
                  <a:srgbClr val="FFFF00"/>
                </a:solidFill>
              </a:rPr>
              <a:t>businesses may struggle to justify</a:t>
            </a:r>
            <a:r>
              <a:rPr lang="en-US" u="sng" dirty="0"/>
              <a:t> the </a:t>
            </a:r>
            <a:r>
              <a:rPr lang="en-US" u="sng" dirty="0">
                <a:solidFill>
                  <a:srgbClr val="FFFF00"/>
                </a:solidFill>
              </a:rPr>
              <a:t>investment in sustainable practices</a:t>
            </a:r>
            <a:r>
              <a:rPr lang="en-US" u="sng" dirty="0"/>
              <a:t>.</a:t>
            </a:r>
          </a:p>
          <a:p>
            <a:pPr algn="just"/>
            <a:endParaRPr lang="en-US" dirty="0"/>
          </a:p>
          <a:p>
            <a:pPr algn="just"/>
            <a:r>
              <a:rPr lang="en-US" dirty="0">
                <a:solidFill>
                  <a:srgbClr val="FFFF00"/>
                </a:solidFill>
              </a:rPr>
              <a:t>Impact: </a:t>
            </a:r>
          </a:p>
          <a:p>
            <a:pPr algn="just"/>
            <a:r>
              <a:rPr lang="en-US" dirty="0">
                <a:solidFill>
                  <a:srgbClr val="FFFF00"/>
                </a:solidFill>
              </a:rPr>
              <a:t>Lack of Incentives </a:t>
            </a:r>
            <a:r>
              <a:rPr lang="en-US" dirty="0"/>
              <a:t>– </a:t>
            </a:r>
            <a:r>
              <a:rPr lang="en-US" dirty="0">
                <a:solidFill>
                  <a:srgbClr val="FFFF00"/>
                </a:solidFill>
              </a:rPr>
              <a:t>Without tax benefits</a:t>
            </a:r>
            <a:r>
              <a:rPr lang="en-US" dirty="0"/>
              <a:t>, subsidies, or financial support, </a:t>
            </a:r>
            <a:r>
              <a:rPr lang="en-US" dirty="0">
                <a:solidFill>
                  <a:srgbClr val="FFFF00"/>
                </a:solidFill>
              </a:rPr>
              <a:t>industries </a:t>
            </a:r>
            <a:r>
              <a:rPr lang="en-US" dirty="0"/>
              <a:t>may find </a:t>
            </a:r>
            <a:r>
              <a:rPr lang="en-US" dirty="0">
                <a:solidFill>
                  <a:srgbClr val="FFFF00"/>
                </a:solidFill>
              </a:rPr>
              <a:t>energy-efficient upgrades </a:t>
            </a:r>
            <a:r>
              <a:rPr lang="en-US" dirty="0"/>
              <a:t>too costly.</a:t>
            </a:r>
          </a:p>
          <a:p>
            <a:pPr algn="just"/>
            <a:endParaRPr lang="en-US" dirty="0"/>
          </a:p>
          <a:p>
            <a:pPr algn="just"/>
            <a:r>
              <a:rPr lang="en-US" dirty="0">
                <a:solidFill>
                  <a:srgbClr val="FFFF00"/>
                </a:solidFill>
              </a:rPr>
              <a:t>Unclear Regulations </a:t>
            </a:r>
            <a:r>
              <a:rPr lang="en-US" dirty="0"/>
              <a:t>– Companies may </a:t>
            </a:r>
            <a:r>
              <a:rPr lang="en-US" dirty="0">
                <a:solidFill>
                  <a:srgbClr val="FFFF00"/>
                </a:solidFill>
              </a:rPr>
              <a:t>hesitate to act </a:t>
            </a:r>
            <a:r>
              <a:rPr lang="en-US" dirty="0"/>
              <a:t>if legal </a:t>
            </a:r>
            <a:r>
              <a:rPr lang="en-US" dirty="0">
                <a:solidFill>
                  <a:srgbClr val="FFFF00"/>
                </a:solidFill>
              </a:rPr>
              <a:t>requirements are vague </a:t>
            </a:r>
            <a:r>
              <a:rPr lang="en-US" dirty="0"/>
              <a:t>or frequently change.</a:t>
            </a:r>
          </a:p>
          <a:p>
            <a:pPr algn="just"/>
            <a:endParaRPr lang="en-US" dirty="0"/>
          </a:p>
          <a:p>
            <a:pPr algn="just"/>
            <a:r>
              <a:rPr lang="en-US" dirty="0">
                <a:solidFill>
                  <a:srgbClr val="FFFF00"/>
                </a:solidFill>
              </a:rPr>
              <a:t>Slow Adoption </a:t>
            </a:r>
            <a:r>
              <a:rPr lang="en-US" dirty="0"/>
              <a:t>– Industries may </a:t>
            </a:r>
            <a:r>
              <a:rPr lang="en-US" dirty="0">
                <a:solidFill>
                  <a:srgbClr val="FFFF00"/>
                </a:solidFill>
              </a:rPr>
              <a:t>delay energy efficiency projects </a:t>
            </a:r>
            <a:r>
              <a:rPr lang="en-US" dirty="0"/>
              <a:t>due to </a:t>
            </a:r>
            <a:r>
              <a:rPr lang="en-US" dirty="0">
                <a:solidFill>
                  <a:srgbClr val="FFFF00"/>
                </a:solidFill>
              </a:rPr>
              <a:t>uncertainty about compliance or future regulations</a:t>
            </a:r>
            <a:r>
              <a:rPr lang="en-US" dirty="0"/>
              <a:t>.</a:t>
            </a:r>
          </a:p>
        </p:txBody>
      </p:sp>
    </p:spTree>
    <p:extLst>
      <p:ext uri="{BB962C8B-B14F-4D97-AF65-F5344CB8AC3E}">
        <p14:creationId xmlns:p14="http://schemas.microsoft.com/office/powerpoint/2010/main" val="3760248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25</a:t>
            </a:fld>
            <a:endParaRPr lang="en-US" dirty="0"/>
          </a:p>
        </p:txBody>
      </p:sp>
      <p:sp>
        <p:nvSpPr>
          <p:cNvPr id="4" name="TextBox 3"/>
          <p:cNvSpPr txBox="1"/>
          <p:nvPr/>
        </p:nvSpPr>
        <p:spPr>
          <a:xfrm>
            <a:off x="307648" y="145279"/>
            <a:ext cx="9938759" cy="5632311"/>
          </a:xfrm>
          <a:prstGeom prst="rect">
            <a:avLst/>
          </a:prstGeom>
          <a:noFill/>
        </p:spPr>
        <p:txBody>
          <a:bodyPr wrap="square" rtlCol="0">
            <a:spAutoFit/>
          </a:bodyPr>
          <a:lstStyle/>
          <a:p>
            <a:endParaRPr lang="en-US" dirty="0"/>
          </a:p>
          <a:p>
            <a:r>
              <a:rPr lang="en-US" b="1" dirty="0"/>
              <a:t>7. </a:t>
            </a:r>
            <a:r>
              <a:rPr lang="en-US" b="1" dirty="0">
                <a:solidFill>
                  <a:srgbClr val="FFFF00"/>
                </a:solidFill>
              </a:rPr>
              <a:t>Energy Data and Monitoring Issues</a:t>
            </a:r>
          </a:p>
          <a:p>
            <a:endParaRPr lang="en-US" b="1" dirty="0"/>
          </a:p>
          <a:p>
            <a:pPr algn="just"/>
            <a:r>
              <a:rPr lang="en-US" b="1" dirty="0"/>
              <a:t>Challenge: </a:t>
            </a:r>
            <a:r>
              <a:rPr lang="en-US" b="1" dirty="0">
                <a:solidFill>
                  <a:srgbClr val="FFFF00"/>
                </a:solidFill>
              </a:rPr>
              <a:t>Energy Data and Monitoring Issues</a:t>
            </a:r>
            <a:r>
              <a:rPr lang="en-US" dirty="0">
                <a:solidFill>
                  <a:srgbClr val="FFFF00"/>
                </a:solidFill>
              </a:rPr>
              <a:t> </a:t>
            </a:r>
            <a:r>
              <a:rPr lang="en-US" dirty="0"/>
              <a:t>can create significant obstacles for industries aiming to improve energy efficiency. Many </a:t>
            </a:r>
            <a:r>
              <a:rPr lang="en-US" dirty="0">
                <a:solidFill>
                  <a:srgbClr val="FFFF00"/>
                </a:solidFill>
              </a:rPr>
              <a:t>businesses </a:t>
            </a:r>
            <a:r>
              <a:rPr lang="en-US" dirty="0"/>
              <a:t>lack </a:t>
            </a:r>
            <a:r>
              <a:rPr lang="en-US" dirty="0">
                <a:solidFill>
                  <a:srgbClr val="FFFF00"/>
                </a:solidFill>
              </a:rPr>
              <a:t>advanced </a:t>
            </a:r>
            <a:r>
              <a:rPr lang="en-US" b="1" dirty="0">
                <a:solidFill>
                  <a:srgbClr val="FFFF00"/>
                </a:solidFill>
              </a:rPr>
              <a:t>monitoring systems</a:t>
            </a:r>
            <a:r>
              <a:rPr lang="en-US" dirty="0"/>
              <a:t>, real-time </a:t>
            </a:r>
            <a:r>
              <a:rPr lang="en-US" b="1" dirty="0"/>
              <a:t>data analytics</a:t>
            </a:r>
            <a:r>
              <a:rPr lang="en-US" dirty="0"/>
              <a:t>, or the necessary expertise to track their </a:t>
            </a:r>
            <a:r>
              <a:rPr lang="en-US" dirty="0">
                <a:solidFill>
                  <a:srgbClr val="FFFF00"/>
                </a:solidFill>
              </a:rPr>
              <a:t>energy consumption effectively</a:t>
            </a:r>
            <a:r>
              <a:rPr lang="en-US" dirty="0"/>
              <a:t>.</a:t>
            </a:r>
          </a:p>
          <a:p>
            <a:pPr algn="just"/>
            <a:endParaRPr lang="en-US" b="1" dirty="0"/>
          </a:p>
          <a:p>
            <a:pPr algn="just"/>
            <a:r>
              <a:rPr lang="en-US" b="1" dirty="0"/>
              <a:t>Impact:</a:t>
            </a:r>
          </a:p>
          <a:p>
            <a:pPr algn="just"/>
            <a:endParaRPr lang="en-US" b="1" dirty="0"/>
          </a:p>
          <a:p>
            <a:pPr algn="just"/>
            <a:r>
              <a:rPr lang="en-US" b="1" dirty="0">
                <a:solidFill>
                  <a:srgbClr val="FFFF00"/>
                </a:solidFill>
              </a:rPr>
              <a:t>Hidden Inefficiencies </a:t>
            </a:r>
            <a:r>
              <a:rPr lang="en-US" b="1" dirty="0"/>
              <a:t>– </a:t>
            </a:r>
            <a:r>
              <a:rPr lang="en-US" dirty="0"/>
              <a:t>Without </a:t>
            </a:r>
            <a:r>
              <a:rPr lang="en-US" dirty="0">
                <a:solidFill>
                  <a:srgbClr val="FFFF00"/>
                </a:solidFill>
              </a:rPr>
              <a:t>proper tracking</a:t>
            </a:r>
            <a:r>
              <a:rPr lang="en-US" dirty="0"/>
              <a:t>, businesses may unknowingly </a:t>
            </a:r>
            <a:r>
              <a:rPr lang="en-US" dirty="0">
                <a:solidFill>
                  <a:srgbClr val="FFFF00"/>
                </a:solidFill>
              </a:rPr>
              <a:t>waste energy in outdated processes.</a:t>
            </a:r>
          </a:p>
          <a:p>
            <a:pPr algn="just"/>
            <a:endParaRPr lang="en-US" b="1" dirty="0"/>
          </a:p>
          <a:p>
            <a:pPr algn="just"/>
            <a:r>
              <a:rPr lang="en-US" b="1" dirty="0"/>
              <a:t>Inaccurate Decision-Making – </a:t>
            </a:r>
            <a:r>
              <a:rPr lang="en-US" dirty="0">
                <a:solidFill>
                  <a:srgbClr val="FFFF00"/>
                </a:solidFill>
              </a:rPr>
              <a:t>Lack of precise data </a:t>
            </a:r>
            <a:r>
              <a:rPr lang="en-US" dirty="0"/>
              <a:t>prevents </a:t>
            </a:r>
            <a:r>
              <a:rPr lang="en-US" dirty="0">
                <a:solidFill>
                  <a:srgbClr val="FFFF00"/>
                </a:solidFill>
              </a:rPr>
              <a:t>industries from identifying and prioritizing efficiency improvements</a:t>
            </a:r>
            <a:r>
              <a:rPr lang="en-US" dirty="0"/>
              <a:t>.</a:t>
            </a:r>
          </a:p>
          <a:p>
            <a:pPr algn="just"/>
            <a:endParaRPr lang="en-US" b="1" dirty="0"/>
          </a:p>
          <a:p>
            <a:pPr algn="just"/>
            <a:r>
              <a:rPr lang="en-US" b="1" dirty="0"/>
              <a:t>Higher Operational Costs – </a:t>
            </a:r>
            <a:r>
              <a:rPr lang="en-US" dirty="0">
                <a:solidFill>
                  <a:srgbClr val="FFFF00"/>
                </a:solidFill>
              </a:rPr>
              <a:t>Undetected energy wastage</a:t>
            </a:r>
            <a:r>
              <a:rPr lang="en-US" dirty="0"/>
              <a:t> leads to unnecessary </a:t>
            </a:r>
            <a:r>
              <a:rPr lang="en-US" dirty="0">
                <a:solidFill>
                  <a:srgbClr val="FFFF00"/>
                </a:solidFill>
              </a:rPr>
              <a:t>expenses over time.</a:t>
            </a:r>
          </a:p>
          <a:p>
            <a:pPr algn="just"/>
            <a:endParaRPr lang="en-US" b="1" dirty="0"/>
          </a:p>
          <a:p>
            <a:pPr algn="just"/>
            <a:endParaRPr lang="en-IN" dirty="0"/>
          </a:p>
        </p:txBody>
      </p:sp>
    </p:spTree>
    <p:extLst>
      <p:ext uri="{BB962C8B-B14F-4D97-AF65-F5344CB8AC3E}">
        <p14:creationId xmlns:p14="http://schemas.microsoft.com/office/powerpoint/2010/main" val="19711994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DE181FA-DCC8-A4BE-CB39-B82D931BA4F5}"/>
              </a:ext>
            </a:extLst>
          </p:cNvPr>
          <p:cNvSpPr>
            <a:spLocks noGrp="1"/>
          </p:cNvSpPr>
          <p:nvPr>
            <p:ph type="sldNum" sz="quarter" idx="12"/>
          </p:nvPr>
        </p:nvSpPr>
        <p:spPr/>
        <p:txBody>
          <a:bodyPr/>
          <a:lstStyle/>
          <a:p>
            <a:fld id="{D57F1E4F-1CFF-5643-939E-02111984F565}" type="slidenum">
              <a:rPr lang="en-US" smtClean="0"/>
              <a:pPr/>
              <a:t>26</a:t>
            </a:fld>
            <a:endParaRPr lang="en-US" dirty="0"/>
          </a:p>
        </p:txBody>
      </p:sp>
      <p:sp>
        <p:nvSpPr>
          <p:cNvPr id="5" name="TextBox 4">
            <a:extLst>
              <a:ext uri="{FF2B5EF4-FFF2-40B4-BE49-F238E27FC236}">
                <a16:creationId xmlns:a16="http://schemas.microsoft.com/office/drawing/2014/main" id="{0BF8D6BB-08C9-1420-AD3D-C4AE168BED6D}"/>
              </a:ext>
            </a:extLst>
          </p:cNvPr>
          <p:cNvSpPr txBox="1"/>
          <p:nvPr/>
        </p:nvSpPr>
        <p:spPr>
          <a:xfrm>
            <a:off x="1275960" y="1140881"/>
            <a:ext cx="8689133" cy="2948179"/>
          </a:xfrm>
          <a:prstGeom prst="rect">
            <a:avLst/>
          </a:prstGeom>
          <a:noFill/>
          <a:ln>
            <a:solidFill>
              <a:schemeClr val="tx1"/>
            </a:solidFill>
          </a:ln>
        </p:spPr>
        <p:txBody>
          <a:bodyPr wrap="square">
            <a:spAutoFit/>
          </a:bodyPr>
          <a:lstStyle/>
          <a:p>
            <a:pPr>
              <a:lnSpc>
                <a:spcPct val="150000"/>
              </a:lnSpc>
              <a:buNone/>
            </a:pPr>
            <a:r>
              <a:rPr lang="en-US" dirty="0">
                <a:effectLst/>
              </a:rPr>
              <a:t>Example from clusters like Ludhiana (forging), Tirupur (textile), or Morbi (ceramic): A small forging unit tracks only the total electricity bill. They have no idea that their </a:t>
            </a:r>
            <a:r>
              <a:rPr lang="en-US" u="sng" dirty="0">
                <a:effectLst/>
              </a:rPr>
              <a:t>old motors and pumps are inefficient or that lighting consumes far more than necessary</a:t>
            </a:r>
            <a:r>
              <a:rPr lang="en-US" dirty="0">
                <a:effectLst/>
              </a:rPr>
              <a:t>. When energy prices rise, they simply complain about high costs instead of targeting the real culprits. Because they lack data, they cannot justify investments in efficient motors or LED lighting with sensors — even though these often pay back in 1–2 years.</a:t>
            </a:r>
          </a:p>
        </p:txBody>
      </p:sp>
    </p:spTree>
    <p:extLst>
      <p:ext uri="{BB962C8B-B14F-4D97-AF65-F5344CB8AC3E}">
        <p14:creationId xmlns:p14="http://schemas.microsoft.com/office/powerpoint/2010/main" val="753897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27</a:t>
            </a:fld>
            <a:endParaRPr lang="en-US" dirty="0"/>
          </a:p>
        </p:txBody>
      </p:sp>
      <p:sp>
        <p:nvSpPr>
          <p:cNvPr id="4" name="TextBox 3"/>
          <p:cNvSpPr txBox="1"/>
          <p:nvPr/>
        </p:nvSpPr>
        <p:spPr>
          <a:xfrm>
            <a:off x="222191" y="358923"/>
            <a:ext cx="10135311" cy="3693319"/>
          </a:xfrm>
          <a:prstGeom prst="rect">
            <a:avLst/>
          </a:prstGeom>
          <a:noFill/>
        </p:spPr>
        <p:txBody>
          <a:bodyPr wrap="square" rtlCol="0">
            <a:spAutoFit/>
          </a:bodyPr>
          <a:lstStyle/>
          <a:p>
            <a:pPr algn="just"/>
            <a:r>
              <a:rPr lang="en-US" b="1" dirty="0"/>
              <a:t>8. </a:t>
            </a:r>
            <a:r>
              <a:rPr lang="en-US" b="1" dirty="0">
                <a:solidFill>
                  <a:srgbClr val="FFFF00"/>
                </a:solidFill>
              </a:rPr>
              <a:t>Integration with Renewable Energy</a:t>
            </a:r>
          </a:p>
          <a:p>
            <a:pPr algn="just"/>
            <a:r>
              <a:rPr lang="en-US" dirty="0">
                <a:solidFill>
                  <a:srgbClr val="FFFF00"/>
                </a:solidFill>
              </a:rPr>
              <a:t>Renewable energy </a:t>
            </a:r>
            <a:r>
              <a:rPr lang="en-US" dirty="0"/>
              <a:t>sources like </a:t>
            </a:r>
            <a:r>
              <a:rPr lang="en-US" dirty="0">
                <a:solidFill>
                  <a:srgbClr val="FFFF00"/>
                </a:solidFill>
              </a:rPr>
              <a:t>solar, wind, and hydro</a:t>
            </a:r>
            <a:r>
              <a:rPr lang="en-US" dirty="0"/>
              <a:t> can significantly </a:t>
            </a:r>
            <a:r>
              <a:rPr lang="en-US" dirty="0">
                <a:solidFill>
                  <a:srgbClr val="FFFF00"/>
                </a:solidFill>
              </a:rPr>
              <a:t>boost efficiency and sustainability</a:t>
            </a:r>
            <a:r>
              <a:rPr lang="en-US" dirty="0"/>
              <a:t>, but </a:t>
            </a:r>
            <a:r>
              <a:rPr lang="en-US" dirty="0">
                <a:solidFill>
                  <a:srgbClr val="FFFF00"/>
                </a:solidFill>
              </a:rPr>
              <a:t>incorporating</a:t>
            </a:r>
            <a:r>
              <a:rPr lang="en-US" dirty="0"/>
              <a:t> them requires </a:t>
            </a:r>
            <a:r>
              <a:rPr lang="en-US" b="1" dirty="0">
                <a:solidFill>
                  <a:srgbClr val="FFFF00"/>
                </a:solidFill>
              </a:rPr>
              <a:t>additional infrastructure</a:t>
            </a:r>
            <a:r>
              <a:rPr lang="en-US" dirty="0"/>
              <a:t>—such as </a:t>
            </a:r>
            <a:r>
              <a:rPr lang="en-US" dirty="0">
                <a:solidFill>
                  <a:srgbClr val="FFFF00"/>
                </a:solidFill>
              </a:rPr>
              <a:t>energy storage solutions</a:t>
            </a:r>
            <a:r>
              <a:rPr lang="en-US" dirty="0"/>
              <a:t>, smart grids, and specialized equipment. </a:t>
            </a:r>
            <a:r>
              <a:rPr lang="en-US" b="1" dirty="0">
                <a:solidFill>
                  <a:srgbClr val="FFFF00"/>
                </a:solidFill>
              </a:rPr>
              <a:t>Expertise</a:t>
            </a:r>
            <a:r>
              <a:rPr lang="en-US" dirty="0">
                <a:solidFill>
                  <a:srgbClr val="FFFF00"/>
                </a:solidFill>
              </a:rPr>
              <a:t> is also crucial </a:t>
            </a:r>
            <a:r>
              <a:rPr lang="en-US" dirty="0"/>
              <a:t>for </a:t>
            </a:r>
            <a:r>
              <a:rPr lang="en-US" dirty="0">
                <a:solidFill>
                  <a:srgbClr val="FFFF00"/>
                </a:solidFill>
              </a:rPr>
              <a:t>designing, installing, and maintaining </a:t>
            </a:r>
            <a:r>
              <a:rPr lang="en-US" dirty="0"/>
              <a:t>these systems, which may not be </a:t>
            </a:r>
            <a:r>
              <a:rPr lang="en-US" dirty="0">
                <a:solidFill>
                  <a:srgbClr val="FFFF00"/>
                </a:solidFill>
              </a:rPr>
              <a:t>readily available in every industry</a:t>
            </a:r>
            <a:r>
              <a:rPr lang="en-US" dirty="0"/>
              <a:t>.</a:t>
            </a:r>
          </a:p>
          <a:p>
            <a:pPr algn="just"/>
            <a:endParaRPr lang="en-US" dirty="0"/>
          </a:p>
          <a:p>
            <a:pPr algn="just"/>
            <a:r>
              <a:rPr lang="en-US" b="1" dirty="0"/>
              <a:t>Impact:</a:t>
            </a:r>
          </a:p>
          <a:p>
            <a:pPr algn="just"/>
            <a:r>
              <a:rPr lang="en-US" dirty="0"/>
              <a:t>For </a:t>
            </a:r>
            <a:r>
              <a:rPr lang="en-US" dirty="0">
                <a:solidFill>
                  <a:srgbClr val="FFFF00"/>
                </a:solidFill>
              </a:rPr>
              <a:t>industries unfamiliar with renewable energy</a:t>
            </a:r>
            <a:r>
              <a:rPr lang="en-US" dirty="0"/>
              <a:t>, these requirements can </a:t>
            </a:r>
            <a:r>
              <a:rPr lang="en-US" dirty="0">
                <a:solidFill>
                  <a:srgbClr val="FFFF00"/>
                </a:solidFill>
              </a:rPr>
              <a:t>act as a </a:t>
            </a:r>
            <a:r>
              <a:rPr lang="en-US" b="1" dirty="0">
                <a:solidFill>
                  <a:srgbClr val="FFFF00"/>
                </a:solidFill>
              </a:rPr>
              <a:t>barrier</a:t>
            </a:r>
            <a:r>
              <a:rPr lang="en-US" dirty="0">
                <a:solidFill>
                  <a:srgbClr val="FFFF00"/>
                </a:solidFill>
              </a:rPr>
              <a:t> to adoption</a:t>
            </a:r>
            <a:r>
              <a:rPr lang="en-US" dirty="0"/>
              <a:t>. Businesses may struggle with the </a:t>
            </a:r>
            <a:r>
              <a:rPr lang="en-US" b="1" dirty="0">
                <a:solidFill>
                  <a:srgbClr val="FFFF00"/>
                </a:solidFill>
              </a:rPr>
              <a:t>high upfront co</a:t>
            </a:r>
            <a:r>
              <a:rPr lang="en-US" b="1" dirty="0"/>
              <a:t>sts</a:t>
            </a:r>
            <a:r>
              <a:rPr lang="en-US" dirty="0"/>
              <a:t>, the </a:t>
            </a:r>
            <a:r>
              <a:rPr lang="en-US" dirty="0">
                <a:solidFill>
                  <a:srgbClr val="FFFF00"/>
                </a:solidFill>
              </a:rPr>
              <a:t>complexity of system integration</a:t>
            </a:r>
            <a:r>
              <a:rPr lang="en-US" dirty="0"/>
              <a:t>, and the </a:t>
            </a:r>
            <a:r>
              <a:rPr lang="en-US" dirty="0">
                <a:solidFill>
                  <a:srgbClr val="FFFF00"/>
                </a:solidFill>
              </a:rPr>
              <a:t>need for specialized knowledge</a:t>
            </a:r>
            <a:r>
              <a:rPr lang="en-US" dirty="0"/>
              <a:t>. This can </a:t>
            </a:r>
            <a:r>
              <a:rPr lang="en-US" dirty="0">
                <a:solidFill>
                  <a:srgbClr val="FFFF00"/>
                </a:solidFill>
              </a:rPr>
              <a:t>slow down </a:t>
            </a:r>
            <a:r>
              <a:rPr lang="en-US" dirty="0"/>
              <a:t>the transition to </a:t>
            </a:r>
            <a:r>
              <a:rPr lang="en-US" dirty="0">
                <a:solidFill>
                  <a:srgbClr val="FFFF00"/>
                </a:solidFill>
              </a:rPr>
              <a:t>cleaner energy</a:t>
            </a:r>
            <a:r>
              <a:rPr lang="en-US" dirty="0"/>
              <a:t>, despite the </a:t>
            </a:r>
            <a:r>
              <a:rPr lang="en-US" dirty="0">
                <a:solidFill>
                  <a:srgbClr val="FFFF00"/>
                </a:solidFill>
              </a:rPr>
              <a:t>long-term financial and environmental benefits.</a:t>
            </a:r>
          </a:p>
          <a:p>
            <a:pPr algn="just"/>
            <a:endParaRPr lang="en-US" dirty="0">
              <a:solidFill>
                <a:srgbClr val="FFFF00"/>
              </a:solidFill>
            </a:endParaRPr>
          </a:p>
        </p:txBody>
      </p:sp>
      <p:sp>
        <p:nvSpPr>
          <p:cNvPr id="6" name="Rectangle 5"/>
          <p:cNvSpPr/>
          <p:nvPr/>
        </p:nvSpPr>
        <p:spPr>
          <a:xfrm>
            <a:off x="313345" y="4052242"/>
            <a:ext cx="10877394" cy="2585323"/>
          </a:xfrm>
          <a:prstGeom prst="rect">
            <a:avLst/>
          </a:prstGeom>
        </p:spPr>
        <p:txBody>
          <a:bodyPr wrap="square">
            <a:spAutoFit/>
          </a:bodyPr>
          <a:lstStyle/>
          <a:p>
            <a:r>
              <a:rPr lang="en-US" b="1" dirty="0">
                <a:solidFill>
                  <a:srgbClr val="FFFF00"/>
                </a:solidFill>
              </a:rPr>
              <a:t>To overcome these barriers, industries can:</a:t>
            </a:r>
          </a:p>
          <a:p>
            <a:endParaRPr lang="en-US" dirty="0">
              <a:solidFill>
                <a:srgbClr val="FFFF00"/>
              </a:solidFill>
            </a:endParaRPr>
          </a:p>
          <a:p>
            <a:pPr marL="285750" indent="-285750" algn="just">
              <a:buFont typeface="Arial" panose="020B0604020202020204" pitchFamily="34" charset="0"/>
              <a:buChar char="•"/>
            </a:pPr>
            <a:r>
              <a:rPr lang="en-US" dirty="0">
                <a:solidFill>
                  <a:srgbClr val="FFFF00"/>
                </a:solidFill>
              </a:rPr>
              <a:t>Leverage government incentives </a:t>
            </a:r>
            <a:r>
              <a:rPr lang="en-US" dirty="0"/>
              <a:t>and </a:t>
            </a:r>
            <a:r>
              <a:rPr lang="en-US" dirty="0">
                <a:solidFill>
                  <a:srgbClr val="FFFF00"/>
                </a:solidFill>
              </a:rPr>
              <a:t>subsidies</a:t>
            </a:r>
            <a:r>
              <a:rPr lang="en-US" dirty="0"/>
              <a:t> for energy efficiency projects.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solidFill>
                  <a:srgbClr val="FFFF00"/>
                </a:solidFill>
              </a:rPr>
              <a:t>Invest in training programs </a:t>
            </a:r>
            <a:r>
              <a:rPr lang="en-US" dirty="0"/>
              <a:t>to build </a:t>
            </a:r>
            <a:r>
              <a:rPr lang="en-US" dirty="0">
                <a:solidFill>
                  <a:srgbClr val="FFFF00"/>
                </a:solidFill>
              </a:rPr>
              <a:t>awareness and expertise</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Collaborate with </a:t>
            </a:r>
            <a:r>
              <a:rPr lang="en-US" dirty="0">
                <a:solidFill>
                  <a:srgbClr val="FFFF00"/>
                </a:solidFill>
              </a:rPr>
              <a:t>energy service companies </a:t>
            </a:r>
            <a:r>
              <a:rPr lang="en-US" dirty="0"/>
              <a:t>(ESCOs) for </a:t>
            </a:r>
            <a:r>
              <a:rPr lang="en-US" dirty="0">
                <a:solidFill>
                  <a:srgbClr val="FFFF00"/>
                </a:solidFill>
              </a:rPr>
              <a:t>financing and implementation</a:t>
            </a:r>
            <a:r>
              <a:rPr lang="en-US" dirty="0"/>
              <a:t>.</a:t>
            </a:r>
          </a:p>
          <a:p>
            <a:pPr algn="just"/>
            <a:endParaRPr lang="en-US" dirty="0"/>
          </a:p>
          <a:p>
            <a:pPr marL="285750" indent="-285750" algn="just">
              <a:buFont typeface="Arial" panose="020B0604020202020204" pitchFamily="34" charset="0"/>
              <a:buChar char="•"/>
            </a:pPr>
            <a:r>
              <a:rPr lang="en-US" dirty="0">
                <a:solidFill>
                  <a:srgbClr val="FFFF00"/>
                </a:solidFill>
              </a:rPr>
              <a:t>Adopt digital tools</a:t>
            </a:r>
            <a:r>
              <a:rPr lang="en-US" dirty="0"/>
              <a:t> for </a:t>
            </a:r>
            <a:r>
              <a:rPr lang="en-US" dirty="0">
                <a:solidFill>
                  <a:srgbClr val="FFFF00"/>
                </a:solidFill>
              </a:rPr>
              <a:t>energy monitoring </a:t>
            </a:r>
            <a:r>
              <a:rPr lang="en-US" dirty="0"/>
              <a:t>and management.</a:t>
            </a:r>
          </a:p>
        </p:txBody>
      </p:sp>
    </p:spTree>
    <p:extLst>
      <p:ext uri="{BB962C8B-B14F-4D97-AF65-F5344CB8AC3E}">
        <p14:creationId xmlns:p14="http://schemas.microsoft.com/office/powerpoint/2010/main" val="1844520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28</a:t>
            </a:fld>
            <a:endParaRPr lang="en-US" dirty="0"/>
          </a:p>
        </p:txBody>
      </p:sp>
      <p:sp>
        <p:nvSpPr>
          <p:cNvPr id="6" name="TextBox 5">
            <a:extLst>
              <a:ext uri="{FF2B5EF4-FFF2-40B4-BE49-F238E27FC236}">
                <a16:creationId xmlns:a16="http://schemas.microsoft.com/office/drawing/2014/main" id="{984C9DC9-9D37-3C23-8483-78264E9D433B}"/>
              </a:ext>
            </a:extLst>
          </p:cNvPr>
          <p:cNvSpPr txBox="1"/>
          <p:nvPr/>
        </p:nvSpPr>
        <p:spPr>
          <a:xfrm>
            <a:off x="597158" y="1044755"/>
            <a:ext cx="10748865" cy="5078313"/>
          </a:xfrm>
          <a:prstGeom prst="rect">
            <a:avLst/>
          </a:prstGeom>
          <a:noFill/>
          <a:ln>
            <a:solidFill>
              <a:schemeClr val="tx1"/>
            </a:solidFill>
          </a:ln>
        </p:spPr>
        <p:txBody>
          <a:bodyPr wrap="square">
            <a:spAutoFit/>
          </a:bodyPr>
          <a:lstStyle/>
          <a:p>
            <a:pPr>
              <a:buNone/>
            </a:pPr>
            <a:r>
              <a:rPr lang="en-US" dirty="0">
                <a:effectLst/>
              </a:rPr>
              <a:t>A typical medium-sized </a:t>
            </a:r>
            <a:r>
              <a:rPr lang="en-US" b="1" dirty="0">
                <a:effectLst/>
              </a:rPr>
              <a:t>textile dyeing or garment unit</a:t>
            </a:r>
            <a:r>
              <a:rPr lang="en-US" dirty="0">
                <a:effectLst/>
              </a:rPr>
              <a:t> in Tirupur or Ludhiana wants to install a 100–200 kW rooftop solar system. However, they face multiple integration hurdles:</a:t>
            </a:r>
          </a:p>
          <a:p>
            <a:pPr>
              <a:buNone/>
            </a:pPr>
            <a:endParaRPr lang="en-US" dirty="0">
              <a:effectLst/>
            </a:endParaRPr>
          </a:p>
          <a:p>
            <a:pPr>
              <a:buFont typeface="Arial" panose="020B0604020202020204" pitchFamily="34" charset="0"/>
              <a:buChar char="•"/>
            </a:pPr>
            <a:r>
              <a:rPr lang="en-US" b="1" dirty="0"/>
              <a:t>Limited rooftop space &amp; unsuitable structures</a:t>
            </a:r>
            <a:r>
              <a:rPr lang="en-US" dirty="0"/>
              <a:t>: Many factories have tin-shed roofs that need frequent replacement. Installing heavy solar panels risks structural damage or requires costly reinforcement.</a:t>
            </a:r>
          </a:p>
          <a:p>
            <a:pPr>
              <a:buFont typeface="Arial" panose="020B0604020202020204" pitchFamily="34" charset="0"/>
              <a:buChar char="•"/>
            </a:pPr>
            <a:endParaRPr lang="en-US" dirty="0"/>
          </a:p>
          <a:p>
            <a:pPr>
              <a:buFont typeface="Arial" panose="020B0604020202020204" pitchFamily="34" charset="0"/>
              <a:buChar char="•"/>
            </a:pPr>
            <a:r>
              <a:rPr lang="en-US" b="1" dirty="0"/>
              <a:t>Intermittency &amp; no storage</a:t>
            </a:r>
            <a:r>
              <a:rPr lang="en-US" dirty="0"/>
              <a:t>: The factory runs 2–3 shifts (including night). Solar generates power only during the day, so without expensive battery storage, they can use only 30–50% of the generated solar energy. The rest is wasted or requires complex net-metering arrangements.</a:t>
            </a:r>
          </a:p>
          <a:p>
            <a:pPr>
              <a:buFont typeface="Arial" panose="020B0604020202020204" pitchFamily="34" charset="0"/>
              <a:buChar char="•"/>
            </a:pPr>
            <a:endParaRPr lang="en-US" dirty="0"/>
          </a:p>
          <a:p>
            <a:pPr>
              <a:buFont typeface="Arial" panose="020B0604020202020204" pitchFamily="34" charset="0"/>
              <a:buChar char="•"/>
            </a:pPr>
            <a:r>
              <a:rPr lang="en-US" b="1" dirty="0"/>
              <a:t>Power quality &amp; process needs</a:t>
            </a:r>
            <a:r>
              <a:rPr lang="en-US" dirty="0"/>
              <a:t>: Textile or pharma units need stable, high-quality power for sensitive machines (e.g., extrusion, injection </a:t>
            </a:r>
            <a:r>
              <a:rPr lang="en-US" dirty="0" err="1"/>
              <a:t>moulding</a:t>
            </a:r>
            <a:r>
              <a:rPr lang="en-US" dirty="0"/>
              <a:t>, or dyeing). Sudden drops or fluctuations from solar can disrupt production or damage equipment.</a:t>
            </a:r>
          </a:p>
          <a:p>
            <a:pPr>
              <a:buFont typeface="Arial" panose="020B0604020202020204" pitchFamily="34" charset="0"/>
              <a:buChar char="•"/>
            </a:pPr>
            <a:endParaRPr lang="en-US" dirty="0"/>
          </a:p>
          <a:p>
            <a:pPr>
              <a:buFont typeface="Arial" panose="020B0604020202020204" pitchFamily="34" charset="0"/>
              <a:buChar char="•"/>
            </a:pPr>
            <a:r>
              <a:rPr lang="en-US" b="1" dirty="0"/>
              <a:t>Lack of expertise</a:t>
            </a:r>
            <a:r>
              <a:rPr lang="en-US" dirty="0"/>
              <a:t>: The owner or plant manager has no experience in designing hybrid systems (solar + grid). They don’t know how to size inverters, integrate with existing electrical panels, or maintain the system. Hiring external experts adds cost and risk.</a:t>
            </a:r>
          </a:p>
        </p:txBody>
      </p:sp>
      <p:sp>
        <p:nvSpPr>
          <p:cNvPr id="8" name="TextBox 7">
            <a:extLst>
              <a:ext uri="{FF2B5EF4-FFF2-40B4-BE49-F238E27FC236}">
                <a16:creationId xmlns:a16="http://schemas.microsoft.com/office/drawing/2014/main" id="{9FC5205E-D4D6-3E84-05EF-4710F4B3456B}"/>
              </a:ext>
            </a:extLst>
          </p:cNvPr>
          <p:cNvSpPr txBox="1"/>
          <p:nvPr/>
        </p:nvSpPr>
        <p:spPr>
          <a:xfrm>
            <a:off x="762778" y="550266"/>
            <a:ext cx="6097554" cy="369332"/>
          </a:xfrm>
          <a:prstGeom prst="rect">
            <a:avLst/>
          </a:prstGeom>
          <a:noFill/>
        </p:spPr>
        <p:txBody>
          <a:bodyPr wrap="square">
            <a:spAutoFit/>
          </a:bodyPr>
          <a:lstStyle/>
          <a:p>
            <a:r>
              <a:rPr lang="en-US" dirty="0">
                <a:effectLst/>
              </a:rPr>
              <a:t>Example</a:t>
            </a:r>
            <a:endParaRPr lang="en-IN" dirty="0"/>
          </a:p>
        </p:txBody>
      </p:sp>
    </p:spTree>
    <p:extLst>
      <p:ext uri="{BB962C8B-B14F-4D97-AF65-F5344CB8AC3E}">
        <p14:creationId xmlns:p14="http://schemas.microsoft.com/office/powerpoint/2010/main" val="17314991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29</a:t>
            </a:fld>
            <a:endParaRPr lang="en-US" dirty="0"/>
          </a:p>
        </p:txBody>
      </p:sp>
      <p:sp>
        <p:nvSpPr>
          <p:cNvPr id="4" name="TextBox 3"/>
          <p:cNvSpPr txBox="1"/>
          <p:nvPr/>
        </p:nvSpPr>
        <p:spPr>
          <a:xfrm>
            <a:off x="2572284" y="435836"/>
            <a:ext cx="6024785" cy="830997"/>
          </a:xfrm>
          <a:prstGeom prst="rect">
            <a:avLst/>
          </a:prstGeom>
          <a:noFill/>
        </p:spPr>
        <p:txBody>
          <a:bodyPr wrap="square" rtlCol="0">
            <a:spAutoFit/>
          </a:bodyPr>
          <a:lstStyle/>
          <a:p>
            <a:pPr algn="ctr"/>
            <a:r>
              <a:rPr lang="en-US" sz="2400" dirty="0">
                <a:solidFill>
                  <a:srgbClr val="FFC000"/>
                </a:solidFill>
              </a:rPr>
              <a:t>Energy Efficient Technologies</a:t>
            </a:r>
          </a:p>
          <a:p>
            <a:pPr algn="ctr"/>
            <a:endParaRPr lang="en-IN" sz="2400" dirty="0">
              <a:solidFill>
                <a:srgbClr val="FFC000"/>
              </a:solidFill>
            </a:endParaRPr>
          </a:p>
        </p:txBody>
      </p:sp>
      <p:sp>
        <p:nvSpPr>
          <p:cNvPr id="5" name="TextBox 4"/>
          <p:cNvSpPr txBox="1"/>
          <p:nvPr/>
        </p:nvSpPr>
        <p:spPr>
          <a:xfrm>
            <a:off x="282011" y="982766"/>
            <a:ext cx="9716568" cy="4524315"/>
          </a:xfrm>
          <a:prstGeom prst="rect">
            <a:avLst/>
          </a:prstGeom>
          <a:noFill/>
        </p:spPr>
        <p:txBody>
          <a:bodyPr wrap="square" rtlCol="0">
            <a:spAutoFit/>
          </a:bodyPr>
          <a:lstStyle/>
          <a:p>
            <a:pPr algn="just"/>
            <a:r>
              <a:rPr lang="en-US" dirty="0"/>
              <a:t>Energy-efficient technologies are innovations designed to perform tasks using less energy while maintaining or improving performance. These technologies help industries, businesses, and households optimize energy use.</a:t>
            </a:r>
          </a:p>
          <a:p>
            <a:pPr algn="just"/>
            <a:endParaRPr lang="en-US" dirty="0"/>
          </a:p>
          <a:p>
            <a:pPr algn="just"/>
            <a:r>
              <a:rPr lang="en-US" dirty="0"/>
              <a:t>Some of the major energy efficient technologies are</a:t>
            </a:r>
          </a:p>
          <a:p>
            <a:pPr algn="just"/>
            <a:endParaRPr lang="en-US" dirty="0"/>
          </a:p>
          <a:p>
            <a:pPr algn="just"/>
            <a:r>
              <a:rPr lang="en-US" dirty="0"/>
              <a:t>1. Maximum Demand Controller</a:t>
            </a:r>
          </a:p>
          <a:p>
            <a:pPr algn="just"/>
            <a:r>
              <a:rPr lang="en-US" dirty="0"/>
              <a:t>2. Soft starters</a:t>
            </a:r>
          </a:p>
          <a:p>
            <a:pPr algn="just"/>
            <a:r>
              <a:rPr lang="en-US" dirty="0"/>
              <a:t>3. Energy efficient transformer</a:t>
            </a:r>
          </a:p>
          <a:p>
            <a:pPr algn="just"/>
            <a:r>
              <a:rPr lang="en-US" dirty="0"/>
              <a:t>4. Electronic ballast</a:t>
            </a:r>
          </a:p>
          <a:p>
            <a:pPr algn="just"/>
            <a:r>
              <a:rPr lang="en-US" dirty="0"/>
              <a:t>5. Variable Frequency Drives (VFDs) or Variable Speed Drives (VSDs)</a:t>
            </a:r>
          </a:p>
          <a:p>
            <a:pPr algn="just"/>
            <a:endParaRPr lang="en-US" dirty="0"/>
          </a:p>
          <a:p>
            <a:pPr algn="just"/>
            <a:endParaRPr lang="en-US" dirty="0"/>
          </a:p>
          <a:p>
            <a:pPr algn="just"/>
            <a:endParaRPr lang="en-US" dirty="0"/>
          </a:p>
          <a:p>
            <a:pPr algn="just"/>
            <a:endParaRPr lang="en-US" dirty="0"/>
          </a:p>
          <a:p>
            <a:endParaRPr lang="en-IN" dirty="0"/>
          </a:p>
        </p:txBody>
      </p:sp>
    </p:spTree>
    <p:extLst>
      <p:ext uri="{BB962C8B-B14F-4D97-AF65-F5344CB8AC3E}">
        <p14:creationId xmlns:p14="http://schemas.microsoft.com/office/powerpoint/2010/main" val="12950360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30</a:t>
            </a:fld>
            <a:endParaRPr lang="en-US" dirty="0"/>
          </a:p>
        </p:txBody>
      </p:sp>
      <p:sp>
        <p:nvSpPr>
          <p:cNvPr id="4" name="TextBox 3"/>
          <p:cNvSpPr txBox="1"/>
          <p:nvPr/>
        </p:nvSpPr>
        <p:spPr>
          <a:xfrm>
            <a:off x="268503" y="104643"/>
            <a:ext cx="7238288" cy="4832092"/>
          </a:xfrm>
          <a:prstGeom prst="rect">
            <a:avLst/>
          </a:prstGeom>
          <a:noFill/>
        </p:spPr>
        <p:txBody>
          <a:bodyPr wrap="square" rtlCol="0">
            <a:spAutoFit/>
          </a:bodyPr>
          <a:lstStyle/>
          <a:p>
            <a:r>
              <a:rPr lang="en-US" sz="2000" b="1" dirty="0">
                <a:solidFill>
                  <a:srgbClr val="FFC000"/>
                </a:solidFill>
              </a:rPr>
              <a:t>Maximum Demand Controller</a:t>
            </a:r>
          </a:p>
          <a:p>
            <a:pPr algn="just"/>
            <a:r>
              <a:rPr lang="en-US" sz="1600" dirty="0"/>
              <a:t>A </a:t>
            </a:r>
            <a:r>
              <a:rPr lang="en-US" sz="1600" b="1" dirty="0">
                <a:solidFill>
                  <a:srgbClr val="FFFF00"/>
                </a:solidFill>
              </a:rPr>
              <a:t>Maximum Demand Controller (MDC)</a:t>
            </a:r>
            <a:r>
              <a:rPr lang="en-US" sz="1600" dirty="0">
                <a:solidFill>
                  <a:srgbClr val="FFFF00"/>
                </a:solidFill>
              </a:rPr>
              <a:t> </a:t>
            </a:r>
            <a:r>
              <a:rPr lang="en-US" sz="1600" dirty="0"/>
              <a:t>is an </a:t>
            </a:r>
            <a:r>
              <a:rPr lang="en-US" sz="1600" dirty="0">
                <a:solidFill>
                  <a:srgbClr val="FFFF00"/>
                </a:solidFill>
              </a:rPr>
              <a:t>electrical power management device</a:t>
            </a:r>
            <a:r>
              <a:rPr lang="en-US" sz="1600" dirty="0"/>
              <a:t> designed to </a:t>
            </a:r>
            <a:r>
              <a:rPr lang="en-US" sz="1600" dirty="0">
                <a:solidFill>
                  <a:srgbClr val="FFFF00"/>
                </a:solidFill>
              </a:rPr>
              <a:t>monitor and control the maximum demand</a:t>
            </a:r>
            <a:r>
              <a:rPr lang="en-US" sz="1600" dirty="0"/>
              <a:t> for </a:t>
            </a:r>
            <a:r>
              <a:rPr lang="en-US" sz="1600" dirty="0">
                <a:solidFill>
                  <a:srgbClr val="FFFF00"/>
                </a:solidFill>
              </a:rPr>
              <a:t>electricity in industrial, commercial, and residential settings</a:t>
            </a:r>
            <a:r>
              <a:rPr lang="en-US" sz="1600" dirty="0"/>
              <a:t>. Its primary function is to prevent demand from exceeding a predetermined level, thereby avoiding peak demand charges and optimizing energy use.</a:t>
            </a:r>
          </a:p>
          <a:p>
            <a:pPr algn="just"/>
            <a:endParaRPr lang="en-US" sz="1600" dirty="0"/>
          </a:p>
          <a:p>
            <a:r>
              <a:rPr lang="en-US" sz="1600" b="1" dirty="0">
                <a:solidFill>
                  <a:srgbClr val="FFFF00"/>
                </a:solidFill>
              </a:rPr>
              <a:t>Working</a:t>
            </a:r>
          </a:p>
          <a:p>
            <a:pPr marL="285750" indent="-285750" algn="just">
              <a:buFont typeface="Arial" panose="020B0604020202020204" pitchFamily="34" charset="0"/>
              <a:buChar char="•"/>
            </a:pPr>
            <a:r>
              <a:rPr lang="en-US" sz="1600" dirty="0"/>
              <a:t>The </a:t>
            </a:r>
            <a:r>
              <a:rPr lang="en-US" sz="1600" dirty="0">
                <a:solidFill>
                  <a:srgbClr val="FFFF00"/>
                </a:solidFill>
              </a:rPr>
              <a:t>MDC continuously tracks </a:t>
            </a:r>
            <a:r>
              <a:rPr lang="en-US" sz="1600" dirty="0"/>
              <a:t>electrical </a:t>
            </a:r>
            <a:r>
              <a:rPr lang="en-US" sz="1600" dirty="0">
                <a:solidFill>
                  <a:srgbClr val="FFFF00"/>
                </a:solidFill>
              </a:rPr>
              <a:t>power consumption</a:t>
            </a:r>
            <a:r>
              <a:rPr lang="en-US" sz="1600" dirty="0"/>
              <a:t> in real time. It </a:t>
            </a:r>
            <a:r>
              <a:rPr lang="en-US" sz="1600" dirty="0">
                <a:solidFill>
                  <a:srgbClr val="FFFF00"/>
                </a:solidFill>
              </a:rPr>
              <a:t>records power utilization </a:t>
            </a:r>
            <a:r>
              <a:rPr lang="en-US" sz="1600" dirty="0"/>
              <a:t>data for </a:t>
            </a:r>
            <a:r>
              <a:rPr lang="en-US" sz="1600" dirty="0">
                <a:solidFill>
                  <a:srgbClr val="FFFF00"/>
                </a:solidFill>
              </a:rPr>
              <a:t>analysis and reporting.</a:t>
            </a:r>
          </a:p>
          <a:p>
            <a:pPr marL="285750" indent="-285750" algn="just">
              <a:buFont typeface="Arial" panose="020B0604020202020204" pitchFamily="34" charset="0"/>
              <a:buChar char="•"/>
            </a:pPr>
            <a:r>
              <a:rPr lang="en-US" sz="1600" dirty="0"/>
              <a:t>When </a:t>
            </a:r>
            <a:r>
              <a:rPr lang="en-US" sz="1600" dirty="0">
                <a:solidFill>
                  <a:srgbClr val="FFFF00"/>
                </a:solidFill>
              </a:rPr>
              <a:t>power usage </a:t>
            </a:r>
            <a:r>
              <a:rPr lang="en-US" sz="1600" dirty="0"/>
              <a:t>approaches the </a:t>
            </a:r>
            <a:r>
              <a:rPr lang="en-US" sz="1600" dirty="0">
                <a:solidFill>
                  <a:srgbClr val="FFFF00"/>
                </a:solidFill>
              </a:rPr>
              <a:t>specified demand limit, </a:t>
            </a:r>
            <a:r>
              <a:rPr lang="en-US" sz="1600" dirty="0"/>
              <a:t>the </a:t>
            </a:r>
            <a:r>
              <a:rPr lang="en-US" sz="1600" dirty="0">
                <a:solidFill>
                  <a:srgbClr val="FFFF00"/>
                </a:solidFill>
              </a:rPr>
              <a:t>MDC automatically</a:t>
            </a:r>
            <a:r>
              <a:rPr lang="en-US" sz="1600" dirty="0"/>
              <a:t> sheds or </a:t>
            </a:r>
            <a:r>
              <a:rPr lang="en-US" sz="1600" dirty="0">
                <a:solidFill>
                  <a:srgbClr val="FFFF00"/>
                </a:solidFill>
              </a:rPr>
              <a:t>shuts off non-essential loads</a:t>
            </a:r>
            <a:r>
              <a:rPr lang="en-US" sz="1600" dirty="0"/>
              <a:t>.</a:t>
            </a:r>
          </a:p>
          <a:p>
            <a:pPr marL="285750" indent="-285750" algn="just">
              <a:buFont typeface="Arial" panose="020B0604020202020204" pitchFamily="34" charset="0"/>
              <a:buChar char="•"/>
            </a:pPr>
            <a:r>
              <a:rPr lang="en-US" sz="1600" dirty="0"/>
              <a:t>It </a:t>
            </a:r>
            <a:r>
              <a:rPr lang="en-US" sz="1600" dirty="0">
                <a:solidFill>
                  <a:srgbClr val="FFFF00"/>
                </a:solidFill>
              </a:rPr>
              <a:t>prioritizes critical loads </a:t>
            </a:r>
            <a:r>
              <a:rPr lang="en-US" sz="1600" dirty="0"/>
              <a:t>while </a:t>
            </a:r>
            <a:r>
              <a:rPr lang="en-US" sz="1600" dirty="0">
                <a:solidFill>
                  <a:srgbClr val="FFFF00"/>
                </a:solidFill>
              </a:rPr>
              <a:t>temporarily disconnecting </a:t>
            </a:r>
            <a:r>
              <a:rPr lang="en-US" sz="1600" dirty="0"/>
              <a:t>less important ones.</a:t>
            </a:r>
          </a:p>
          <a:p>
            <a:pPr marL="285750" indent="-285750" algn="just">
              <a:buFont typeface="Arial" panose="020B0604020202020204" pitchFamily="34" charset="0"/>
              <a:buChar char="•"/>
            </a:pPr>
            <a:r>
              <a:rPr lang="en-US" sz="1600" dirty="0"/>
              <a:t>The </a:t>
            </a:r>
            <a:r>
              <a:rPr lang="en-US" sz="1600" dirty="0">
                <a:solidFill>
                  <a:srgbClr val="FFFF00"/>
                </a:solidFill>
              </a:rPr>
              <a:t>MDC provides alerts </a:t>
            </a:r>
            <a:r>
              <a:rPr lang="en-US" sz="1600" dirty="0"/>
              <a:t>when </a:t>
            </a:r>
            <a:r>
              <a:rPr lang="en-US" sz="1600" dirty="0">
                <a:solidFill>
                  <a:srgbClr val="FFFF00"/>
                </a:solidFill>
              </a:rPr>
              <a:t>power consumption </a:t>
            </a:r>
            <a:r>
              <a:rPr lang="en-US" sz="1600" dirty="0"/>
              <a:t>nears the </a:t>
            </a:r>
            <a:r>
              <a:rPr lang="en-US" sz="1600" dirty="0">
                <a:solidFill>
                  <a:srgbClr val="FFFF00"/>
                </a:solidFill>
              </a:rPr>
              <a:t>maximum demand threshold</a:t>
            </a:r>
            <a:r>
              <a:rPr lang="en-US" sz="1600" dirty="0"/>
              <a:t>.</a:t>
            </a:r>
          </a:p>
          <a:p>
            <a:pPr marL="285750" indent="-285750" algn="just">
              <a:buFont typeface="Arial" panose="020B0604020202020204" pitchFamily="34" charset="0"/>
              <a:buChar char="•"/>
            </a:pPr>
            <a:r>
              <a:rPr lang="en-US" sz="1600" dirty="0">
                <a:solidFill>
                  <a:srgbClr val="FFFF00"/>
                </a:solidFill>
              </a:rPr>
              <a:t>Operators can take preventive actions</a:t>
            </a:r>
            <a:r>
              <a:rPr lang="en-US" sz="1600" dirty="0"/>
              <a:t> to avoid </a:t>
            </a:r>
            <a:r>
              <a:rPr lang="en-US" sz="1600" dirty="0">
                <a:solidFill>
                  <a:srgbClr val="FFFF00"/>
                </a:solidFill>
              </a:rPr>
              <a:t>unnecessary power surges.</a:t>
            </a:r>
            <a:endParaRPr lang="en-IN" sz="1600" dirty="0">
              <a:solidFill>
                <a:srgbClr val="FFFF00"/>
              </a:solidFill>
            </a:endParaRPr>
          </a:p>
        </p:txBody>
      </p:sp>
      <p:pic>
        <p:nvPicPr>
          <p:cNvPr id="8" name="Picture 7"/>
          <p:cNvPicPr>
            <a:picLocks noChangeAspect="1"/>
          </p:cNvPicPr>
          <p:nvPr/>
        </p:nvPicPr>
        <p:blipFill>
          <a:blip r:embed="rId2"/>
          <a:stretch>
            <a:fillRect/>
          </a:stretch>
        </p:blipFill>
        <p:spPr>
          <a:xfrm>
            <a:off x="7506791" y="1425085"/>
            <a:ext cx="4601509" cy="3551261"/>
          </a:xfrm>
          <a:prstGeom prst="rect">
            <a:avLst/>
          </a:prstGeom>
        </p:spPr>
      </p:pic>
      <p:sp>
        <p:nvSpPr>
          <p:cNvPr id="9" name="TextBox 8"/>
          <p:cNvSpPr txBox="1"/>
          <p:nvPr/>
        </p:nvSpPr>
        <p:spPr>
          <a:xfrm>
            <a:off x="8101413" y="5144568"/>
            <a:ext cx="3623417" cy="369332"/>
          </a:xfrm>
          <a:prstGeom prst="rect">
            <a:avLst/>
          </a:prstGeom>
          <a:noFill/>
        </p:spPr>
        <p:txBody>
          <a:bodyPr wrap="square" rtlCol="0">
            <a:spAutoFit/>
          </a:bodyPr>
          <a:lstStyle/>
          <a:p>
            <a:r>
              <a:rPr lang="en-US" b="1" dirty="0">
                <a:solidFill>
                  <a:srgbClr val="FFFF00"/>
                </a:solidFill>
              </a:rPr>
              <a:t>Maximum Demand Controller</a:t>
            </a:r>
            <a:endParaRPr lang="en-IN" b="1" dirty="0">
              <a:solidFill>
                <a:srgbClr val="FFFF00"/>
              </a:solidFill>
            </a:endParaRPr>
          </a:p>
        </p:txBody>
      </p:sp>
      <p:sp>
        <p:nvSpPr>
          <p:cNvPr id="2" name="Rectangle 1"/>
          <p:cNvSpPr/>
          <p:nvPr/>
        </p:nvSpPr>
        <p:spPr>
          <a:xfrm>
            <a:off x="194368" y="5568033"/>
            <a:ext cx="8594525" cy="830997"/>
          </a:xfrm>
          <a:prstGeom prst="rect">
            <a:avLst/>
          </a:prstGeom>
        </p:spPr>
        <p:txBody>
          <a:bodyPr wrap="square">
            <a:spAutoFit/>
          </a:bodyPr>
          <a:lstStyle/>
          <a:p>
            <a:pPr algn="just"/>
            <a:r>
              <a:rPr lang="en-US" sz="1600" b="1" dirty="0"/>
              <a:t>Cost Savings:</a:t>
            </a:r>
            <a:r>
              <a:rPr lang="en-US" sz="1600" dirty="0"/>
              <a:t> Prevents penalties by optimizing power usage and reducing peak demand charges.</a:t>
            </a:r>
          </a:p>
          <a:p>
            <a:pPr algn="just"/>
            <a:r>
              <a:rPr lang="en-US" sz="1600" b="1" dirty="0"/>
              <a:t>Energy Efficiency:</a:t>
            </a:r>
            <a:r>
              <a:rPr lang="en-US" sz="1600" dirty="0"/>
              <a:t> Reduces wastage by scheduling operations during off-peak hours. </a:t>
            </a:r>
            <a:endParaRPr lang="en-IN" sz="1600" dirty="0"/>
          </a:p>
        </p:txBody>
      </p:sp>
      <p:sp>
        <p:nvSpPr>
          <p:cNvPr id="5" name="TextBox 4"/>
          <p:cNvSpPr txBox="1"/>
          <p:nvPr/>
        </p:nvSpPr>
        <p:spPr>
          <a:xfrm>
            <a:off x="268503" y="5180829"/>
            <a:ext cx="2059620" cy="400110"/>
          </a:xfrm>
          <a:prstGeom prst="rect">
            <a:avLst/>
          </a:prstGeom>
          <a:noFill/>
        </p:spPr>
        <p:txBody>
          <a:bodyPr wrap="square" rtlCol="0">
            <a:spAutoFit/>
          </a:bodyPr>
          <a:lstStyle/>
          <a:p>
            <a:r>
              <a:rPr lang="en-US" sz="2000" b="1" dirty="0">
                <a:solidFill>
                  <a:srgbClr val="FFFF00"/>
                </a:solidFill>
              </a:rPr>
              <a:t>Benefits</a:t>
            </a:r>
            <a:endParaRPr lang="en-IN" sz="2000" b="1" dirty="0">
              <a:solidFill>
                <a:srgbClr val="FFFF00"/>
              </a:solidFill>
            </a:endParaRPr>
          </a:p>
        </p:txBody>
      </p:sp>
    </p:spTree>
    <p:extLst>
      <p:ext uri="{BB962C8B-B14F-4D97-AF65-F5344CB8AC3E}">
        <p14:creationId xmlns:p14="http://schemas.microsoft.com/office/powerpoint/2010/main" val="1841655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31</a:t>
            </a:fld>
            <a:endParaRPr lang="en-US" dirty="0"/>
          </a:p>
        </p:txBody>
      </p:sp>
      <p:sp>
        <p:nvSpPr>
          <p:cNvPr id="4" name="TextBox 3"/>
          <p:cNvSpPr txBox="1"/>
          <p:nvPr/>
        </p:nvSpPr>
        <p:spPr>
          <a:xfrm>
            <a:off x="4349809" y="170916"/>
            <a:ext cx="6281159" cy="461665"/>
          </a:xfrm>
          <a:prstGeom prst="rect">
            <a:avLst/>
          </a:prstGeom>
          <a:noFill/>
        </p:spPr>
        <p:txBody>
          <a:bodyPr wrap="square" rtlCol="0">
            <a:spAutoFit/>
          </a:bodyPr>
          <a:lstStyle/>
          <a:p>
            <a:r>
              <a:rPr lang="en-US" sz="2400" b="1" dirty="0">
                <a:solidFill>
                  <a:srgbClr val="FFC000"/>
                </a:solidFill>
              </a:rPr>
              <a:t>Soft starters</a:t>
            </a:r>
            <a:endParaRPr lang="en-IN" sz="2400" b="1" dirty="0">
              <a:solidFill>
                <a:srgbClr val="FFC000"/>
              </a:solidFill>
            </a:endParaRPr>
          </a:p>
        </p:txBody>
      </p:sp>
      <p:sp>
        <p:nvSpPr>
          <p:cNvPr id="5" name="TextBox 4"/>
          <p:cNvSpPr txBox="1"/>
          <p:nvPr/>
        </p:nvSpPr>
        <p:spPr>
          <a:xfrm>
            <a:off x="196551" y="496949"/>
            <a:ext cx="8527571" cy="5663089"/>
          </a:xfrm>
          <a:prstGeom prst="rect">
            <a:avLst/>
          </a:prstGeom>
          <a:noFill/>
        </p:spPr>
        <p:txBody>
          <a:bodyPr wrap="square" rtlCol="0">
            <a:spAutoFit/>
          </a:bodyPr>
          <a:lstStyle/>
          <a:p>
            <a:pPr algn="just"/>
            <a:r>
              <a:rPr lang="en-US" sz="1600" dirty="0">
                <a:solidFill>
                  <a:srgbClr val="FFFF00"/>
                </a:solidFill>
              </a:rPr>
              <a:t>Soft starters </a:t>
            </a:r>
            <a:r>
              <a:rPr lang="en-US" sz="1600" dirty="0"/>
              <a:t>are devices </a:t>
            </a:r>
            <a:r>
              <a:rPr lang="en-US" sz="1600" dirty="0">
                <a:solidFill>
                  <a:srgbClr val="FFFF00"/>
                </a:solidFill>
              </a:rPr>
              <a:t>used to control the voltage and current supplied </a:t>
            </a:r>
            <a:r>
              <a:rPr lang="en-US" sz="1600" dirty="0"/>
              <a:t>to </a:t>
            </a:r>
            <a:r>
              <a:rPr lang="en-US" sz="1600" dirty="0">
                <a:solidFill>
                  <a:srgbClr val="FFFF00"/>
                </a:solidFill>
              </a:rPr>
              <a:t>motors during startup</a:t>
            </a:r>
            <a:r>
              <a:rPr lang="en-US" sz="1600" dirty="0"/>
              <a:t>, ensuring a </a:t>
            </a:r>
            <a:r>
              <a:rPr lang="en-US" sz="1600" dirty="0">
                <a:solidFill>
                  <a:srgbClr val="FFFF00"/>
                </a:solidFill>
              </a:rPr>
              <a:t>smooth acceleration </a:t>
            </a:r>
            <a:r>
              <a:rPr lang="en-US" sz="1600" dirty="0"/>
              <a:t>rather than an </a:t>
            </a:r>
            <a:r>
              <a:rPr lang="en-US" sz="1600" dirty="0">
                <a:solidFill>
                  <a:srgbClr val="FFFF00"/>
                </a:solidFill>
              </a:rPr>
              <a:t>abrupt application of full voltage</a:t>
            </a:r>
            <a:r>
              <a:rPr lang="en-US" sz="1600" dirty="0"/>
              <a:t>. This </a:t>
            </a:r>
            <a:r>
              <a:rPr lang="en-US" sz="1600" dirty="0">
                <a:solidFill>
                  <a:srgbClr val="FFFF00"/>
                </a:solidFill>
              </a:rPr>
              <a:t>helps reduce mechanical stress</a:t>
            </a:r>
            <a:r>
              <a:rPr lang="en-US" sz="1600" dirty="0"/>
              <a:t>, electrical surges, and energy consumption.</a:t>
            </a:r>
          </a:p>
          <a:p>
            <a:pPr algn="just"/>
            <a:endParaRPr lang="en-US" sz="1600" dirty="0"/>
          </a:p>
          <a:p>
            <a:r>
              <a:rPr lang="en-US" sz="1600" b="1" dirty="0">
                <a:solidFill>
                  <a:srgbClr val="FFFF00"/>
                </a:solidFill>
              </a:rPr>
              <a:t>Working</a:t>
            </a:r>
          </a:p>
          <a:p>
            <a:pPr lvl="0" algn="just" defTabSz="914400" eaLnBrk="0" fontAlgn="base" hangingPunct="0">
              <a:spcBef>
                <a:spcPct val="0"/>
              </a:spcBef>
              <a:spcAft>
                <a:spcPct val="0"/>
              </a:spcAft>
              <a:buFontTx/>
              <a:buChar char="•"/>
            </a:pPr>
            <a:r>
              <a:rPr lang="en-US" dirty="0">
                <a:latin typeface="Arial" panose="020B0604020202020204" pitchFamily="34" charset="0"/>
              </a:rPr>
              <a:t>Soft starters use </a:t>
            </a:r>
            <a:r>
              <a:rPr lang="en-US" b="1" dirty="0">
                <a:solidFill>
                  <a:srgbClr val="FFFF00"/>
                </a:solidFill>
                <a:latin typeface="Arial" panose="020B0604020202020204" pitchFamily="34" charset="0"/>
              </a:rPr>
              <a:t>Silicon Controlled Rectifiers (SCRs)</a:t>
            </a:r>
            <a:r>
              <a:rPr lang="en-US" dirty="0">
                <a:solidFill>
                  <a:srgbClr val="FFFF00"/>
                </a:solidFill>
                <a:latin typeface="Arial" panose="020B0604020202020204" pitchFamily="34" charset="0"/>
              </a:rPr>
              <a:t> </a:t>
            </a:r>
            <a:r>
              <a:rPr lang="en-US" dirty="0">
                <a:latin typeface="Arial" panose="020B0604020202020204" pitchFamily="34" charset="0"/>
              </a:rPr>
              <a:t>arranged in pairs for each phase.</a:t>
            </a:r>
          </a:p>
          <a:p>
            <a:pPr lvl="0" algn="just" defTabSz="914400" eaLnBrk="0" fontAlgn="base" hangingPunct="0">
              <a:spcBef>
                <a:spcPct val="0"/>
              </a:spcBef>
              <a:spcAft>
                <a:spcPct val="0"/>
              </a:spcAft>
              <a:buFontTx/>
              <a:buChar char="•"/>
            </a:pPr>
            <a:r>
              <a:rPr lang="en-US" dirty="0">
                <a:latin typeface="Arial" panose="020B0604020202020204" pitchFamily="34" charset="0"/>
              </a:rPr>
              <a:t>These </a:t>
            </a:r>
            <a:r>
              <a:rPr lang="en-US" dirty="0">
                <a:solidFill>
                  <a:srgbClr val="FFFF00"/>
                </a:solidFill>
                <a:latin typeface="Arial" panose="020B0604020202020204" pitchFamily="34" charset="0"/>
              </a:rPr>
              <a:t>SCRs gradually increase the voltage supplied </a:t>
            </a:r>
            <a:r>
              <a:rPr lang="en-US" dirty="0">
                <a:latin typeface="Arial" panose="020B0604020202020204" pitchFamily="34" charset="0"/>
              </a:rPr>
              <a:t>to the motor by controlling the </a:t>
            </a:r>
            <a:r>
              <a:rPr lang="en-US" dirty="0">
                <a:solidFill>
                  <a:srgbClr val="FFFF00"/>
                </a:solidFill>
                <a:latin typeface="Arial" panose="020B0604020202020204" pitchFamily="34" charset="0"/>
              </a:rPr>
              <a:t>firing angle of the AC waveform</a:t>
            </a:r>
            <a:r>
              <a:rPr lang="en-US" dirty="0">
                <a:latin typeface="Arial" panose="020B0604020202020204" pitchFamily="34" charset="0"/>
              </a:rPr>
              <a:t>.</a:t>
            </a:r>
          </a:p>
          <a:p>
            <a:pPr lvl="0" algn="just" defTabSz="914400" eaLnBrk="0" fontAlgn="base" hangingPunct="0">
              <a:spcBef>
                <a:spcPct val="0"/>
              </a:spcBef>
              <a:spcAft>
                <a:spcPct val="0"/>
              </a:spcAft>
              <a:buFontTx/>
              <a:buChar char="•"/>
            </a:pPr>
            <a:r>
              <a:rPr lang="en-US" dirty="0">
                <a:latin typeface="Arial" panose="020B0604020202020204" pitchFamily="34" charset="0"/>
              </a:rPr>
              <a:t>Initially, </a:t>
            </a:r>
            <a:r>
              <a:rPr lang="en-US" dirty="0">
                <a:solidFill>
                  <a:srgbClr val="FFFF00"/>
                </a:solidFill>
                <a:latin typeface="Arial" panose="020B0604020202020204" pitchFamily="34" charset="0"/>
              </a:rPr>
              <a:t>only a fraction of the total voltage is applied</a:t>
            </a:r>
            <a:r>
              <a:rPr lang="en-US" dirty="0">
                <a:latin typeface="Arial" panose="020B0604020202020204" pitchFamily="34" charset="0"/>
              </a:rPr>
              <a:t>, reducing the </a:t>
            </a:r>
            <a:r>
              <a:rPr lang="en-US" dirty="0">
                <a:solidFill>
                  <a:srgbClr val="FFFF00"/>
                </a:solidFill>
                <a:latin typeface="Arial" panose="020B0604020202020204" pitchFamily="34" charset="0"/>
              </a:rPr>
              <a:t>inrush current.</a:t>
            </a:r>
          </a:p>
          <a:p>
            <a:pPr lvl="0" algn="just" defTabSz="914400" eaLnBrk="0" fontAlgn="base" hangingPunct="0">
              <a:spcBef>
                <a:spcPct val="0"/>
              </a:spcBef>
              <a:spcAft>
                <a:spcPct val="0"/>
              </a:spcAft>
              <a:buFontTx/>
              <a:buChar char="•"/>
            </a:pPr>
            <a:r>
              <a:rPr lang="en-US" dirty="0">
                <a:latin typeface="Arial" panose="020B0604020202020204" pitchFamily="34" charset="0"/>
              </a:rPr>
              <a:t>As the </a:t>
            </a:r>
            <a:r>
              <a:rPr lang="en-US" dirty="0">
                <a:solidFill>
                  <a:srgbClr val="FFFF00"/>
                </a:solidFill>
                <a:latin typeface="Arial" panose="020B0604020202020204" pitchFamily="34" charset="0"/>
              </a:rPr>
              <a:t>motor begins to rotate</a:t>
            </a:r>
            <a:r>
              <a:rPr lang="en-US" dirty="0">
                <a:latin typeface="Arial" panose="020B0604020202020204" pitchFamily="34" charset="0"/>
              </a:rPr>
              <a:t>, the </a:t>
            </a:r>
            <a:r>
              <a:rPr lang="en-US" dirty="0">
                <a:solidFill>
                  <a:srgbClr val="FFFF00"/>
                </a:solidFill>
                <a:latin typeface="Arial" panose="020B0604020202020204" pitchFamily="34" charset="0"/>
              </a:rPr>
              <a:t>control system decreases the firing angle</a:t>
            </a:r>
            <a:r>
              <a:rPr lang="en-US" dirty="0">
                <a:latin typeface="Arial" panose="020B0604020202020204" pitchFamily="34" charset="0"/>
              </a:rPr>
              <a:t>, allowing more voltage to pass through.</a:t>
            </a:r>
          </a:p>
          <a:p>
            <a:pPr lvl="0" algn="just" defTabSz="914400" eaLnBrk="0" fontAlgn="base" hangingPunct="0">
              <a:spcBef>
                <a:spcPct val="0"/>
              </a:spcBef>
              <a:spcAft>
                <a:spcPct val="0"/>
              </a:spcAft>
              <a:buFontTx/>
              <a:buChar char="•"/>
            </a:pPr>
            <a:r>
              <a:rPr lang="en-US" dirty="0">
                <a:latin typeface="Arial" panose="020B0604020202020204" pitchFamily="34" charset="0"/>
              </a:rPr>
              <a:t>This </a:t>
            </a:r>
            <a:r>
              <a:rPr lang="en-US" dirty="0">
                <a:solidFill>
                  <a:srgbClr val="FFFF00"/>
                </a:solidFill>
                <a:latin typeface="Arial" panose="020B0604020202020204" pitchFamily="34" charset="0"/>
              </a:rPr>
              <a:t>progressive increase ensures a steady acceleration </a:t>
            </a:r>
            <a:r>
              <a:rPr lang="en-US" dirty="0">
                <a:latin typeface="Arial" panose="020B0604020202020204" pitchFamily="34" charset="0"/>
              </a:rPr>
              <a:t>while preventing sudden torque shocks.</a:t>
            </a:r>
          </a:p>
          <a:p>
            <a:pPr lvl="0" algn="just" defTabSz="914400" eaLnBrk="0" fontAlgn="base" hangingPunct="0">
              <a:spcBef>
                <a:spcPct val="0"/>
              </a:spcBef>
              <a:spcAft>
                <a:spcPct val="0"/>
              </a:spcAft>
              <a:buFontTx/>
              <a:buChar char="•"/>
            </a:pPr>
            <a:r>
              <a:rPr lang="en-US" dirty="0">
                <a:latin typeface="Arial" panose="020B0604020202020204" pitchFamily="34" charset="0"/>
              </a:rPr>
              <a:t>By </a:t>
            </a:r>
            <a:r>
              <a:rPr lang="en-US" dirty="0">
                <a:solidFill>
                  <a:srgbClr val="FFFF00"/>
                </a:solidFill>
                <a:latin typeface="Arial" panose="020B0604020202020204" pitchFamily="34" charset="0"/>
              </a:rPr>
              <a:t>controlling the voltage</a:t>
            </a:r>
            <a:r>
              <a:rPr lang="en-US" dirty="0">
                <a:latin typeface="Arial" panose="020B0604020202020204" pitchFamily="34" charset="0"/>
              </a:rPr>
              <a:t>, </a:t>
            </a:r>
            <a:r>
              <a:rPr lang="en-US" dirty="0">
                <a:solidFill>
                  <a:srgbClr val="FFFF00"/>
                </a:solidFill>
                <a:latin typeface="Arial" panose="020B0604020202020204" pitchFamily="34" charset="0"/>
              </a:rPr>
              <a:t>soft starters limit the startup current</a:t>
            </a:r>
            <a:r>
              <a:rPr lang="en-US" dirty="0">
                <a:latin typeface="Arial" panose="020B0604020202020204" pitchFamily="34" charset="0"/>
              </a:rPr>
              <a:t>, typically </a:t>
            </a:r>
            <a:r>
              <a:rPr lang="en-US" dirty="0">
                <a:solidFill>
                  <a:srgbClr val="FFFF00"/>
                </a:solidFill>
                <a:latin typeface="Arial" panose="020B0604020202020204" pitchFamily="34" charset="0"/>
              </a:rPr>
              <a:t>reducing it to 2-3 times the motor’s rated current </a:t>
            </a:r>
            <a:r>
              <a:rPr lang="en-US" dirty="0">
                <a:latin typeface="Arial" panose="020B0604020202020204" pitchFamily="34" charset="0"/>
              </a:rPr>
              <a:t>instead of the usual 6-8 times seen in direct-on-line (DOL) starters.</a:t>
            </a:r>
          </a:p>
          <a:p>
            <a:pPr lvl="0" algn="just" defTabSz="914400" eaLnBrk="0" fontAlgn="base" hangingPunct="0">
              <a:spcBef>
                <a:spcPct val="0"/>
              </a:spcBef>
              <a:spcAft>
                <a:spcPct val="0"/>
              </a:spcAft>
              <a:buFontTx/>
              <a:buChar char="•"/>
            </a:pPr>
            <a:r>
              <a:rPr lang="en-US" dirty="0">
                <a:latin typeface="Arial" panose="020B0604020202020204" pitchFamily="34" charset="0"/>
              </a:rPr>
              <a:t>This </a:t>
            </a:r>
            <a:r>
              <a:rPr lang="en-US" dirty="0">
                <a:solidFill>
                  <a:srgbClr val="FFFF00"/>
                </a:solidFill>
                <a:latin typeface="Arial" panose="020B0604020202020204" pitchFamily="34" charset="0"/>
              </a:rPr>
              <a:t>prevents excessive torque and stress </a:t>
            </a:r>
            <a:r>
              <a:rPr lang="en-US" dirty="0">
                <a:latin typeface="Arial" panose="020B0604020202020204" pitchFamily="34" charset="0"/>
              </a:rPr>
              <a:t>on </a:t>
            </a:r>
            <a:r>
              <a:rPr lang="en-US" dirty="0">
                <a:solidFill>
                  <a:srgbClr val="FFFF00"/>
                </a:solidFill>
                <a:latin typeface="Arial" panose="020B0604020202020204" pitchFamily="34" charset="0"/>
              </a:rPr>
              <a:t>motor components</a:t>
            </a:r>
            <a:r>
              <a:rPr lang="en-US" dirty="0">
                <a:latin typeface="Arial" panose="020B0604020202020204" pitchFamily="34" charset="0"/>
              </a:rPr>
              <a:t>.</a:t>
            </a:r>
          </a:p>
          <a:p>
            <a:pPr algn="just"/>
            <a:endParaRPr lang="en-US" sz="1600" dirty="0"/>
          </a:p>
          <a:p>
            <a:pPr algn="just"/>
            <a:endParaRPr lang="en-IN" sz="1600" dirty="0"/>
          </a:p>
        </p:txBody>
      </p:sp>
      <p:pic>
        <p:nvPicPr>
          <p:cNvPr id="8" name="Picture 7"/>
          <p:cNvPicPr>
            <a:picLocks noChangeAspect="1"/>
          </p:cNvPicPr>
          <p:nvPr/>
        </p:nvPicPr>
        <p:blipFill>
          <a:blip r:embed="rId2"/>
          <a:stretch>
            <a:fillRect/>
          </a:stretch>
        </p:blipFill>
        <p:spPr>
          <a:xfrm>
            <a:off x="8931086" y="1423446"/>
            <a:ext cx="3064363" cy="2870639"/>
          </a:xfrm>
          <a:prstGeom prst="rect">
            <a:avLst/>
          </a:prstGeom>
        </p:spPr>
      </p:pic>
      <p:sp>
        <p:nvSpPr>
          <p:cNvPr id="9" name="TextBox 8"/>
          <p:cNvSpPr txBox="1"/>
          <p:nvPr/>
        </p:nvSpPr>
        <p:spPr>
          <a:xfrm>
            <a:off x="9410329" y="4386520"/>
            <a:ext cx="2256090" cy="369332"/>
          </a:xfrm>
          <a:prstGeom prst="rect">
            <a:avLst/>
          </a:prstGeom>
          <a:noFill/>
        </p:spPr>
        <p:txBody>
          <a:bodyPr wrap="square" rtlCol="0">
            <a:spAutoFit/>
          </a:bodyPr>
          <a:lstStyle/>
          <a:p>
            <a:pPr algn="ctr"/>
            <a:r>
              <a:rPr lang="en-US" dirty="0"/>
              <a:t>Soft starters</a:t>
            </a:r>
            <a:endParaRPr lang="en-IN" dirty="0"/>
          </a:p>
        </p:txBody>
      </p:sp>
      <p:sp>
        <p:nvSpPr>
          <p:cNvPr id="2" name="TextBox 1"/>
          <p:cNvSpPr txBox="1"/>
          <p:nvPr/>
        </p:nvSpPr>
        <p:spPr>
          <a:xfrm>
            <a:off x="196551" y="5937956"/>
            <a:ext cx="11357363" cy="584775"/>
          </a:xfrm>
          <a:prstGeom prst="rect">
            <a:avLst/>
          </a:prstGeom>
          <a:noFill/>
        </p:spPr>
        <p:txBody>
          <a:bodyPr wrap="square" rtlCol="0">
            <a:spAutoFit/>
          </a:bodyPr>
          <a:lstStyle/>
          <a:p>
            <a:r>
              <a:rPr lang="en-US" sz="1600" b="1" dirty="0"/>
              <a:t>Reduced Mechanical Wear</a:t>
            </a:r>
            <a:r>
              <a:rPr lang="en-US" sz="1600" dirty="0"/>
              <a:t> – Prevents abrupt torque spikes that cause stress on gears, couplings, and bearings. </a:t>
            </a:r>
          </a:p>
          <a:p>
            <a:r>
              <a:rPr lang="en-US" sz="1600" b="1" dirty="0"/>
              <a:t>Lower Power Consumption</a:t>
            </a:r>
            <a:r>
              <a:rPr lang="en-US" sz="1600" dirty="0"/>
              <a:t> – Limits peak current draw, leading to energy savings. </a:t>
            </a:r>
            <a:endParaRPr lang="en-IN" sz="1600" dirty="0"/>
          </a:p>
        </p:txBody>
      </p:sp>
      <p:sp>
        <p:nvSpPr>
          <p:cNvPr id="6" name="TextBox 5"/>
          <p:cNvSpPr txBox="1"/>
          <p:nvPr/>
        </p:nvSpPr>
        <p:spPr>
          <a:xfrm>
            <a:off x="196551" y="5642068"/>
            <a:ext cx="2246051" cy="369332"/>
          </a:xfrm>
          <a:prstGeom prst="rect">
            <a:avLst/>
          </a:prstGeom>
          <a:noFill/>
        </p:spPr>
        <p:txBody>
          <a:bodyPr wrap="square" rtlCol="0">
            <a:spAutoFit/>
          </a:bodyPr>
          <a:lstStyle/>
          <a:p>
            <a:r>
              <a:rPr lang="en-US" b="1" dirty="0">
                <a:solidFill>
                  <a:srgbClr val="FFFF00"/>
                </a:solidFill>
              </a:rPr>
              <a:t>Benefits</a:t>
            </a:r>
            <a:endParaRPr lang="en-IN" b="1" dirty="0">
              <a:solidFill>
                <a:srgbClr val="FFFF00"/>
              </a:solidFill>
            </a:endParaRPr>
          </a:p>
        </p:txBody>
      </p:sp>
    </p:spTree>
    <p:extLst>
      <p:ext uri="{BB962C8B-B14F-4D97-AF65-F5344CB8AC3E}">
        <p14:creationId xmlns:p14="http://schemas.microsoft.com/office/powerpoint/2010/main" val="1361901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32</a:t>
            </a:fld>
            <a:endParaRPr lang="en-US" dirty="0"/>
          </a:p>
        </p:txBody>
      </p:sp>
      <p:sp>
        <p:nvSpPr>
          <p:cNvPr id="4" name="TextBox 3"/>
          <p:cNvSpPr txBox="1"/>
          <p:nvPr/>
        </p:nvSpPr>
        <p:spPr>
          <a:xfrm>
            <a:off x="1619339" y="64896"/>
            <a:ext cx="6486258" cy="461665"/>
          </a:xfrm>
          <a:prstGeom prst="rect">
            <a:avLst/>
          </a:prstGeom>
          <a:noFill/>
        </p:spPr>
        <p:txBody>
          <a:bodyPr wrap="square" rtlCol="0">
            <a:spAutoFit/>
          </a:bodyPr>
          <a:lstStyle/>
          <a:p>
            <a:pPr algn="ctr"/>
            <a:r>
              <a:rPr lang="en-US" sz="2400" b="1" dirty="0">
                <a:solidFill>
                  <a:srgbClr val="FFC000"/>
                </a:solidFill>
              </a:rPr>
              <a:t>Energy Efficient transformer</a:t>
            </a:r>
            <a:endParaRPr lang="en-IN" sz="2400" b="1" dirty="0">
              <a:solidFill>
                <a:srgbClr val="FFC000"/>
              </a:solidFill>
            </a:endParaRPr>
          </a:p>
        </p:txBody>
      </p:sp>
      <p:sp>
        <p:nvSpPr>
          <p:cNvPr id="5" name="TextBox 4"/>
          <p:cNvSpPr txBox="1"/>
          <p:nvPr/>
        </p:nvSpPr>
        <p:spPr>
          <a:xfrm>
            <a:off x="142486" y="474167"/>
            <a:ext cx="7823346" cy="4770537"/>
          </a:xfrm>
          <a:prstGeom prst="rect">
            <a:avLst/>
          </a:prstGeom>
          <a:noFill/>
        </p:spPr>
        <p:txBody>
          <a:bodyPr wrap="square" rtlCol="0">
            <a:spAutoFit/>
          </a:bodyPr>
          <a:lstStyle/>
          <a:p>
            <a:pPr algn="just"/>
            <a:r>
              <a:rPr lang="en-US" sz="1600" dirty="0"/>
              <a:t>An </a:t>
            </a:r>
            <a:r>
              <a:rPr lang="en-US" sz="1600" b="1" dirty="0">
                <a:solidFill>
                  <a:srgbClr val="FFFF00"/>
                </a:solidFill>
              </a:rPr>
              <a:t>energy-efficient transformer</a:t>
            </a:r>
            <a:r>
              <a:rPr lang="en-US" sz="1600" dirty="0">
                <a:solidFill>
                  <a:srgbClr val="FFFF00"/>
                </a:solidFill>
              </a:rPr>
              <a:t> </a:t>
            </a:r>
            <a:r>
              <a:rPr lang="en-US" sz="1600" dirty="0"/>
              <a:t>operates on the </a:t>
            </a:r>
            <a:r>
              <a:rPr lang="en-US" sz="1600" dirty="0">
                <a:solidFill>
                  <a:srgbClr val="FFFF00"/>
                </a:solidFill>
              </a:rPr>
              <a:t>same fundamental principles </a:t>
            </a:r>
            <a:r>
              <a:rPr lang="en-US" sz="1600" dirty="0"/>
              <a:t>as a </a:t>
            </a:r>
            <a:r>
              <a:rPr lang="en-US" sz="1600" dirty="0">
                <a:solidFill>
                  <a:srgbClr val="FFFF00"/>
                </a:solidFill>
              </a:rPr>
              <a:t>conventional transformer</a:t>
            </a:r>
            <a:r>
              <a:rPr lang="en-US" sz="1600" dirty="0"/>
              <a:t> but is designed to </a:t>
            </a:r>
            <a:r>
              <a:rPr lang="en-US" sz="1600" dirty="0">
                <a:solidFill>
                  <a:srgbClr val="FFFF00"/>
                </a:solidFill>
              </a:rPr>
              <a:t>minimize energy losses </a:t>
            </a:r>
            <a:r>
              <a:rPr lang="en-US" sz="1600" dirty="0"/>
              <a:t>and improve efficiency.</a:t>
            </a:r>
          </a:p>
          <a:p>
            <a:pPr algn="just"/>
            <a:endParaRPr lang="en-US" sz="1600" b="1" dirty="0">
              <a:solidFill>
                <a:srgbClr val="FFFF00"/>
              </a:solidFill>
            </a:endParaRPr>
          </a:p>
          <a:p>
            <a:pPr algn="just"/>
            <a:r>
              <a:rPr lang="en-US" sz="1600" b="1" dirty="0">
                <a:solidFill>
                  <a:srgbClr val="FFFF00"/>
                </a:solidFill>
              </a:rPr>
              <a:t>Working</a:t>
            </a:r>
          </a:p>
          <a:p>
            <a:pPr marL="285750" indent="-285750" algn="just">
              <a:buFont typeface="Wingdings" panose="05000000000000000000" pitchFamily="2" charset="2"/>
              <a:buChar char="§"/>
            </a:pPr>
            <a:r>
              <a:rPr lang="en-US" sz="1600" dirty="0"/>
              <a:t>Like all transformers, </a:t>
            </a:r>
            <a:r>
              <a:rPr lang="en-US" sz="1600" dirty="0">
                <a:solidFill>
                  <a:srgbClr val="FFFF00"/>
                </a:solidFill>
              </a:rPr>
              <a:t>it relies on </a:t>
            </a:r>
            <a:r>
              <a:rPr lang="en-US" sz="1600" b="1" dirty="0">
                <a:solidFill>
                  <a:srgbClr val="FFFF00"/>
                </a:solidFill>
              </a:rPr>
              <a:t>Faraday’s Law of Electromagnetic Induction</a:t>
            </a:r>
            <a:r>
              <a:rPr lang="en-US" sz="1600" dirty="0">
                <a:solidFill>
                  <a:srgbClr val="FFFF00"/>
                </a:solidFill>
              </a:rPr>
              <a:t> </a:t>
            </a:r>
            <a:r>
              <a:rPr lang="en-US" sz="1600" dirty="0"/>
              <a:t>to </a:t>
            </a:r>
            <a:r>
              <a:rPr lang="en-US" sz="1600" dirty="0">
                <a:solidFill>
                  <a:srgbClr val="FFFF00"/>
                </a:solidFill>
              </a:rPr>
              <a:t>transfer electrical energy </a:t>
            </a:r>
            <a:r>
              <a:rPr lang="en-US" sz="1600" dirty="0"/>
              <a:t>between </a:t>
            </a:r>
            <a:r>
              <a:rPr lang="en-US" sz="1600" dirty="0">
                <a:solidFill>
                  <a:srgbClr val="FFFF00"/>
                </a:solidFill>
              </a:rPr>
              <a:t>primary and secondary windings </a:t>
            </a:r>
            <a:r>
              <a:rPr lang="en-US" sz="1600" dirty="0"/>
              <a:t>without direct electrical connection.</a:t>
            </a:r>
          </a:p>
          <a:p>
            <a:pPr marL="285750" indent="-285750" algn="just">
              <a:buFont typeface="Wingdings" panose="05000000000000000000" pitchFamily="2" charset="2"/>
              <a:buChar char="§"/>
            </a:pPr>
            <a:r>
              <a:rPr lang="en-US" sz="1600" dirty="0"/>
              <a:t>Instead of </a:t>
            </a:r>
            <a:r>
              <a:rPr lang="en-US" sz="1600" dirty="0">
                <a:solidFill>
                  <a:srgbClr val="FFFF00"/>
                </a:solidFill>
              </a:rPr>
              <a:t>standard iron cores</a:t>
            </a:r>
            <a:r>
              <a:rPr lang="en-US" sz="1600" dirty="0"/>
              <a:t>, energy-efficient transformers use </a:t>
            </a:r>
            <a:r>
              <a:rPr lang="en-US" sz="1600" b="1" dirty="0">
                <a:solidFill>
                  <a:srgbClr val="FFFF00"/>
                </a:solidFill>
              </a:rPr>
              <a:t>amorphous metal cores</a:t>
            </a:r>
            <a:r>
              <a:rPr lang="en-US" sz="1600" dirty="0">
                <a:solidFill>
                  <a:srgbClr val="FFFF00"/>
                </a:solidFill>
              </a:rPr>
              <a:t> or </a:t>
            </a:r>
            <a:r>
              <a:rPr lang="en-US" sz="1600" b="1" dirty="0">
                <a:solidFill>
                  <a:srgbClr val="FFFF00"/>
                </a:solidFill>
              </a:rPr>
              <a:t>high-permeability silicon steel</a:t>
            </a:r>
            <a:r>
              <a:rPr lang="en-US" sz="1600" dirty="0">
                <a:solidFill>
                  <a:srgbClr val="FFFF00"/>
                </a:solidFill>
              </a:rPr>
              <a:t> </a:t>
            </a:r>
            <a:r>
              <a:rPr lang="en-US" sz="1600" dirty="0"/>
              <a:t>to reduce </a:t>
            </a:r>
            <a:r>
              <a:rPr lang="en-US" sz="1600" b="1" dirty="0">
                <a:solidFill>
                  <a:srgbClr val="FFFF00"/>
                </a:solidFill>
              </a:rPr>
              <a:t>hysteresis losses</a:t>
            </a:r>
            <a:r>
              <a:rPr lang="en-US" sz="1600" dirty="0">
                <a:solidFill>
                  <a:srgbClr val="FFFF00"/>
                </a:solidFill>
              </a:rPr>
              <a:t> </a:t>
            </a:r>
            <a:r>
              <a:rPr lang="en-US" sz="1600" dirty="0"/>
              <a:t>(energy lost due to repeated magnetization and demagnetization).</a:t>
            </a:r>
          </a:p>
          <a:p>
            <a:pPr marL="285750" indent="-285750" algn="just">
              <a:buFont typeface="Wingdings" panose="05000000000000000000" pitchFamily="2" charset="2"/>
              <a:buChar char="§"/>
            </a:pPr>
            <a:r>
              <a:rPr lang="en-US" sz="1600" dirty="0"/>
              <a:t>The </a:t>
            </a:r>
            <a:r>
              <a:rPr lang="en-US" sz="1600" dirty="0">
                <a:solidFill>
                  <a:srgbClr val="FFFF00"/>
                </a:solidFill>
              </a:rPr>
              <a:t>windings are made from low-resistance copper </a:t>
            </a:r>
            <a:r>
              <a:rPr lang="en-US" sz="1600" dirty="0"/>
              <a:t>or aluminum to </a:t>
            </a:r>
            <a:r>
              <a:rPr lang="en-US" sz="1600" dirty="0">
                <a:solidFill>
                  <a:srgbClr val="FFFF00"/>
                </a:solidFill>
              </a:rPr>
              <a:t>reduce I²R losses </a:t>
            </a:r>
            <a:r>
              <a:rPr lang="en-US" sz="1600" dirty="0"/>
              <a:t>(heat generated due to electrical resistance). Some designs use </a:t>
            </a:r>
            <a:r>
              <a:rPr lang="en-US" sz="1600" dirty="0">
                <a:solidFill>
                  <a:srgbClr val="FFFF00"/>
                </a:solidFill>
              </a:rPr>
              <a:t>foil or continuously transposed conductors (CTC) to improve efficiency.</a:t>
            </a:r>
          </a:p>
          <a:p>
            <a:pPr marL="285750" indent="-285750" algn="just">
              <a:buFont typeface="Wingdings" panose="05000000000000000000" pitchFamily="2" charset="2"/>
              <a:buChar char="§"/>
            </a:pPr>
            <a:r>
              <a:rPr lang="en-US" sz="1600" dirty="0"/>
              <a:t>Energy-efficient transformers </a:t>
            </a:r>
            <a:r>
              <a:rPr lang="en-US" sz="1600" dirty="0">
                <a:solidFill>
                  <a:srgbClr val="FFFF00"/>
                </a:solidFill>
              </a:rPr>
              <a:t>integrate </a:t>
            </a:r>
            <a:r>
              <a:rPr lang="en-US" sz="1600" b="1" dirty="0">
                <a:solidFill>
                  <a:srgbClr val="FFFF00"/>
                </a:solidFill>
              </a:rPr>
              <a:t>smart sensors</a:t>
            </a:r>
            <a:r>
              <a:rPr lang="en-US" sz="1600" dirty="0">
                <a:solidFill>
                  <a:srgbClr val="FFFF00"/>
                </a:solidFill>
              </a:rPr>
              <a:t> </a:t>
            </a:r>
            <a:r>
              <a:rPr lang="en-US" sz="1600" dirty="0"/>
              <a:t>and </a:t>
            </a:r>
            <a:r>
              <a:rPr lang="en-US" sz="1600" b="1" dirty="0">
                <a:solidFill>
                  <a:srgbClr val="FFFF00"/>
                </a:solidFill>
              </a:rPr>
              <a:t>load management systems</a:t>
            </a:r>
            <a:r>
              <a:rPr lang="en-US" sz="1600" dirty="0">
                <a:solidFill>
                  <a:srgbClr val="FFFF00"/>
                </a:solidFill>
              </a:rPr>
              <a:t> to optimize power distribution </a:t>
            </a:r>
            <a:r>
              <a:rPr lang="en-US" sz="1600" dirty="0"/>
              <a:t>and reduce </a:t>
            </a:r>
            <a:r>
              <a:rPr lang="en-US" sz="1600" dirty="0">
                <a:solidFill>
                  <a:srgbClr val="FFFF00"/>
                </a:solidFill>
              </a:rPr>
              <a:t>unnecessary energy consumption</a:t>
            </a:r>
            <a:r>
              <a:rPr lang="en-US" sz="1600" dirty="0"/>
              <a:t>.</a:t>
            </a:r>
            <a:endParaRPr lang="en-IN" sz="1600" dirty="0"/>
          </a:p>
        </p:txBody>
      </p:sp>
      <p:sp>
        <p:nvSpPr>
          <p:cNvPr id="7" name="Rectangle 6"/>
          <p:cNvSpPr/>
          <p:nvPr/>
        </p:nvSpPr>
        <p:spPr>
          <a:xfrm>
            <a:off x="309540" y="5448932"/>
            <a:ext cx="7656292" cy="1077218"/>
          </a:xfrm>
          <a:prstGeom prst="rect">
            <a:avLst/>
          </a:prstGeom>
        </p:spPr>
        <p:txBody>
          <a:bodyPr wrap="square">
            <a:spAutoFit/>
          </a:bodyPr>
          <a:lstStyle/>
          <a:p>
            <a:r>
              <a:rPr lang="en-US" sz="1600" b="1" dirty="0"/>
              <a:t>Lower Energy Losses</a:t>
            </a:r>
            <a:r>
              <a:rPr lang="en-US" sz="1600" dirty="0"/>
              <a:t> – Reduces power wastage, leading to cost savings. </a:t>
            </a:r>
          </a:p>
          <a:p>
            <a:r>
              <a:rPr lang="en-US" sz="1600" b="1" dirty="0"/>
              <a:t>Improved Lifespan</a:t>
            </a:r>
            <a:r>
              <a:rPr lang="en-US" sz="1600" dirty="0"/>
              <a:t> – Less heat generation means longer operational life. </a:t>
            </a:r>
          </a:p>
          <a:p>
            <a:r>
              <a:rPr lang="en-US" sz="1600" b="1" dirty="0"/>
              <a:t>Environmental Benefits</a:t>
            </a:r>
            <a:r>
              <a:rPr lang="en-US" sz="1600" dirty="0"/>
              <a:t> – Lower carbon footprint due to reduced energy consumption. </a:t>
            </a:r>
            <a:endParaRPr lang="en-IN" sz="1600" dirty="0"/>
          </a:p>
        </p:txBody>
      </p:sp>
      <p:sp>
        <p:nvSpPr>
          <p:cNvPr id="8" name="TextBox 7"/>
          <p:cNvSpPr txBox="1"/>
          <p:nvPr/>
        </p:nvSpPr>
        <p:spPr>
          <a:xfrm>
            <a:off x="309540" y="5131471"/>
            <a:ext cx="2391507" cy="369332"/>
          </a:xfrm>
          <a:prstGeom prst="rect">
            <a:avLst/>
          </a:prstGeom>
          <a:noFill/>
        </p:spPr>
        <p:txBody>
          <a:bodyPr wrap="square" rtlCol="0">
            <a:spAutoFit/>
          </a:bodyPr>
          <a:lstStyle/>
          <a:p>
            <a:r>
              <a:rPr lang="en-US" b="1" dirty="0">
                <a:solidFill>
                  <a:srgbClr val="FFFF00"/>
                </a:solidFill>
              </a:rPr>
              <a:t>Benefits</a:t>
            </a:r>
            <a:endParaRPr lang="en-IN" b="1" dirty="0">
              <a:solidFill>
                <a:srgbClr val="FFFF00"/>
              </a:solidFill>
            </a:endParaRPr>
          </a:p>
        </p:txBody>
      </p:sp>
      <p:pic>
        <p:nvPicPr>
          <p:cNvPr id="9" name="Picture 8"/>
          <p:cNvPicPr>
            <a:picLocks noChangeAspect="1"/>
          </p:cNvPicPr>
          <p:nvPr/>
        </p:nvPicPr>
        <p:blipFill>
          <a:blip r:embed="rId2"/>
          <a:stretch>
            <a:fillRect/>
          </a:stretch>
        </p:blipFill>
        <p:spPr>
          <a:xfrm>
            <a:off x="8245361" y="1204093"/>
            <a:ext cx="3886200" cy="5048250"/>
          </a:xfrm>
          <a:prstGeom prst="rect">
            <a:avLst/>
          </a:prstGeom>
        </p:spPr>
      </p:pic>
      <p:sp>
        <p:nvSpPr>
          <p:cNvPr id="10" name="TextBox 9"/>
          <p:cNvSpPr txBox="1"/>
          <p:nvPr/>
        </p:nvSpPr>
        <p:spPr>
          <a:xfrm>
            <a:off x="8106507" y="6356873"/>
            <a:ext cx="4343400" cy="338554"/>
          </a:xfrm>
          <a:prstGeom prst="rect">
            <a:avLst/>
          </a:prstGeom>
          <a:noFill/>
        </p:spPr>
        <p:txBody>
          <a:bodyPr wrap="square" rtlCol="0">
            <a:spAutoFit/>
          </a:bodyPr>
          <a:lstStyle/>
          <a:p>
            <a:r>
              <a:rPr lang="en-US" sz="1600" dirty="0"/>
              <a:t>1600 kVA amorphous core transformer</a:t>
            </a:r>
            <a:endParaRPr lang="en-IN" sz="1600" dirty="0"/>
          </a:p>
        </p:txBody>
      </p:sp>
    </p:spTree>
    <p:extLst>
      <p:ext uri="{BB962C8B-B14F-4D97-AF65-F5344CB8AC3E}">
        <p14:creationId xmlns:p14="http://schemas.microsoft.com/office/powerpoint/2010/main" val="28470202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33</a:t>
            </a:fld>
            <a:endParaRPr lang="en-US" dirty="0"/>
          </a:p>
        </p:txBody>
      </p:sp>
      <p:sp>
        <p:nvSpPr>
          <p:cNvPr id="4" name="TextBox 3"/>
          <p:cNvSpPr txBox="1"/>
          <p:nvPr/>
        </p:nvSpPr>
        <p:spPr>
          <a:xfrm>
            <a:off x="3163077" y="64896"/>
            <a:ext cx="4572000" cy="461665"/>
          </a:xfrm>
          <a:prstGeom prst="rect">
            <a:avLst/>
          </a:prstGeom>
          <a:noFill/>
        </p:spPr>
        <p:txBody>
          <a:bodyPr wrap="square" rtlCol="0">
            <a:spAutoFit/>
          </a:bodyPr>
          <a:lstStyle/>
          <a:p>
            <a:r>
              <a:rPr lang="en-US" sz="2400" b="1" dirty="0">
                <a:solidFill>
                  <a:srgbClr val="FFFF00"/>
                </a:solidFill>
              </a:rPr>
              <a:t>Electronic Ballast</a:t>
            </a:r>
            <a:endParaRPr lang="en-IN" sz="2400" b="1" dirty="0">
              <a:solidFill>
                <a:srgbClr val="FFFF00"/>
              </a:solidFill>
            </a:endParaRPr>
          </a:p>
        </p:txBody>
      </p:sp>
      <p:sp>
        <p:nvSpPr>
          <p:cNvPr id="5" name="TextBox 4"/>
          <p:cNvSpPr txBox="1"/>
          <p:nvPr/>
        </p:nvSpPr>
        <p:spPr>
          <a:xfrm>
            <a:off x="123383" y="526561"/>
            <a:ext cx="7959013" cy="5586145"/>
          </a:xfrm>
          <a:prstGeom prst="rect">
            <a:avLst/>
          </a:prstGeom>
          <a:noFill/>
        </p:spPr>
        <p:txBody>
          <a:bodyPr wrap="square" rtlCol="0">
            <a:spAutoFit/>
          </a:bodyPr>
          <a:lstStyle/>
          <a:p>
            <a:r>
              <a:rPr lang="en-US" sz="1700" dirty="0"/>
              <a:t>Electronic ballasts use semiconductor components to convert AC power into a high-frequency AC signal, typically ranging from </a:t>
            </a:r>
            <a:r>
              <a:rPr lang="en-US" sz="1700" b="1" dirty="0"/>
              <a:t>20 kHz to 60 kHz</a:t>
            </a:r>
            <a:r>
              <a:rPr lang="en-US" sz="1700" dirty="0"/>
              <a:t>, rather than the traditional </a:t>
            </a:r>
            <a:r>
              <a:rPr lang="en-US" sz="1700" b="1" dirty="0"/>
              <a:t>50 Hz or 60 Hz</a:t>
            </a:r>
            <a:r>
              <a:rPr lang="en-US" sz="1700" dirty="0"/>
              <a:t> power supply. This high-frequency operation reduces flickering, enhances brightness, and extends the life of the lamp.</a:t>
            </a:r>
          </a:p>
          <a:p>
            <a:endParaRPr lang="en-US" sz="1700" dirty="0"/>
          </a:p>
          <a:p>
            <a:r>
              <a:rPr lang="en-US" sz="1700" b="1" dirty="0"/>
              <a:t>Working</a:t>
            </a:r>
          </a:p>
          <a:p>
            <a:pPr marL="285750" indent="-285750">
              <a:buFont typeface="Arial" panose="020B0604020202020204" pitchFamily="34" charset="0"/>
              <a:buChar char="•"/>
            </a:pPr>
            <a:r>
              <a:rPr lang="en-US" sz="1700" dirty="0"/>
              <a:t>The ballast first converts the </a:t>
            </a:r>
            <a:r>
              <a:rPr lang="en-US" sz="1700" b="1" dirty="0"/>
              <a:t>incoming AC power</a:t>
            </a:r>
            <a:r>
              <a:rPr lang="en-US" sz="1700" dirty="0"/>
              <a:t> into </a:t>
            </a:r>
            <a:r>
              <a:rPr lang="en-US" sz="1700" b="1" dirty="0"/>
              <a:t>DC power</a:t>
            </a:r>
            <a:r>
              <a:rPr lang="en-US" sz="1700" dirty="0"/>
              <a:t> using a </a:t>
            </a:r>
            <a:r>
              <a:rPr lang="en-US" sz="1700" b="1" dirty="0"/>
              <a:t>bridge rectifier and capacitor</a:t>
            </a:r>
            <a:r>
              <a:rPr lang="en-US" sz="1700" dirty="0"/>
              <a:t>.</a:t>
            </a:r>
          </a:p>
          <a:p>
            <a:pPr marL="285750" indent="-285750">
              <a:buFont typeface="Arial" panose="020B0604020202020204" pitchFamily="34" charset="0"/>
              <a:buChar char="•"/>
            </a:pPr>
            <a:r>
              <a:rPr lang="en-US" sz="1700" dirty="0"/>
              <a:t>A </a:t>
            </a:r>
            <a:r>
              <a:rPr lang="en-US" sz="1700" b="1" dirty="0"/>
              <a:t>DC-to-AC inverter</a:t>
            </a:r>
            <a:r>
              <a:rPr lang="en-US" sz="1700" dirty="0"/>
              <a:t> inside the ballast generates high-frequency AC.</a:t>
            </a:r>
          </a:p>
          <a:p>
            <a:pPr marL="285750" indent="-285750">
              <a:buFont typeface="Arial" panose="020B0604020202020204" pitchFamily="34" charset="0"/>
              <a:buChar char="•"/>
            </a:pPr>
            <a:r>
              <a:rPr lang="en-US" sz="1700" dirty="0"/>
              <a:t>Before igniting the lamp (</a:t>
            </a:r>
            <a:r>
              <a:rPr lang="en-IN" sz="1700" dirty="0"/>
              <a:t>for fluorescent lamps)</a:t>
            </a:r>
            <a:r>
              <a:rPr lang="en-US" sz="1700" dirty="0"/>
              <a:t>, the ballast sends a small current to preheat the </a:t>
            </a:r>
            <a:r>
              <a:rPr lang="en-US" sz="1700" b="1" dirty="0"/>
              <a:t>lamp electrodes</a:t>
            </a:r>
            <a:r>
              <a:rPr lang="en-US" sz="1700" dirty="0"/>
              <a:t>.</a:t>
            </a:r>
          </a:p>
          <a:p>
            <a:pPr marL="285750" indent="-285750">
              <a:buFont typeface="Arial" panose="020B0604020202020204" pitchFamily="34" charset="0"/>
              <a:buChar char="•"/>
            </a:pPr>
            <a:r>
              <a:rPr lang="en-US" sz="1700" dirty="0"/>
              <a:t>The ballast applies a </a:t>
            </a:r>
            <a:r>
              <a:rPr lang="en-US" sz="1700" b="1" dirty="0"/>
              <a:t>high voltage pulse</a:t>
            </a:r>
            <a:r>
              <a:rPr lang="en-US" sz="1700" dirty="0"/>
              <a:t> across the lamp to </a:t>
            </a:r>
            <a:r>
              <a:rPr lang="en-US" sz="1700" b="1" dirty="0"/>
              <a:t>ignite the gas inside</a:t>
            </a:r>
            <a:r>
              <a:rPr lang="en-US" sz="1700" dirty="0"/>
              <a:t>.</a:t>
            </a:r>
          </a:p>
          <a:p>
            <a:pPr marL="285750" indent="-285750">
              <a:buFont typeface="Arial" panose="020B0604020202020204" pitchFamily="34" charset="0"/>
              <a:buChar char="•"/>
            </a:pPr>
            <a:r>
              <a:rPr lang="en-US" sz="1700" dirty="0"/>
              <a:t>Once the lamp is lit, the ballast </a:t>
            </a:r>
            <a:r>
              <a:rPr lang="en-US" sz="1700" b="1" dirty="0"/>
              <a:t>maintains a steady current flow</a:t>
            </a:r>
            <a:r>
              <a:rPr lang="en-US" sz="1700" dirty="0"/>
              <a:t> to ensure efficient operation.</a:t>
            </a:r>
          </a:p>
          <a:p>
            <a:endParaRPr lang="en-US" sz="1700" dirty="0"/>
          </a:p>
          <a:p>
            <a:r>
              <a:rPr lang="en-US" sz="1700" b="1" dirty="0"/>
              <a:t>Benefits</a:t>
            </a:r>
          </a:p>
          <a:p>
            <a:pPr marL="285750" indent="-285750">
              <a:buFont typeface="Arial" panose="020B0604020202020204" pitchFamily="34" charset="0"/>
              <a:buChar char="•"/>
            </a:pPr>
            <a:r>
              <a:rPr lang="en-US" sz="1700" dirty="0"/>
              <a:t>Energy Efficiency: Uses less power than magnetic ballasts.</a:t>
            </a:r>
          </a:p>
          <a:p>
            <a:pPr marL="285750" indent="-285750">
              <a:buFont typeface="Arial" panose="020B0604020202020204" pitchFamily="34" charset="0"/>
              <a:buChar char="•"/>
            </a:pPr>
            <a:r>
              <a:rPr lang="en-US" sz="1700" dirty="0"/>
              <a:t>Flicker-Free Operation: Produces a constant and stable light output.</a:t>
            </a:r>
          </a:p>
          <a:p>
            <a:pPr marL="285750" indent="-285750">
              <a:buFont typeface="Arial" panose="020B0604020202020204" pitchFamily="34" charset="0"/>
              <a:buChar char="•"/>
            </a:pPr>
            <a:r>
              <a:rPr lang="en-US" sz="1700" dirty="0"/>
              <a:t>Compact &amp; Lightweight: Smaller in size compared to magnetic ballasts.</a:t>
            </a:r>
            <a:endParaRPr lang="en-IN" sz="1700" dirty="0"/>
          </a:p>
        </p:txBody>
      </p:sp>
      <p:pic>
        <p:nvPicPr>
          <p:cNvPr id="7" name="Picture 6"/>
          <p:cNvPicPr>
            <a:picLocks noChangeAspect="1"/>
          </p:cNvPicPr>
          <p:nvPr/>
        </p:nvPicPr>
        <p:blipFill rotWithShape="1">
          <a:blip r:embed="rId2"/>
          <a:srcRect l="13087" t="7146"/>
          <a:stretch/>
        </p:blipFill>
        <p:spPr>
          <a:xfrm>
            <a:off x="8082396" y="1707503"/>
            <a:ext cx="4090942" cy="2151766"/>
          </a:xfrm>
          <a:prstGeom prst="rect">
            <a:avLst/>
          </a:prstGeom>
        </p:spPr>
      </p:pic>
      <p:sp>
        <p:nvSpPr>
          <p:cNvPr id="8" name="TextBox 7"/>
          <p:cNvSpPr txBox="1"/>
          <p:nvPr/>
        </p:nvSpPr>
        <p:spPr>
          <a:xfrm>
            <a:off x="8901404" y="4021494"/>
            <a:ext cx="2407298" cy="369332"/>
          </a:xfrm>
          <a:prstGeom prst="rect">
            <a:avLst/>
          </a:prstGeom>
          <a:noFill/>
        </p:spPr>
        <p:txBody>
          <a:bodyPr wrap="square" rtlCol="0">
            <a:spAutoFit/>
          </a:bodyPr>
          <a:lstStyle/>
          <a:p>
            <a:r>
              <a:rPr lang="en-US" dirty="0"/>
              <a:t>Electronic Ballast</a:t>
            </a:r>
            <a:endParaRPr lang="en-IN" dirty="0"/>
          </a:p>
        </p:txBody>
      </p:sp>
    </p:spTree>
    <p:extLst>
      <p:ext uri="{BB962C8B-B14F-4D97-AF65-F5344CB8AC3E}">
        <p14:creationId xmlns:p14="http://schemas.microsoft.com/office/powerpoint/2010/main" val="28069027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B26A9D2-BB6E-0DC3-438C-050CCBF35F72}"/>
              </a:ext>
            </a:extLst>
          </p:cNvPr>
          <p:cNvSpPr>
            <a:spLocks noGrp="1"/>
          </p:cNvSpPr>
          <p:nvPr>
            <p:ph type="sldNum" sz="quarter" idx="12"/>
          </p:nvPr>
        </p:nvSpPr>
        <p:spPr/>
        <p:txBody>
          <a:bodyPr/>
          <a:lstStyle/>
          <a:p>
            <a:fld id="{D57F1E4F-1CFF-5643-939E-02111984F565}" type="slidenum">
              <a:rPr lang="en-US" smtClean="0"/>
              <a:pPr/>
              <a:t>34</a:t>
            </a:fld>
            <a:endParaRPr lang="en-US" dirty="0"/>
          </a:p>
        </p:txBody>
      </p:sp>
      <p:sp>
        <p:nvSpPr>
          <p:cNvPr id="5" name="TextBox 4">
            <a:extLst>
              <a:ext uri="{FF2B5EF4-FFF2-40B4-BE49-F238E27FC236}">
                <a16:creationId xmlns:a16="http://schemas.microsoft.com/office/drawing/2014/main" id="{5AA9209C-A329-6097-6D92-FE5CFC509BF2}"/>
              </a:ext>
            </a:extLst>
          </p:cNvPr>
          <p:cNvSpPr txBox="1"/>
          <p:nvPr/>
        </p:nvSpPr>
        <p:spPr>
          <a:xfrm>
            <a:off x="618119" y="463251"/>
            <a:ext cx="9404722" cy="1200329"/>
          </a:xfrm>
          <a:prstGeom prst="rect">
            <a:avLst/>
          </a:prstGeom>
          <a:noFill/>
        </p:spPr>
        <p:txBody>
          <a:bodyPr wrap="square">
            <a:spAutoFit/>
          </a:bodyPr>
          <a:lstStyle/>
          <a:p>
            <a:pPr>
              <a:buNone/>
            </a:pPr>
            <a:r>
              <a:rPr lang="en-US" dirty="0">
                <a:solidFill>
                  <a:srgbClr val="FFFF00"/>
                </a:solidFill>
                <a:effectLst/>
              </a:rPr>
              <a:t>5. Variable Frequency Drives (VFDs) or Variable Speed Drives (VSDs) </a:t>
            </a:r>
            <a:r>
              <a:rPr lang="en-US" dirty="0">
                <a:effectLst/>
              </a:rPr>
              <a:t>— Adjust motor speed to match actual load requirements (especially for pumps, fans, and compressors), achieving energy savings of 20–50% or more compared to constant-speed operation.</a:t>
            </a:r>
          </a:p>
        </p:txBody>
      </p:sp>
      <p:sp>
        <p:nvSpPr>
          <p:cNvPr id="9" name="TextBox 8">
            <a:extLst>
              <a:ext uri="{FF2B5EF4-FFF2-40B4-BE49-F238E27FC236}">
                <a16:creationId xmlns:a16="http://schemas.microsoft.com/office/drawing/2014/main" id="{16CE3C0B-D48E-17F2-06BB-6B3C89C5E6E5}"/>
              </a:ext>
            </a:extLst>
          </p:cNvPr>
          <p:cNvSpPr txBox="1"/>
          <p:nvPr/>
        </p:nvSpPr>
        <p:spPr>
          <a:xfrm>
            <a:off x="618119" y="1875969"/>
            <a:ext cx="10462951" cy="2308324"/>
          </a:xfrm>
          <a:prstGeom prst="rect">
            <a:avLst/>
          </a:prstGeom>
          <a:noFill/>
        </p:spPr>
        <p:txBody>
          <a:bodyPr wrap="square">
            <a:spAutoFit/>
          </a:bodyPr>
          <a:lstStyle/>
          <a:p>
            <a:pPr>
              <a:buNone/>
            </a:pPr>
            <a:r>
              <a:rPr lang="en-US" sz="1600" b="1" dirty="0">
                <a:solidFill>
                  <a:srgbClr val="FFFF00"/>
                </a:solidFill>
              </a:rPr>
              <a:t>Working</a:t>
            </a:r>
          </a:p>
          <a:p>
            <a:pPr>
              <a:buNone/>
            </a:pPr>
            <a:r>
              <a:rPr lang="en-US" sz="1600" dirty="0">
                <a:effectLst/>
              </a:rPr>
              <a:t>A VFD works in three main stages. It converts fixed-frequency AC power into variable-frequency AC power:</a:t>
            </a:r>
          </a:p>
          <a:p>
            <a:pPr>
              <a:buFont typeface="+mj-lt"/>
              <a:buAutoNum type="arabicPeriod"/>
            </a:pPr>
            <a:r>
              <a:rPr lang="en-US" sz="1600" b="1" dirty="0"/>
              <a:t>Rectifier (Converter) Stage</a:t>
            </a:r>
            <a:r>
              <a:rPr lang="en-US" sz="1600" dirty="0"/>
              <a:t> The incoming fixed AC supply (typically 50/60 Hz, 3-phase) is converted into DC using a diode bridge rectifier. This changes alternating current into pulsating direct current.</a:t>
            </a:r>
          </a:p>
          <a:p>
            <a:pPr>
              <a:buFont typeface="+mj-lt"/>
              <a:buAutoNum type="arabicPeriod"/>
            </a:pPr>
            <a:r>
              <a:rPr lang="en-US" sz="1600" b="1" dirty="0"/>
              <a:t>DC Bus (Filter/Link) Stage</a:t>
            </a:r>
            <a:r>
              <a:rPr lang="en-US" sz="1600" dirty="0"/>
              <a:t> The pulsating DC is smoothed and stored using large capacitors. This creates a stable DC voltage (the "DC link") that acts as a reservoir for the next stage.</a:t>
            </a:r>
          </a:p>
          <a:p>
            <a:pPr>
              <a:buFont typeface="+mj-lt"/>
              <a:buAutoNum type="arabicPeriod"/>
            </a:pPr>
            <a:r>
              <a:rPr lang="en-US" sz="1600" b="1" dirty="0"/>
              <a:t>Inverter Stage</a:t>
            </a:r>
            <a:r>
              <a:rPr lang="en-US" sz="1600" dirty="0"/>
              <a:t> The inverter (usually made of IGBTs — Insulated Gate Bipolar Transistors) converts the DC back into AC, but now with </a:t>
            </a:r>
            <a:r>
              <a:rPr lang="en-US" sz="1600" b="1" dirty="0"/>
              <a:t>variable frequency and variable voltage</a:t>
            </a:r>
            <a:r>
              <a:rPr lang="en-US" sz="1600" dirty="0"/>
              <a:t>.</a:t>
            </a:r>
          </a:p>
        </p:txBody>
      </p:sp>
      <p:sp>
        <p:nvSpPr>
          <p:cNvPr id="11" name="TextBox 10">
            <a:extLst>
              <a:ext uri="{FF2B5EF4-FFF2-40B4-BE49-F238E27FC236}">
                <a16:creationId xmlns:a16="http://schemas.microsoft.com/office/drawing/2014/main" id="{A9247D4A-67FE-3804-40DB-6F53FBE61217}"/>
              </a:ext>
            </a:extLst>
          </p:cNvPr>
          <p:cNvSpPr txBox="1"/>
          <p:nvPr/>
        </p:nvSpPr>
        <p:spPr>
          <a:xfrm>
            <a:off x="618119" y="4324653"/>
            <a:ext cx="10643930" cy="1077218"/>
          </a:xfrm>
          <a:prstGeom prst="rect">
            <a:avLst/>
          </a:prstGeom>
          <a:noFill/>
        </p:spPr>
        <p:txBody>
          <a:bodyPr wrap="square">
            <a:spAutoFit/>
          </a:bodyPr>
          <a:lstStyle/>
          <a:p>
            <a:pPr>
              <a:buNone/>
            </a:pPr>
            <a:r>
              <a:rPr lang="en-US" sz="1600" b="1" dirty="0">
                <a:effectLst/>
              </a:rPr>
              <a:t>Basic Relationship</a:t>
            </a:r>
            <a:r>
              <a:rPr lang="en-US" sz="1600" dirty="0">
                <a:effectLst/>
              </a:rPr>
              <a:t>: Motor speed is directly proportional to the supply frequency. </a:t>
            </a:r>
          </a:p>
          <a:p>
            <a:pPr>
              <a:buNone/>
            </a:pPr>
            <a:r>
              <a:rPr lang="en-US" sz="1600" b="1" dirty="0">
                <a:effectLst/>
              </a:rPr>
              <a:t>Speed (RPM) ≈ (120 × Frequency) / Number of Poles</a:t>
            </a:r>
            <a:endParaRPr lang="en-US" sz="1600" dirty="0">
              <a:effectLst/>
            </a:endParaRPr>
          </a:p>
          <a:p>
            <a:pPr>
              <a:buNone/>
            </a:pPr>
            <a:r>
              <a:rPr lang="en-US" sz="1600" dirty="0">
                <a:effectLst/>
              </a:rPr>
              <a:t>By lowering the frequency (and proportionally the voltage), the motor runs slower. By increasing it, the motor runs faster.</a:t>
            </a:r>
          </a:p>
        </p:txBody>
      </p:sp>
      <p:sp>
        <p:nvSpPr>
          <p:cNvPr id="13" name="TextBox 12">
            <a:extLst>
              <a:ext uri="{FF2B5EF4-FFF2-40B4-BE49-F238E27FC236}">
                <a16:creationId xmlns:a16="http://schemas.microsoft.com/office/drawing/2014/main" id="{492AFEC5-3C96-5BDC-1464-74E5C325D1C0}"/>
              </a:ext>
            </a:extLst>
          </p:cNvPr>
          <p:cNvSpPr txBox="1"/>
          <p:nvPr/>
        </p:nvSpPr>
        <p:spPr>
          <a:xfrm>
            <a:off x="618119" y="5856140"/>
            <a:ext cx="11735612" cy="1077218"/>
          </a:xfrm>
          <a:prstGeom prst="rect">
            <a:avLst/>
          </a:prstGeom>
          <a:noFill/>
        </p:spPr>
        <p:txBody>
          <a:bodyPr wrap="square">
            <a:spAutoFit/>
          </a:bodyPr>
          <a:lstStyle/>
          <a:p>
            <a:pPr>
              <a:buNone/>
            </a:pPr>
            <a:r>
              <a:rPr lang="en-US" sz="1600" dirty="0">
                <a:effectLst/>
              </a:rPr>
              <a:t>Major Energy Savings: 20–50%+ (up to 60–90% in fans/pumps) because power ∝ speed³ (Affinity law)</a:t>
            </a:r>
          </a:p>
          <a:p>
            <a:r>
              <a:rPr lang="en-US" sz="1600" dirty="0"/>
              <a:t>Soft Start: Reduces high starting current and mechanical stress.</a:t>
            </a:r>
          </a:p>
          <a:p>
            <a:r>
              <a:rPr lang="en-US" sz="1600" dirty="0"/>
              <a:t>Longer Equipment Life: Less wear on motor, bearings, and driven parts.</a:t>
            </a:r>
          </a:p>
          <a:p>
            <a:pPr>
              <a:buNone/>
            </a:pPr>
            <a:endParaRPr lang="en-US" sz="1600" dirty="0">
              <a:effectLst/>
            </a:endParaRPr>
          </a:p>
        </p:txBody>
      </p:sp>
      <p:sp>
        <p:nvSpPr>
          <p:cNvPr id="14" name="TextBox 13">
            <a:extLst>
              <a:ext uri="{FF2B5EF4-FFF2-40B4-BE49-F238E27FC236}">
                <a16:creationId xmlns:a16="http://schemas.microsoft.com/office/drawing/2014/main" id="{0DA24532-5999-56AF-88F9-F9A6133E20DA}"/>
              </a:ext>
            </a:extLst>
          </p:cNvPr>
          <p:cNvSpPr txBox="1"/>
          <p:nvPr/>
        </p:nvSpPr>
        <p:spPr>
          <a:xfrm>
            <a:off x="618119" y="5524982"/>
            <a:ext cx="2391507" cy="369332"/>
          </a:xfrm>
          <a:prstGeom prst="rect">
            <a:avLst/>
          </a:prstGeom>
          <a:noFill/>
        </p:spPr>
        <p:txBody>
          <a:bodyPr wrap="square" rtlCol="0">
            <a:spAutoFit/>
          </a:bodyPr>
          <a:lstStyle/>
          <a:p>
            <a:r>
              <a:rPr lang="en-US" b="1" dirty="0">
                <a:solidFill>
                  <a:srgbClr val="FFFF00"/>
                </a:solidFill>
              </a:rPr>
              <a:t>Benefits</a:t>
            </a:r>
            <a:endParaRPr lang="en-IN" b="1" dirty="0">
              <a:solidFill>
                <a:srgbClr val="FFFF00"/>
              </a:solidFill>
            </a:endParaRPr>
          </a:p>
        </p:txBody>
      </p:sp>
    </p:spTree>
    <p:extLst>
      <p:ext uri="{BB962C8B-B14F-4D97-AF65-F5344CB8AC3E}">
        <p14:creationId xmlns:p14="http://schemas.microsoft.com/office/powerpoint/2010/main" val="28796643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35</a:t>
            </a:fld>
            <a:endParaRPr lang="en-US" dirty="0"/>
          </a:p>
        </p:txBody>
      </p:sp>
      <p:sp>
        <p:nvSpPr>
          <p:cNvPr id="4" name="TextBox 3"/>
          <p:cNvSpPr txBox="1"/>
          <p:nvPr/>
        </p:nvSpPr>
        <p:spPr>
          <a:xfrm>
            <a:off x="3265714" y="295729"/>
            <a:ext cx="4758613" cy="461665"/>
          </a:xfrm>
          <a:prstGeom prst="rect">
            <a:avLst/>
          </a:prstGeom>
          <a:noFill/>
        </p:spPr>
        <p:txBody>
          <a:bodyPr wrap="square" rtlCol="0">
            <a:spAutoFit/>
          </a:bodyPr>
          <a:lstStyle/>
          <a:p>
            <a:r>
              <a:rPr lang="en-US" sz="2400" b="1" dirty="0">
                <a:solidFill>
                  <a:srgbClr val="FFC000"/>
                </a:solidFill>
              </a:rPr>
              <a:t>Industrial Automation</a:t>
            </a:r>
            <a:endParaRPr lang="en-IN" sz="2400" b="1" dirty="0">
              <a:solidFill>
                <a:srgbClr val="FFC000"/>
              </a:solidFill>
            </a:endParaRPr>
          </a:p>
        </p:txBody>
      </p:sp>
      <p:sp>
        <p:nvSpPr>
          <p:cNvPr id="5" name="TextBox 4"/>
          <p:cNvSpPr txBox="1"/>
          <p:nvPr/>
        </p:nvSpPr>
        <p:spPr>
          <a:xfrm>
            <a:off x="217714" y="1011465"/>
            <a:ext cx="5915609" cy="2948179"/>
          </a:xfrm>
          <a:prstGeom prst="rect">
            <a:avLst/>
          </a:prstGeom>
          <a:noFill/>
        </p:spPr>
        <p:txBody>
          <a:bodyPr wrap="square" rtlCol="0">
            <a:spAutoFit/>
          </a:bodyPr>
          <a:lstStyle/>
          <a:p>
            <a:pPr algn="just">
              <a:lnSpc>
                <a:spcPct val="150000"/>
              </a:lnSpc>
            </a:pPr>
            <a:r>
              <a:rPr lang="en-US" dirty="0"/>
              <a:t>Industrial automation refers to the use of </a:t>
            </a:r>
            <a:r>
              <a:rPr lang="en-US" b="1" dirty="0"/>
              <a:t>control systems, robotics, and computer technology</a:t>
            </a:r>
            <a:r>
              <a:rPr lang="en-US" dirty="0"/>
              <a:t> to enhance manufacturing processes, reduce human intervention, and improve efficiency, productivity, and safety. Automation plays a crucial role in modern industries by minimizing errors, optimizing production rates, and lowering operational costs.</a:t>
            </a:r>
            <a:endParaRPr lang="en-IN" dirty="0"/>
          </a:p>
        </p:txBody>
      </p:sp>
      <p:pic>
        <p:nvPicPr>
          <p:cNvPr id="6" name="Picture 5"/>
          <p:cNvPicPr>
            <a:picLocks noChangeAspect="1"/>
          </p:cNvPicPr>
          <p:nvPr/>
        </p:nvPicPr>
        <p:blipFill>
          <a:blip r:embed="rId2"/>
          <a:stretch>
            <a:fillRect/>
          </a:stretch>
        </p:blipFill>
        <p:spPr>
          <a:xfrm>
            <a:off x="6446389" y="1541303"/>
            <a:ext cx="5527897" cy="3119559"/>
          </a:xfrm>
          <a:prstGeom prst="rect">
            <a:avLst/>
          </a:prstGeom>
        </p:spPr>
      </p:pic>
      <p:sp>
        <p:nvSpPr>
          <p:cNvPr id="7" name="Rectangle 6"/>
          <p:cNvSpPr/>
          <p:nvPr/>
        </p:nvSpPr>
        <p:spPr>
          <a:xfrm>
            <a:off x="217714" y="4922842"/>
            <a:ext cx="9542106" cy="1286186"/>
          </a:xfrm>
          <a:prstGeom prst="rect">
            <a:avLst/>
          </a:prstGeom>
        </p:spPr>
        <p:txBody>
          <a:bodyPr wrap="square">
            <a:spAutoFit/>
          </a:bodyPr>
          <a:lstStyle/>
          <a:p>
            <a:pPr>
              <a:lnSpc>
                <a:spcPct val="150000"/>
              </a:lnSpc>
            </a:pPr>
            <a:r>
              <a:rPr lang="en-US" dirty="0"/>
              <a:t>Industrial automation relies on several hardware and software components, including:</a:t>
            </a:r>
          </a:p>
          <a:p>
            <a:pPr>
              <a:lnSpc>
                <a:spcPct val="150000"/>
              </a:lnSpc>
            </a:pPr>
            <a:endParaRPr lang="en-US" dirty="0"/>
          </a:p>
        </p:txBody>
      </p:sp>
    </p:spTree>
    <p:extLst>
      <p:ext uri="{BB962C8B-B14F-4D97-AF65-F5344CB8AC3E}">
        <p14:creationId xmlns:p14="http://schemas.microsoft.com/office/powerpoint/2010/main" val="6252144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73D8B-93CE-008E-724A-3989205D7977}"/>
              </a:ext>
            </a:extLst>
          </p:cNvPr>
          <p:cNvSpPr>
            <a:spLocks noGrp="1"/>
          </p:cNvSpPr>
          <p:nvPr>
            <p:ph type="title"/>
          </p:nvPr>
        </p:nvSpPr>
        <p:spPr>
          <a:xfrm>
            <a:off x="275426" y="197250"/>
            <a:ext cx="9404723" cy="1400530"/>
          </a:xfrm>
        </p:spPr>
        <p:txBody>
          <a:bodyPr/>
          <a:lstStyle/>
          <a:p>
            <a:r>
              <a:rPr lang="en-US" sz="2400" dirty="0">
                <a:solidFill>
                  <a:srgbClr val="FFFF00"/>
                </a:solidFill>
              </a:rPr>
              <a:t>1. </a:t>
            </a:r>
            <a:r>
              <a:rPr lang="en-US" sz="2400" b="1" dirty="0">
                <a:solidFill>
                  <a:srgbClr val="FFFF00"/>
                </a:solidFill>
              </a:rPr>
              <a:t>Sensors and Actuators</a:t>
            </a:r>
            <a:br>
              <a:rPr lang="en-US" sz="2400" b="1" dirty="0"/>
            </a:br>
            <a:endParaRPr lang="en-IN" sz="2400" dirty="0"/>
          </a:p>
        </p:txBody>
      </p:sp>
      <p:sp>
        <p:nvSpPr>
          <p:cNvPr id="3" name="Slide Number Placeholder 2">
            <a:extLst>
              <a:ext uri="{FF2B5EF4-FFF2-40B4-BE49-F238E27FC236}">
                <a16:creationId xmlns:a16="http://schemas.microsoft.com/office/drawing/2014/main" id="{82D0F5FA-BF6E-ED2A-7D9D-957900E3A77B}"/>
              </a:ext>
            </a:extLst>
          </p:cNvPr>
          <p:cNvSpPr>
            <a:spLocks noGrp="1"/>
          </p:cNvSpPr>
          <p:nvPr>
            <p:ph type="sldNum" sz="quarter" idx="12"/>
          </p:nvPr>
        </p:nvSpPr>
        <p:spPr/>
        <p:txBody>
          <a:bodyPr/>
          <a:lstStyle/>
          <a:p>
            <a:fld id="{D57F1E4F-1CFF-5643-939E-02111984F565}" type="slidenum">
              <a:rPr lang="en-US" smtClean="0"/>
              <a:pPr/>
              <a:t>36</a:t>
            </a:fld>
            <a:endParaRPr lang="en-US" dirty="0"/>
          </a:p>
        </p:txBody>
      </p:sp>
      <p:sp>
        <p:nvSpPr>
          <p:cNvPr id="7" name="TextBox 6">
            <a:extLst>
              <a:ext uri="{FF2B5EF4-FFF2-40B4-BE49-F238E27FC236}">
                <a16:creationId xmlns:a16="http://schemas.microsoft.com/office/drawing/2014/main" id="{ABD55B22-31CB-5803-1CF2-5F63FB290D44}"/>
              </a:ext>
            </a:extLst>
          </p:cNvPr>
          <p:cNvSpPr txBox="1"/>
          <p:nvPr/>
        </p:nvSpPr>
        <p:spPr>
          <a:xfrm>
            <a:off x="275424" y="639345"/>
            <a:ext cx="10156198" cy="646331"/>
          </a:xfrm>
          <a:prstGeom prst="rect">
            <a:avLst/>
          </a:prstGeom>
          <a:noFill/>
        </p:spPr>
        <p:txBody>
          <a:bodyPr wrap="square">
            <a:spAutoFit/>
          </a:bodyPr>
          <a:lstStyle/>
          <a:p>
            <a:r>
              <a:rPr lang="en-US" dirty="0"/>
              <a:t>Think of sensors and actuators as the </a:t>
            </a:r>
            <a:r>
              <a:rPr lang="en-US" b="1" dirty="0"/>
              <a:t>nervous system </a:t>
            </a:r>
            <a:r>
              <a:rPr lang="en-US" dirty="0"/>
              <a:t>and the </a:t>
            </a:r>
            <a:r>
              <a:rPr lang="en-US" b="1" dirty="0"/>
              <a:t>muscles</a:t>
            </a:r>
            <a:r>
              <a:rPr lang="en-US" dirty="0"/>
              <a:t> of a machine. They work together to help a system "sense" its environment and then "do" something about it</a:t>
            </a:r>
            <a:endParaRPr lang="en-IN" dirty="0"/>
          </a:p>
        </p:txBody>
      </p:sp>
      <p:sp>
        <p:nvSpPr>
          <p:cNvPr id="10" name="TextBox 9">
            <a:extLst>
              <a:ext uri="{FF2B5EF4-FFF2-40B4-BE49-F238E27FC236}">
                <a16:creationId xmlns:a16="http://schemas.microsoft.com/office/drawing/2014/main" id="{ECA5E252-64EF-D37B-5790-DE464C36CF0A}"/>
              </a:ext>
            </a:extLst>
          </p:cNvPr>
          <p:cNvSpPr txBox="1"/>
          <p:nvPr/>
        </p:nvSpPr>
        <p:spPr>
          <a:xfrm>
            <a:off x="275424" y="1350722"/>
            <a:ext cx="11518469" cy="2585323"/>
          </a:xfrm>
          <a:prstGeom prst="rect">
            <a:avLst/>
          </a:prstGeom>
          <a:noFill/>
        </p:spPr>
        <p:txBody>
          <a:bodyPr wrap="square">
            <a:spAutoFit/>
          </a:bodyPr>
          <a:lstStyle/>
          <a:p>
            <a:r>
              <a:rPr lang="en-US" b="1" dirty="0"/>
              <a:t>Sensors: </a:t>
            </a:r>
            <a:r>
              <a:rPr lang="en-US" dirty="0"/>
              <a:t>The "Inputs"</a:t>
            </a:r>
          </a:p>
          <a:p>
            <a:r>
              <a:rPr lang="en-US" dirty="0"/>
              <a:t>Sensors act like human senses (sight, touch, hearing). They detect a physical property and turn it into an electrical signal that a computer or controller can understand.</a:t>
            </a:r>
          </a:p>
          <a:p>
            <a:r>
              <a:rPr lang="en-US" b="1" dirty="0"/>
              <a:t>What they do: </a:t>
            </a:r>
            <a:r>
              <a:rPr lang="en-US" dirty="0"/>
              <a:t>They observe and measure.</a:t>
            </a:r>
          </a:p>
          <a:p>
            <a:r>
              <a:rPr lang="en-US" b="1" dirty="0"/>
              <a:t>Common Examples:</a:t>
            </a:r>
          </a:p>
          <a:p>
            <a:r>
              <a:rPr lang="en-US" dirty="0"/>
              <a:t>Thermometer: Senses heat (like in a smart thermostat).</a:t>
            </a:r>
          </a:p>
          <a:p>
            <a:r>
              <a:rPr lang="en-US" dirty="0"/>
              <a:t>Lidar/Radar: Senses distance (used in self-driving cars).</a:t>
            </a:r>
          </a:p>
          <a:p>
            <a:r>
              <a:rPr lang="en-US" dirty="0"/>
              <a:t>Microphone: Senses sound waves.</a:t>
            </a:r>
          </a:p>
          <a:p>
            <a:r>
              <a:rPr lang="en-US" dirty="0"/>
              <a:t>PIR Sensor: Senses motion (used in security lights).</a:t>
            </a:r>
            <a:endParaRPr lang="en-IN" dirty="0"/>
          </a:p>
        </p:txBody>
      </p:sp>
      <p:sp>
        <p:nvSpPr>
          <p:cNvPr id="15" name="TextBox 14">
            <a:extLst>
              <a:ext uri="{FF2B5EF4-FFF2-40B4-BE49-F238E27FC236}">
                <a16:creationId xmlns:a16="http://schemas.microsoft.com/office/drawing/2014/main" id="{16605C7C-79B3-9F7A-6111-A90B105373A5}"/>
              </a:ext>
            </a:extLst>
          </p:cNvPr>
          <p:cNvSpPr txBox="1"/>
          <p:nvPr/>
        </p:nvSpPr>
        <p:spPr>
          <a:xfrm>
            <a:off x="275424" y="4075427"/>
            <a:ext cx="11770396" cy="2585323"/>
          </a:xfrm>
          <a:prstGeom prst="rect">
            <a:avLst/>
          </a:prstGeom>
          <a:noFill/>
        </p:spPr>
        <p:txBody>
          <a:bodyPr wrap="square">
            <a:spAutoFit/>
          </a:bodyPr>
          <a:lstStyle/>
          <a:p>
            <a:r>
              <a:rPr lang="en-US" b="1" dirty="0"/>
              <a:t>Actuators: </a:t>
            </a:r>
            <a:r>
              <a:rPr lang="en-US" dirty="0"/>
              <a:t>The "Outputs"</a:t>
            </a:r>
          </a:p>
          <a:p>
            <a:r>
              <a:rPr lang="en-US" dirty="0"/>
              <a:t>Actuators are the muscles. They take an electrical signal (usually from a controller) and convert it into physical movement or action.</a:t>
            </a:r>
          </a:p>
          <a:p>
            <a:r>
              <a:rPr lang="en-US" b="1" dirty="0"/>
              <a:t>What they do: </a:t>
            </a:r>
            <a:r>
              <a:rPr lang="en-US" dirty="0"/>
              <a:t>They exert force and create change.</a:t>
            </a:r>
          </a:p>
          <a:p>
            <a:r>
              <a:rPr lang="en-US" b="1" dirty="0"/>
              <a:t>Common Examples:</a:t>
            </a:r>
          </a:p>
          <a:p>
            <a:r>
              <a:rPr lang="en-US" dirty="0"/>
              <a:t>Electric Motor: Rotates wheels or fans.</a:t>
            </a:r>
          </a:p>
          <a:p>
            <a:r>
              <a:rPr lang="en-US" dirty="0"/>
              <a:t>Solenoid Valve: Opens or closes a pipe to let water flow.</a:t>
            </a:r>
          </a:p>
          <a:p>
            <a:r>
              <a:rPr lang="en-US" dirty="0"/>
              <a:t>LED: Converts electricity into light.</a:t>
            </a:r>
          </a:p>
          <a:p>
            <a:r>
              <a:rPr lang="en-US" dirty="0"/>
              <a:t>Hydraulic Piston: Lifts heavy loads on construction equipment.</a:t>
            </a:r>
          </a:p>
        </p:txBody>
      </p:sp>
    </p:spTree>
    <p:extLst>
      <p:ext uri="{BB962C8B-B14F-4D97-AF65-F5344CB8AC3E}">
        <p14:creationId xmlns:p14="http://schemas.microsoft.com/office/powerpoint/2010/main" val="3868457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25AA8-0B86-2F20-0D5E-1D7CBBD4B802}"/>
              </a:ext>
            </a:extLst>
          </p:cNvPr>
          <p:cNvSpPr>
            <a:spLocks noGrp="1"/>
          </p:cNvSpPr>
          <p:nvPr>
            <p:ph type="title"/>
          </p:nvPr>
        </p:nvSpPr>
        <p:spPr>
          <a:xfrm>
            <a:off x="496821" y="182131"/>
            <a:ext cx="9404723" cy="1400530"/>
          </a:xfrm>
        </p:spPr>
        <p:txBody>
          <a:bodyPr/>
          <a:lstStyle/>
          <a:p>
            <a:r>
              <a:rPr lang="en-US" sz="2400" b="1" dirty="0">
                <a:solidFill>
                  <a:srgbClr val="FFFF00"/>
                </a:solidFill>
                <a:latin typeface="Arial" panose="020B0604020202020204" pitchFamily="34" charset="0"/>
              </a:rPr>
              <a:t>2. Programmable Logic Controllers (PLCs)</a:t>
            </a:r>
            <a:br>
              <a:rPr lang="en-US" sz="2400" dirty="0">
                <a:solidFill>
                  <a:srgbClr val="FFFF00"/>
                </a:solidFill>
                <a:latin typeface="Arial" panose="020B0604020202020204" pitchFamily="34" charset="0"/>
              </a:rPr>
            </a:br>
            <a:endParaRPr lang="en-IN" sz="2400" dirty="0">
              <a:solidFill>
                <a:srgbClr val="FFFF00"/>
              </a:solidFill>
            </a:endParaRPr>
          </a:p>
        </p:txBody>
      </p:sp>
      <p:sp>
        <p:nvSpPr>
          <p:cNvPr id="3" name="Slide Number Placeholder 2">
            <a:extLst>
              <a:ext uri="{FF2B5EF4-FFF2-40B4-BE49-F238E27FC236}">
                <a16:creationId xmlns:a16="http://schemas.microsoft.com/office/drawing/2014/main" id="{63570B86-3E61-C421-777F-D87ED14BB2CD}"/>
              </a:ext>
            </a:extLst>
          </p:cNvPr>
          <p:cNvSpPr>
            <a:spLocks noGrp="1"/>
          </p:cNvSpPr>
          <p:nvPr>
            <p:ph type="sldNum" sz="quarter" idx="12"/>
          </p:nvPr>
        </p:nvSpPr>
        <p:spPr/>
        <p:txBody>
          <a:bodyPr/>
          <a:lstStyle/>
          <a:p>
            <a:fld id="{D57F1E4F-1CFF-5643-939E-02111984F565}" type="slidenum">
              <a:rPr lang="en-US" smtClean="0"/>
              <a:pPr/>
              <a:t>37</a:t>
            </a:fld>
            <a:endParaRPr lang="en-US" dirty="0"/>
          </a:p>
        </p:txBody>
      </p:sp>
      <p:sp>
        <p:nvSpPr>
          <p:cNvPr id="6" name="TextBox 5">
            <a:extLst>
              <a:ext uri="{FF2B5EF4-FFF2-40B4-BE49-F238E27FC236}">
                <a16:creationId xmlns:a16="http://schemas.microsoft.com/office/drawing/2014/main" id="{675B44D4-781F-97A6-5901-0DD23FEE0AE0}"/>
              </a:ext>
            </a:extLst>
          </p:cNvPr>
          <p:cNvSpPr txBox="1"/>
          <p:nvPr/>
        </p:nvSpPr>
        <p:spPr>
          <a:xfrm>
            <a:off x="146958" y="705498"/>
            <a:ext cx="10205582" cy="1200329"/>
          </a:xfrm>
          <a:prstGeom prst="rect">
            <a:avLst/>
          </a:prstGeom>
          <a:noFill/>
        </p:spPr>
        <p:txBody>
          <a:bodyPr wrap="square">
            <a:spAutoFit/>
          </a:bodyPr>
          <a:lstStyle/>
          <a:p>
            <a:r>
              <a:rPr lang="en-US" dirty="0"/>
              <a:t>If sensors and actuators are the "senses" and "muscles," a Programmable Logic Controller (PLC) is the brain that connects them.</a:t>
            </a:r>
          </a:p>
          <a:p>
            <a:r>
              <a:rPr lang="en-US" dirty="0"/>
              <a:t>Think of a PLC as a rugged, industrial computer specifically built to live on a factory floor rather than an office desk.</a:t>
            </a:r>
            <a:endParaRPr lang="en-IN" dirty="0"/>
          </a:p>
        </p:txBody>
      </p:sp>
      <p:sp>
        <p:nvSpPr>
          <p:cNvPr id="9" name="TextBox 8">
            <a:extLst>
              <a:ext uri="{FF2B5EF4-FFF2-40B4-BE49-F238E27FC236}">
                <a16:creationId xmlns:a16="http://schemas.microsoft.com/office/drawing/2014/main" id="{BFB52DB1-BCD2-71E3-7E76-C67E30590F9B}"/>
              </a:ext>
            </a:extLst>
          </p:cNvPr>
          <p:cNvSpPr txBox="1"/>
          <p:nvPr/>
        </p:nvSpPr>
        <p:spPr>
          <a:xfrm>
            <a:off x="146958" y="1992430"/>
            <a:ext cx="11262049" cy="1477328"/>
          </a:xfrm>
          <a:prstGeom prst="rect">
            <a:avLst/>
          </a:prstGeom>
          <a:noFill/>
        </p:spPr>
        <p:txBody>
          <a:bodyPr wrap="square">
            <a:spAutoFit/>
          </a:bodyPr>
          <a:lstStyle/>
          <a:p>
            <a:pPr marL="285750" indent="-285750">
              <a:buFont typeface="Arial" panose="020B0604020202020204" pitchFamily="34" charset="0"/>
              <a:buChar char="•"/>
            </a:pPr>
            <a:r>
              <a:rPr lang="en-US" b="1" dirty="0"/>
              <a:t>Why use a PLC instead of a regular PC?</a:t>
            </a:r>
          </a:p>
          <a:p>
            <a:r>
              <a:rPr lang="en-US" dirty="0"/>
              <a:t>Standard computers are fragile. PLCs are "hardened" to survive:</a:t>
            </a:r>
          </a:p>
          <a:p>
            <a:r>
              <a:rPr lang="en-US" dirty="0"/>
              <a:t>Extreme Temperatures: They work in hot mills or cold storage.</a:t>
            </a:r>
          </a:p>
          <a:p>
            <a:r>
              <a:rPr lang="en-US" dirty="0"/>
              <a:t>Electrical Noise: They aren't affected by the massive magnetic fields of nearby motors.</a:t>
            </a:r>
          </a:p>
          <a:p>
            <a:r>
              <a:rPr lang="en-US" dirty="0"/>
              <a:t>Vibration &amp; Dust: They are built with no moving parts (like fans) that could fail.</a:t>
            </a:r>
            <a:endParaRPr lang="en-IN" dirty="0"/>
          </a:p>
        </p:txBody>
      </p:sp>
      <p:sp>
        <p:nvSpPr>
          <p:cNvPr id="12" name="TextBox 11">
            <a:extLst>
              <a:ext uri="{FF2B5EF4-FFF2-40B4-BE49-F238E27FC236}">
                <a16:creationId xmlns:a16="http://schemas.microsoft.com/office/drawing/2014/main" id="{81A6938B-ABE5-CC49-6D4C-92E8539F3CE1}"/>
              </a:ext>
            </a:extLst>
          </p:cNvPr>
          <p:cNvSpPr txBox="1"/>
          <p:nvPr/>
        </p:nvSpPr>
        <p:spPr>
          <a:xfrm>
            <a:off x="146958" y="3698929"/>
            <a:ext cx="11898862" cy="1754326"/>
          </a:xfrm>
          <a:prstGeom prst="rect">
            <a:avLst/>
          </a:prstGeom>
          <a:noFill/>
        </p:spPr>
        <p:txBody>
          <a:bodyPr wrap="square">
            <a:spAutoFit/>
          </a:bodyPr>
          <a:lstStyle/>
          <a:p>
            <a:pPr marL="285750" indent="-285750">
              <a:buFont typeface="Arial" panose="020B0604020202020204" pitchFamily="34" charset="0"/>
              <a:buChar char="•"/>
            </a:pPr>
            <a:r>
              <a:rPr lang="en-US" b="1" dirty="0"/>
              <a:t>How the PLC "Thinks" (The Scan Cycle)</a:t>
            </a:r>
          </a:p>
          <a:p>
            <a:r>
              <a:rPr lang="en-US" dirty="0"/>
              <a:t>A PLC doesn't just run a program once; it runs in a lightning-fast, continuous loop called a Scan Cycle:</a:t>
            </a:r>
          </a:p>
          <a:p>
            <a:r>
              <a:rPr lang="en-US" dirty="0"/>
              <a:t>Input Scan: It checks the status of all connected sensors (Is the button pressed? Is the tank full?).</a:t>
            </a:r>
          </a:p>
          <a:p>
            <a:r>
              <a:rPr lang="en-US" dirty="0"/>
              <a:t>Logic Execution: It runs the user-written program (e.g., "If the tank is full AND the button is pressed, then...").</a:t>
            </a:r>
          </a:p>
          <a:p>
            <a:r>
              <a:rPr lang="en-US" dirty="0"/>
              <a:t>Output Scan: It sends signals to the actuators (Turn on the motor! Open the valve!).</a:t>
            </a:r>
          </a:p>
          <a:p>
            <a:r>
              <a:rPr lang="en-US" dirty="0"/>
              <a:t>Housekeeping: It checks its own health and communication, then starts over.</a:t>
            </a:r>
            <a:endParaRPr lang="en-IN" dirty="0"/>
          </a:p>
        </p:txBody>
      </p:sp>
    </p:spTree>
    <p:extLst>
      <p:ext uri="{BB962C8B-B14F-4D97-AF65-F5344CB8AC3E}">
        <p14:creationId xmlns:p14="http://schemas.microsoft.com/office/powerpoint/2010/main" val="33545636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F59A74-AD08-A268-B732-AA0DDD1AA1A8}"/>
              </a:ext>
            </a:extLst>
          </p:cNvPr>
          <p:cNvSpPr>
            <a:spLocks noGrp="1"/>
          </p:cNvSpPr>
          <p:nvPr>
            <p:ph type="sldNum" sz="quarter" idx="12"/>
          </p:nvPr>
        </p:nvSpPr>
        <p:spPr/>
        <p:txBody>
          <a:bodyPr/>
          <a:lstStyle/>
          <a:p>
            <a:fld id="{D57F1E4F-1CFF-5643-939E-02111984F565}" type="slidenum">
              <a:rPr lang="en-US" smtClean="0"/>
              <a:pPr/>
              <a:t>38</a:t>
            </a:fld>
            <a:endParaRPr lang="en-US" dirty="0"/>
          </a:p>
        </p:txBody>
      </p:sp>
      <p:sp>
        <p:nvSpPr>
          <p:cNvPr id="6" name="TextBox 5">
            <a:extLst>
              <a:ext uri="{FF2B5EF4-FFF2-40B4-BE49-F238E27FC236}">
                <a16:creationId xmlns:a16="http://schemas.microsoft.com/office/drawing/2014/main" id="{B4BB3838-B7A2-D2E3-427F-61768E8BC282}"/>
              </a:ext>
            </a:extLst>
          </p:cNvPr>
          <p:cNvSpPr txBox="1"/>
          <p:nvPr/>
        </p:nvSpPr>
        <p:spPr>
          <a:xfrm>
            <a:off x="538842" y="679572"/>
            <a:ext cx="5557158" cy="2308324"/>
          </a:xfrm>
          <a:prstGeom prst="rect">
            <a:avLst/>
          </a:prstGeom>
          <a:noFill/>
        </p:spPr>
        <p:txBody>
          <a:bodyPr wrap="square">
            <a:spAutoFit/>
          </a:bodyPr>
          <a:lstStyle/>
          <a:p>
            <a:pPr marL="285750" indent="-285750">
              <a:buFont typeface="Arial" panose="020B0604020202020204" pitchFamily="34" charset="0"/>
              <a:buChar char="•"/>
            </a:pPr>
            <a:r>
              <a:rPr lang="en-US" b="1" dirty="0"/>
              <a:t>The "Language" of PLCs</a:t>
            </a:r>
          </a:p>
          <a:p>
            <a:pPr algn="just"/>
            <a:r>
              <a:rPr lang="en-US" dirty="0"/>
              <a:t>The most common way to program a PLC is Ladder Logic. It looks like an electrical circuit diagram with two vertical rails and horizontal "rungs."</a:t>
            </a:r>
          </a:p>
          <a:p>
            <a:r>
              <a:rPr lang="en-US" dirty="0"/>
              <a:t>This was designed so that electricians who were used to wiring physical relays could easily switch to programming software.</a:t>
            </a:r>
            <a:endParaRPr lang="en-IN" dirty="0"/>
          </a:p>
        </p:txBody>
      </p:sp>
      <p:pic>
        <p:nvPicPr>
          <p:cNvPr id="7" name="Picture 6">
            <a:extLst>
              <a:ext uri="{FF2B5EF4-FFF2-40B4-BE49-F238E27FC236}">
                <a16:creationId xmlns:a16="http://schemas.microsoft.com/office/drawing/2014/main" id="{6269F295-D1EC-9C51-535B-4A90888CB757}"/>
              </a:ext>
            </a:extLst>
          </p:cNvPr>
          <p:cNvPicPr>
            <a:picLocks noChangeAspect="1"/>
          </p:cNvPicPr>
          <p:nvPr/>
        </p:nvPicPr>
        <p:blipFill>
          <a:blip r:embed="rId2"/>
          <a:srcRect l="5220" t="12840" r="4024" b="14989"/>
          <a:stretch>
            <a:fillRect/>
          </a:stretch>
        </p:blipFill>
        <p:spPr>
          <a:xfrm>
            <a:off x="6170645" y="679572"/>
            <a:ext cx="5837925" cy="2612572"/>
          </a:xfrm>
          <a:prstGeom prst="rect">
            <a:avLst/>
          </a:prstGeom>
        </p:spPr>
      </p:pic>
      <p:sp>
        <p:nvSpPr>
          <p:cNvPr id="9" name="TextBox 8">
            <a:extLst>
              <a:ext uri="{FF2B5EF4-FFF2-40B4-BE49-F238E27FC236}">
                <a16:creationId xmlns:a16="http://schemas.microsoft.com/office/drawing/2014/main" id="{6E156324-D919-A38A-25B2-F06470978764}"/>
              </a:ext>
            </a:extLst>
          </p:cNvPr>
          <p:cNvSpPr txBox="1"/>
          <p:nvPr/>
        </p:nvSpPr>
        <p:spPr>
          <a:xfrm>
            <a:off x="575777" y="3292144"/>
            <a:ext cx="10891157" cy="1701684"/>
          </a:xfrm>
          <a:prstGeom prst="rect">
            <a:avLst/>
          </a:prstGeom>
          <a:noFill/>
        </p:spPr>
        <p:txBody>
          <a:bodyPr wrap="square">
            <a:spAutoFit/>
          </a:bodyPr>
          <a:lstStyle/>
          <a:p>
            <a:pPr>
              <a:lnSpc>
                <a:spcPct val="150000"/>
              </a:lnSpc>
            </a:pPr>
            <a:r>
              <a:rPr lang="en-US" b="1" dirty="0"/>
              <a:t>Real-World Example: </a:t>
            </a:r>
            <a:r>
              <a:rPr lang="en-US" dirty="0"/>
              <a:t>An Automatic Car Wash</a:t>
            </a:r>
          </a:p>
          <a:p>
            <a:pPr>
              <a:lnSpc>
                <a:spcPct val="150000"/>
              </a:lnSpc>
            </a:pPr>
            <a:r>
              <a:rPr lang="en-US" dirty="0"/>
              <a:t>Sensor Input: A proximity sensor detects a car has pulled in.</a:t>
            </a:r>
          </a:p>
          <a:p>
            <a:pPr>
              <a:lnSpc>
                <a:spcPct val="150000"/>
              </a:lnSpc>
            </a:pPr>
            <a:r>
              <a:rPr lang="en-US" dirty="0"/>
              <a:t>PLC Logic: The PLC sees the "Car Present" signal and waits 2 seconds.</a:t>
            </a:r>
          </a:p>
          <a:p>
            <a:pPr>
              <a:lnSpc>
                <a:spcPct val="150000"/>
              </a:lnSpc>
            </a:pPr>
            <a:r>
              <a:rPr lang="en-US" dirty="0"/>
              <a:t>Actuator Output: The PLC sends power to the motor (actuator) to start the overhead brushes.</a:t>
            </a:r>
            <a:endParaRPr lang="en-IN" dirty="0"/>
          </a:p>
        </p:txBody>
      </p:sp>
      <p:sp>
        <p:nvSpPr>
          <p:cNvPr id="11" name="TextBox 10">
            <a:extLst>
              <a:ext uri="{FF2B5EF4-FFF2-40B4-BE49-F238E27FC236}">
                <a16:creationId xmlns:a16="http://schemas.microsoft.com/office/drawing/2014/main" id="{3329C65C-A55C-86A1-6A5C-FC48A9A5E31A}"/>
              </a:ext>
            </a:extLst>
          </p:cNvPr>
          <p:cNvSpPr txBox="1"/>
          <p:nvPr/>
        </p:nvSpPr>
        <p:spPr>
          <a:xfrm>
            <a:off x="678803" y="5520872"/>
            <a:ext cx="11329767" cy="923330"/>
          </a:xfrm>
          <a:prstGeom prst="rect">
            <a:avLst/>
          </a:prstGeom>
          <a:noFill/>
          <a:ln>
            <a:solidFill>
              <a:schemeClr val="tx1"/>
            </a:solidFill>
          </a:ln>
        </p:spPr>
        <p:txBody>
          <a:bodyPr wrap="square">
            <a:spAutoFit/>
          </a:bodyPr>
          <a:lstStyle/>
          <a:p>
            <a:pPr lvl="0" algn="just" defTabSz="914400" eaLnBrk="0" fontAlgn="base" hangingPunct="0">
              <a:spcBef>
                <a:spcPct val="0"/>
              </a:spcBef>
              <a:spcAft>
                <a:spcPct val="0"/>
              </a:spcAft>
            </a:pPr>
            <a:r>
              <a:rPr lang="en-US" b="1" dirty="0">
                <a:latin typeface="Arial" panose="020B0604020202020204" pitchFamily="34" charset="0"/>
              </a:rPr>
              <a:t>Programmable Logic Controllers (PLCs)</a:t>
            </a:r>
            <a:endParaRPr lang="en-US" dirty="0">
              <a:latin typeface="Arial" panose="020B0604020202020204" pitchFamily="34" charset="0"/>
            </a:endParaRPr>
          </a:p>
          <a:p>
            <a:pPr lvl="0" algn="just" defTabSz="914400" eaLnBrk="0" fontAlgn="base" hangingPunct="0">
              <a:spcBef>
                <a:spcPct val="0"/>
              </a:spcBef>
              <a:spcAft>
                <a:spcPct val="0"/>
              </a:spcAft>
              <a:buFontTx/>
              <a:buChar char="•"/>
            </a:pPr>
            <a:r>
              <a:rPr lang="en-US" dirty="0">
                <a:latin typeface="Arial" panose="020B0604020202020204" pitchFamily="34" charset="0"/>
              </a:rPr>
              <a:t>PLCs are robust industrial computers that control machinery and processes.</a:t>
            </a:r>
          </a:p>
          <a:p>
            <a:pPr lvl="0" algn="just" defTabSz="914400" eaLnBrk="0" fontAlgn="base" hangingPunct="0">
              <a:spcBef>
                <a:spcPct val="0"/>
              </a:spcBef>
              <a:spcAft>
                <a:spcPct val="0"/>
              </a:spcAft>
              <a:buFontTx/>
              <a:buChar char="•"/>
            </a:pPr>
            <a:r>
              <a:rPr lang="en-US" dirty="0">
                <a:latin typeface="Arial" panose="020B0604020202020204" pitchFamily="34" charset="0"/>
              </a:rPr>
              <a:t>They receive inputs from sensors and execute pre-programmed logic to produce desired outputs.</a:t>
            </a:r>
          </a:p>
        </p:txBody>
      </p:sp>
    </p:spTree>
    <p:extLst>
      <p:ext uri="{BB962C8B-B14F-4D97-AF65-F5344CB8AC3E}">
        <p14:creationId xmlns:p14="http://schemas.microsoft.com/office/powerpoint/2010/main" val="4230473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78EE7-D841-C879-7D19-9E40AD2E34F1}"/>
              </a:ext>
            </a:extLst>
          </p:cNvPr>
          <p:cNvSpPr>
            <a:spLocks noGrp="1"/>
          </p:cNvSpPr>
          <p:nvPr>
            <p:ph type="title"/>
          </p:nvPr>
        </p:nvSpPr>
        <p:spPr>
          <a:xfrm>
            <a:off x="272887" y="181392"/>
            <a:ext cx="9404723" cy="1400530"/>
          </a:xfrm>
        </p:spPr>
        <p:txBody>
          <a:bodyPr/>
          <a:lstStyle/>
          <a:p>
            <a:r>
              <a:rPr lang="en-US" sz="2400" b="1" dirty="0">
                <a:solidFill>
                  <a:srgbClr val="FFFF00"/>
                </a:solidFill>
                <a:latin typeface="Arial" panose="020B0604020202020204" pitchFamily="34" charset="0"/>
              </a:rPr>
              <a:t>3. Supervisory Control and Data Acquisition (SCADA) Systems</a:t>
            </a:r>
            <a:br>
              <a:rPr lang="en-US" sz="2400" dirty="0">
                <a:solidFill>
                  <a:srgbClr val="FFFF00"/>
                </a:solidFill>
                <a:latin typeface="Arial" panose="020B0604020202020204" pitchFamily="34" charset="0"/>
              </a:rPr>
            </a:br>
            <a:endParaRPr lang="en-IN" sz="2400" dirty="0">
              <a:solidFill>
                <a:srgbClr val="FFFF00"/>
              </a:solidFill>
            </a:endParaRPr>
          </a:p>
        </p:txBody>
      </p:sp>
      <p:sp>
        <p:nvSpPr>
          <p:cNvPr id="3" name="Slide Number Placeholder 2">
            <a:extLst>
              <a:ext uri="{FF2B5EF4-FFF2-40B4-BE49-F238E27FC236}">
                <a16:creationId xmlns:a16="http://schemas.microsoft.com/office/drawing/2014/main" id="{E83490A1-04DB-CEBD-9BA2-1FA8FF536E38}"/>
              </a:ext>
            </a:extLst>
          </p:cNvPr>
          <p:cNvSpPr>
            <a:spLocks noGrp="1"/>
          </p:cNvSpPr>
          <p:nvPr>
            <p:ph type="sldNum" sz="quarter" idx="12"/>
          </p:nvPr>
        </p:nvSpPr>
        <p:spPr/>
        <p:txBody>
          <a:bodyPr/>
          <a:lstStyle/>
          <a:p>
            <a:fld id="{D57F1E4F-1CFF-5643-939E-02111984F565}" type="slidenum">
              <a:rPr lang="en-US" smtClean="0"/>
              <a:pPr/>
              <a:t>39</a:t>
            </a:fld>
            <a:endParaRPr lang="en-US" dirty="0"/>
          </a:p>
        </p:txBody>
      </p:sp>
      <p:sp>
        <p:nvSpPr>
          <p:cNvPr id="10" name="TextBox 9">
            <a:extLst>
              <a:ext uri="{FF2B5EF4-FFF2-40B4-BE49-F238E27FC236}">
                <a16:creationId xmlns:a16="http://schemas.microsoft.com/office/drawing/2014/main" id="{A3C0DE39-A3BF-A63B-9F11-42CF08421E6C}"/>
              </a:ext>
            </a:extLst>
          </p:cNvPr>
          <p:cNvSpPr txBox="1"/>
          <p:nvPr/>
        </p:nvSpPr>
        <p:spPr>
          <a:xfrm>
            <a:off x="344405" y="679572"/>
            <a:ext cx="10008135" cy="1200329"/>
          </a:xfrm>
          <a:prstGeom prst="rect">
            <a:avLst/>
          </a:prstGeom>
          <a:noFill/>
        </p:spPr>
        <p:txBody>
          <a:bodyPr wrap="square">
            <a:spAutoFit/>
          </a:bodyPr>
          <a:lstStyle/>
          <a:p>
            <a:r>
              <a:rPr lang="en-US" dirty="0"/>
              <a:t>If sensors/actuators are the limbs and PLCs are the local brains, then SCADA is the control tower (the CEO’s office) for an entire facility.</a:t>
            </a:r>
          </a:p>
          <a:p>
            <a:r>
              <a:rPr lang="en-US" dirty="0"/>
              <a:t>SCADA doesn't replace PLCs; it sits on top of them to give human operators a high-level view of everything happening at once.</a:t>
            </a:r>
          </a:p>
        </p:txBody>
      </p:sp>
      <p:sp>
        <p:nvSpPr>
          <p:cNvPr id="15" name="TextBox 14">
            <a:extLst>
              <a:ext uri="{FF2B5EF4-FFF2-40B4-BE49-F238E27FC236}">
                <a16:creationId xmlns:a16="http://schemas.microsoft.com/office/drawing/2014/main" id="{EF85D240-2D6E-8347-A36D-8175B8315C25}"/>
              </a:ext>
            </a:extLst>
          </p:cNvPr>
          <p:cNvSpPr txBox="1"/>
          <p:nvPr/>
        </p:nvSpPr>
        <p:spPr>
          <a:xfrm>
            <a:off x="344405" y="2080102"/>
            <a:ext cx="11489905" cy="3970318"/>
          </a:xfrm>
          <a:prstGeom prst="rect">
            <a:avLst/>
          </a:prstGeom>
          <a:noFill/>
        </p:spPr>
        <p:txBody>
          <a:bodyPr wrap="square">
            <a:spAutoFit/>
          </a:bodyPr>
          <a:lstStyle/>
          <a:p>
            <a:pPr marL="285750" indent="-285750">
              <a:buFont typeface="Arial" panose="020B0604020202020204" pitchFamily="34" charset="0"/>
              <a:buChar char="•"/>
            </a:pPr>
            <a:r>
              <a:rPr lang="en-US" b="1" dirty="0"/>
              <a:t>1. The "Eyes" (Monitoring)</a:t>
            </a:r>
          </a:p>
          <a:p>
            <a:r>
              <a:rPr lang="en-US" dirty="0"/>
              <a:t>A SCADA system collects data from dozens or hundreds of PLCs and displays it on a Graphical User Interface (GUI).</a:t>
            </a:r>
          </a:p>
          <a:p>
            <a:r>
              <a:rPr lang="en-US" dirty="0"/>
              <a:t>Visuals: Instead of looking at code, an operator sees a digital map of the factory with moving parts, tanks filling up, and temperatures changing in real-time.</a:t>
            </a:r>
          </a:p>
          <a:p>
            <a:r>
              <a:rPr lang="en-US" dirty="0"/>
              <a:t>Alarms: If a sensor detects a pipe is about to burst, SCADA flashes a red warning and sounds an alarm to alert the human operator immediately.</a:t>
            </a:r>
          </a:p>
          <a:p>
            <a:endParaRPr lang="en-US" dirty="0"/>
          </a:p>
          <a:p>
            <a:pPr marL="285750" indent="-285750">
              <a:buFont typeface="Arial" panose="020B0604020202020204" pitchFamily="34" charset="0"/>
              <a:buChar char="•"/>
            </a:pPr>
            <a:r>
              <a:rPr lang="en-US" b="1" dirty="0"/>
              <a:t>2. The "Voice" (Control)</a:t>
            </a:r>
          </a:p>
          <a:p>
            <a:r>
              <a:rPr lang="en-US" dirty="0"/>
              <a:t>SCADA allows humans to talk back to the machines from a central location.</a:t>
            </a:r>
          </a:p>
          <a:p>
            <a:r>
              <a:rPr lang="en-US" dirty="0"/>
              <a:t>Remote Action: An operator sitting in a control room can click a button on a screen to stop a motor in a different building.</a:t>
            </a:r>
          </a:p>
          <a:p>
            <a:r>
              <a:rPr lang="en-US" dirty="0"/>
              <a:t>Setpoints: The operator can type "75 degrees" into the SCADA dashboard, and the SCADA system tells the PLCs to adjust the heaters accordingly.</a:t>
            </a:r>
          </a:p>
        </p:txBody>
      </p:sp>
    </p:spTree>
    <p:extLst>
      <p:ext uri="{BB962C8B-B14F-4D97-AF65-F5344CB8AC3E}">
        <p14:creationId xmlns:p14="http://schemas.microsoft.com/office/powerpoint/2010/main" val="33769489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FB57EC0-45F8-F8C4-542D-782CCB3609C8}"/>
              </a:ext>
            </a:extLst>
          </p:cNvPr>
          <p:cNvSpPr>
            <a:spLocks noGrp="1"/>
          </p:cNvSpPr>
          <p:nvPr>
            <p:ph type="sldNum" sz="quarter" idx="12"/>
          </p:nvPr>
        </p:nvSpPr>
        <p:spPr/>
        <p:txBody>
          <a:bodyPr/>
          <a:lstStyle/>
          <a:p>
            <a:fld id="{D57F1E4F-1CFF-5643-939E-02111984F565}" type="slidenum">
              <a:rPr lang="en-US" smtClean="0"/>
              <a:pPr/>
              <a:t>40</a:t>
            </a:fld>
            <a:endParaRPr lang="en-US" dirty="0"/>
          </a:p>
        </p:txBody>
      </p:sp>
      <p:sp>
        <p:nvSpPr>
          <p:cNvPr id="5" name="TextBox 4">
            <a:extLst>
              <a:ext uri="{FF2B5EF4-FFF2-40B4-BE49-F238E27FC236}">
                <a16:creationId xmlns:a16="http://schemas.microsoft.com/office/drawing/2014/main" id="{119AAEC7-F4B9-3D13-CD33-A1E728C3CC33}"/>
              </a:ext>
            </a:extLst>
          </p:cNvPr>
          <p:cNvSpPr txBox="1"/>
          <p:nvPr/>
        </p:nvSpPr>
        <p:spPr>
          <a:xfrm>
            <a:off x="646111" y="5481952"/>
            <a:ext cx="11045146" cy="923330"/>
          </a:xfrm>
          <a:prstGeom prst="rect">
            <a:avLst/>
          </a:prstGeom>
          <a:noFill/>
          <a:ln>
            <a:solidFill>
              <a:schemeClr val="tx1"/>
            </a:solidFill>
          </a:ln>
        </p:spPr>
        <p:txBody>
          <a:bodyPr wrap="square">
            <a:spAutoFit/>
          </a:bodyPr>
          <a:lstStyle/>
          <a:p>
            <a:pPr lvl="0" algn="just" defTabSz="914400" eaLnBrk="0" fontAlgn="base" hangingPunct="0">
              <a:spcBef>
                <a:spcPct val="0"/>
              </a:spcBef>
              <a:spcAft>
                <a:spcPct val="0"/>
              </a:spcAft>
            </a:pPr>
            <a:r>
              <a:rPr lang="en-US" b="1" dirty="0">
                <a:latin typeface="Arial" panose="020B0604020202020204" pitchFamily="34" charset="0"/>
              </a:rPr>
              <a:t>Supervisory Control and Data Acquisition (SCADA) Systems</a:t>
            </a:r>
            <a:endParaRPr lang="en-US" dirty="0">
              <a:latin typeface="Arial" panose="020B0604020202020204" pitchFamily="34" charset="0"/>
            </a:endParaRPr>
          </a:p>
          <a:p>
            <a:pPr lvl="0" algn="just" defTabSz="914400" eaLnBrk="0" fontAlgn="base" hangingPunct="0">
              <a:spcBef>
                <a:spcPct val="0"/>
              </a:spcBef>
              <a:spcAft>
                <a:spcPct val="0"/>
              </a:spcAft>
              <a:buFontTx/>
              <a:buChar char="•"/>
            </a:pPr>
            <a:r>
              <a:rPr lang="en-US" dirty="0">
                <a:latin typeface="Arial" panose="020B0604020202020204" pitchFamily="34" charset="0"/>
              </a:rPr>
              <a:t>SCADA systems provide real-time monitoring and control of industrial processes.</a:t>
            </a:r>
          </a:p>
          <a:p>
            <a:pPr lvl="0" algn="just" defTabSz="914400" eaLnBrk="0" fontAlgn="base" hangingPunct="0">
              <a:spcBef>
                <a:spcPct val="0"/>
              </a:spcBef>
              <a:spcAft>
                <a:spcPct val="0"/>
              </a:spcAft>
              <a:buFontTx/>
              <a:buChar char="•"/>
            </a:pPr>
            <a:r>
              <a:rPr lang="en-US" dirty="0">
                <a:latin typeface="Arial" panose="020B0604020202020204" pitchFamily="34" charset="0"/>
              </a:rPr>
              <a:t>They integrate </a:t>
            </a:r>
            <a:r>
              <a:rPr lang="en-US" b="1" dirty="0">
                <a:latin typeface="Arial" panose="020B0604020202020204" pitchFamily="34" charset="0"/>
              </a:rPr>
              <a:t>PLC</a:t>
            </a:r>
            <a:r>
              <a:rPr lang="en-US" dirty="0">
                <a:latin typeface="Arial" panose="020B0604020202020204" pitchFamily="34" charset="0"/>
              </a:rPr>
              <a:t> systems, user interfaces, and data analytics for better process management.</a:t>
            </a:r>
          </a:p>
        </p:txBody>
      </p:sp>
      <p:sp>
        <p:nvSpPr>
          <p:cNvPr id="7" name="TextBox 6">
            <a:extLst>
              <a:ext uri="{FF2B5EF4-FFF2-40B4-BE49-F238E27FC236}">
                <a16:creationId xmlns:a16="http://schemas.microsoft.com/office/drawing/2014/main" id="{019ABBFD-6C7A-212A-9270-5E0A23B2FC55}"/>
              </a:ext>
            </a:extLst>
          </p:cNvPr>
          <p:cNvSpPr txBox="1"/>
          <p:nvPr/>
        </p:nvSpPr>
        <p:spPr>
          <a:xfrm>
            <a:off x="576166" y="295729"/>
            <a:ext cx="9855458" cy="1477328"/>
          </a:xfrm>
          <a:prstGeom prst="rect">
            <a:avLst/>
          </a:prstGeom>
          <a:noFill/>
        </p:spPr>
        <p:txBody>
          <a:bodyPr wrap="square">
            <a:spAutoFit/>
          </a:bodyPr>
          <a:lstStyle/>
          <a:p>
            <a:pPr marL="285750" indent="-285750">
              <a:buFont typeface="Arial" panose="020B0604020202020204" pitchFamily="34" charset="0"/>
              <a:buChar char="•"/>
            </a:pPr>
            <a:r>
              <a:rPr lang="en-US" b="1" dirty="0"/>
              <a:t>3. The "Memory" (Data Acquisition)</a:t>
            </a:r>
          </a:p>
          <a:p>
            <a:r>
              <a:rPr lang="en-US" dirty="0"/>
              <a:t>This is the "DA" in SCADA. It acts like a black box flight recorder for a factory.</a:t>
            </a:r>
          </a:p>
          <a:p>
            <a:r>
              <a:rPr lang="en-US" dirty="0"/>
              <a:t>Historian: It records every sensor reading and operator action into a database.</a:t>
            </a:r>
          </a:p>
          <a:p>
            <a:r>
              <a:rPr lang="en-US" dirty="0"/>
              <a:t>Analytics: Managers can look at last week’s data to see why a machine slowed down at 2:00 PM every day, helping them fix hidden problems.</a:t>
            </a:r>
            <a:endParaRPr lang="en-IN" dirty="0"/>
          </a:p>
        </p:txBody>
      </p:sp>
      <p:sp>
        <p:nvSpPr>
          <p:cNvPr id="9" name="TextBox 8">
            <a:extLst>
              <a:ext uri="{FF2B5EF4-FFF2-40B4-BE49-F238E27FC236}">
                <a16:creationId xmlns:a16="http://schemas.microsoft.com/office/drawing/2014/main" id="{24C66D3C-E03F-2902-B423-2FFB216EABCC}"/>
              </a:ext>
            </a:extLst>
          </p:cNvPr>
          <p:cNvSpPr txBox="1"/>
          <p:nvPr/>
        </p:nvSpPr>
        <p:spPr>
          <a:xfrm>
            <a:off x="576166" y="2077663"/>
            <a:ext cx="7658134" cy="2809680"/>
          </a:xfrm>
          <a:prstGeom prst="rect">
            <a:avLst/>
          </a:prstGeom>
          <a:noFill/>
        </p:spPr>
        <p:txBody>
          <a:bodyPr wrap="square">
            <a:spAutoFit/>
          </a:bodyPr>
          <a:lstStyle/>
          <a:p>
            <a:pPr algn="just"/>
            <a:r>
              <a:rPr lang="en-US" b="1" dirty="0"/>
              <a:t>Real-World Example: </a:t>
            </a:r>
            <a:r>
              <a:rPr lang="en-US" dirty="0"/>
              <a:t>A City Water Treatment Plant</a:t>
            </a:r>
          </a:p>
          <a:p>
            <a:pPr algn="just">
              <a:lnSpc>
                <a:spcPct val="150000"/>
              </a:lnSpc>
            </a:pPr>
            <a:r>
              <a:rPr lang="en-US" dirty="0"/>
              <a:t>PLCs: Small computers at various pump stations control individual valves.</a:t>
            </a:r>
          </a:p>
          <a:p>
            <a:pPr algn="just">
              <a:lnSpc>
                <a:spcPct val="150000"/>
              </a:lnSpc>
            </a:pPr>
            <a:r>
              <a:rPr lang="en-US" dirty="0"/>
              <a:t>SCADA: A central office with giant screens showing the water levels of every tank in the city. If a tank in the north side of town drops too low, the SCADA system alerts the engineer, who can remotely trigger a pump to refill it.</a:t>
            </a:r>
            <a:endParaRPr lang="en-IN" dirty="0"/>
          </a:p>
        </p:txBody>
      </p:sp>
      <p:pic>
        <p:nvPicPr>
          <p:cNvPr id="10" name="Picture 9">
            <a:extLst>
              <a:ext uri="{FF2B5EF4-FFF2-40B4-BE49-F238E27FC236}">
                <a16:creationId xmlns:a16="http://schemas.microsoft.com/office/drawing/2014/main" id="{865AEE18-ABA0-024C-FDA7-8B137C5D65B3}"/>
              </a:ext>
            </a:extLst>
          </p:cNvPr>
          <p:cNvPicPr>
            <a:picLocks noChangeAspect="1"/>
          </p:cNvPicPr>
          <p:nvPr/>
        </p:nvPicPr>
        <p:blipFill>
          <a:blip r:embed="rId2"/>
          <a:srcRect l="25566" t="9455" b="13182"/>
          <a:stretch>
            <a:fillRect/>
          </a:stretch>
        </p:blipFill>
        <p:spPr>
          <a:xfrm>
            <a:off x="8362719" y="2192695"/>
            <a:ext cx="3722153" cy="2579616"/>
          </a:xfrm>
          <a:prstGeom prst="rect">
            <a:avLst/>
          </a:prstGeom>
        </p:spPr>
      </p:pic>
    </p:spTree>
    <p:extLst>
      <p:ext uri="{BB962C8B-B14F-4D97-AF65-F5344CB8AC3E}">
        <p14:creationId xmlns:p14="http://schemas.microsoft.com/office/powerpoint/2010/main" val="30920527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84547-A9DB-333D-137B-AC8B5B56B7EA}"/>
              </a:ext>
            </a:extLst>
          </p:cNvPr>
          <p:cNvSpPr>
            <a:spLocks noGrp="1"/>
          </p:cNvSpPr>
          <p:nvPr>
            <p:ph type="title"/>
          </p:nvPr>
        </p:nvSpPr>
        <p:spPr>
          <a:xfrm>
            <a:off x="617911" y="172800"/>
            <a:ext cx="9404723" cy="1400530"/>
          </a:xfrm>
        </p:spPr>
        <p:txBody>
          <a:bodyPr/>
          <a:lstStyle/>
          <a:p>
            <a:r>
              <a:rPr lang="en-IN" sz="2800" b="1" dirty="0">
                <a:solidFill>
                  <a:srgbClr val="FFFF00"/>
                </a:solidFill>
              </a:rPr>
              <a:t>4. Industrial Robots</a:t>
            </a:r>
          </a:p>
        </p:txBody>
      </p:sp>
      <p:sp>
        <p:nvSpPr>
          <p:cNvPr id="3" name="Slide Number Placeholder 2">
            <a:extLst>
              <a:ext uri="{FF2B5EF4-FFF2-40B4-BE49-F238E27FC236}">
                <a16:creationId xmlns:a16="http://schemas.microsoft.com/office/drawing/2014/main" id="{D653014E-A693-BC4F-F353-838C978DA97B}"/>
              </a:ext>
            </a:extLst>
          </p:cNvPr>
          <p:cNvSpPr>
            <a:spLocks noGrp="1"/>
          </p:cNvSpPr>
          <p:nvPr>
            <p:ph type="sldNum" sz="quarter" idx="12"/>
          </p:nvPr>
        </p:nvSpPr>
        <p:spPr/>
        <p:txBody>
          <a:bodyPr/>
          <a:lstStyle/>
          <a:p>
            <a:fld id="{D57F1E4F-1CFF-5643-939E-02111984F565}" type="slidenum">
              <a:rPr lang="en-US" smtClean="0"/>
              <a:pPr/>
              <a:t>41</a:t>
            </a:fld>
            <a:endParaRPr lang="en-US" dirty="0"/>
          </a:p>
        </p:txBody>
      </p:sp>
      <p:sp>
        <p:nvSpPr>
          <p:cNvPr id="8" name="TextBox 7">
            <a:extLst>
              <a:ext uri="{FF2B5EF4-FFF2-40B4-BE49-F238E27FC236}">
                <a16:creationId xmlns:a16="http://schemas.microsoft.com/office/drawing/2014/main" id="{30364F63-FC0F-38F7-BBBE-52D527C33890}"/>
              </a:ext>
            </a:extLst>
          </p:cNvPr>
          <p:cNvSpPr txBox="1"/>
          <p:nvPr/>
        </p:nvSpPr>
        <p:spPr>
          <a:xfrm>
            <a:off x="556917" y="679572"/>
            <a:ext cx="10214722" cy="1200329"/>
          </a:xfrm>
          <a:prstGeom prst="rect">
            <a:avLst/>
          </a:prstGeom>
          <a:noFill/>
        </p:spPr>
        <p:txBody>
          <a:bodyPr wrap="square">
            <a:spAutoFit/>
          </a:bodyPr>
          <a:lstStyle/>
          <a:p>
            <a:r>
              <a:rPr lang="en-US" dirty="0"/>
              <a:t>If sensors/actuators are the limbs, PLCs are the local brain, and SCADA is the control tower, then Industrial Robots are the specialized workers on the floor.</a:t>
            </a:r>
          </a:p>
          <a:p>
            <a:r>
              <a:rPr lang="en-US" dirty="0"/>
              <a:t>They are the ultimate "all-in-one" systems that combine sensors, actuators, and complex programming to perform physical labor with extreme speed and precision.</a:t>
            </a:r>
          </a:p>
        </p:txBody>
      </p:sp>
      <p:sp>
        <p:nvSpPr>
          <p:cNvPr id="13" name="TextBox 12">
            <a:extLst>
              <a:ext uri="{FF2B5EF4-FFF2-40B4-BE49-F238E27FC236}">
                <a16:creationId xmlns:a16="http://schemas.microsoft.com/office/drawing/2014/main" id="{CD6E0D85-A886-D59C-3C34-B7A56E03DD60}"/>
              </a:ext>
            </a:extLst>
          </p:cNvPr>
          <p:cNvSpPr txBox="1"/>
          <p:nvPr/>
        </p:nvSpPr>
        <p:spPr>
          <a:xfrm>
            <a:off x="617911" y="2080102"/>
            <a:ext cx="11306611" cy="2031325"/>
          </a:xfrm>
          <a:prstGeom prst="rect">
            <a:avLst/>
          </a:prstGeom>
          <a:noFill/>
        </p:spPr>
        <p:txBody>
          <a:bodyPr wrap="square">
            <a:spAutoFit/>
          </a:bodyPr>
          <a:lstStyle/>
          <a:p>
            <a:pPr marL="285750" indent="-285750">
              <a:buFont typeface="Arial" panose="020B0604020202020204" pitchFamily="34" charset="0"/>
              <a:buChar char="•"/>
            </a:pPr>
            <a:r>
              <a:rPr lang="en-US" b="1" dirty="0"/>
              <a:t>1. What Makes an Industrial Robot?</a:t>
            </a:r>
          </a:p>
          <a:p>
            <a:r>
              <a:rPr lang="en-US" dirty="0"/>
              <a:t>Unlike a simple machine that does one thing, an industrial robot is reprogrammable and multipurpose. It usually consists of:</a:t>
            </a:r>
          </a:p>
          <a:p>
            <a:r>
              <a:rPr lang="en-US" dirty="0"/>
              <a:t>The Controller: The "brain" (often a specialized PLC) that coordinates movements.</a:t>
            </a:r>
          </a:p>
          <a:p>
            <a:r>
              <a:rPr lang="en-US" dirty="0"/>
              <a:t>The Manipulator: The mechanical arm that moves.</a:t>
            </a:r>
          </a:p>
          <a:p>
            <a:r>
              <a:rPr lang="en-US" dirty="0"/>
              <a:t>End-of-Arm Tooling (EOAT): The "hand" of the robot, which can be changed (e.g., a gripper, a welding torch, or a vacuum suction cup).</a:t>
            </a:r>
          </a:p>
        </p:txBody>
      </p:sp>
      <p:sp>
        <p:nvSpPr>
          <p:cNvPr id="16" name="TextBox 15">
            <a:extLst>
              <a:ext uri="{FF2B5EF4-FFF2-40B4-BE49-F238E27FC236}">
                <a16:creationId xmlns:a16="http://schemas.microsoft.com/office/drawing/2014/main" id="{E7077127-6548-FE89-79CD-62254865518D}"/>
              </a:ext>
            </a:extLst>
          </p:cNvPr>
          <p:cNvSpPr txBox="1"/>
          <p:nvPr/>
        </p:nvSpPr>
        <p:spPr>
          <a:xfrm>
            <a:off x="617911" y="4516277"/>
            <a:ext cx="10704545" cy="1477328"/>
          </a:xfrm>
          <a:prstGeom prst="rect">
            <a:avLst/>
          </a:prstGeom>
          <a:noFill/>
        </p:spPr>
        <p:txBody>
          <a:bodyPr wrap="square">
            <a:spAutoFit/>
          </a:bodyPr>
          <a:lstStyle/>
          <a:p>
            <a:pPr marL="285750" indent="-285750">
              <a:buFont typeface="Arial" panose="020B0604020202020204" pitchFamily="34" charset="0"/>
              <a:buChar char="•"/>
            </a:pPr>
            <a:r>
              <a:rPr lang="en-US" b="1" dirty="0"/>
              <a:t>2. The Three "D"s of Robotics</a:t>
            </a:r>
          </a:p>
          <a:p>
            <a:r>
              <a:rPr lang="en-US" dirty="0"/>
              <a:t>Industries typically deploy robots to handle tasks that fall into these three categories:</a:t>
            </a:r>
          </a:p>
          <a:p>
            <a:r>
              <a:rPr lang="en-US" dirty="0"/>
              <a:t>Dull: Repetitive tasks like picking up a box and moving it six inches, 10,000 times a day.</a:t>
            </a:r>
          </a:p>
          <a:p>
            <a:r>
              <a:rPr lang="en-US" dirty="0"/>
              <a:t>Dirty: Tasks in messy environments, like spray painting car bodies or handling chemicals.</a:t>
            </a:r>
          </a:p>
          <a:p>
            <a:r>
              <a:rPr lang="en-US" dirty="0"/>
              <a:t>Dangerous: Tasks like spot welding (sparks), heavy lifting, or working in extreme heat.</a:t>
            </a:r>
            <a:endParaRPr lang="en-IN" dirty="0"/>
          </a:p>
        </p:txBody>
      </p:sp>
    </p:spTree>
    <p:extLst>
      <p:ext uri="{BB962C8B-B14F-4D97-AF65-F5344CB8AC3E}">
        <p14:creationId xmlns:p14="http://schemas.microsoft.com/office/powerpoint/2010/main" val="22468945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C83AF0B-D780-9030-3F7B-11AA5A62FE1E}"/>
              </a:ext>
            </a:extLst>
          </p:cNvPr>
          <p:cNvSpPr>
            <a:spLocks noGrp="1"/>
          </p:cNvSpPr>
          <p:nvPr>
            <p:ph type="sldNum" sz="quarter" idx="12"/>
          </p:nvPr>
        </p:nvSpPr>
        <p:spPr/>
        <p:txBody>
          <a:bodyPr/>
          <a:lstStyle/>
          <a:p>
            <a:fld id="{D57F1E4F-1CFF-5643-939E-02111984F565}" type="slidenum">
              <a:rPr lang="en-US" smtClean="0"/>
              <a:pPr/>
              <a:t>42</a:t>
            </a:fld>
            <a:endParaRPr lang="en-US" dirty="0"/>
          </a:p>
        </p:txBody>
      </p:sp>
      <p:sp>
        <p:nvSpPr>
          <p:cNvPr id="6" name="TextBox 5">
            <a:extLst>
              <a:ext uri="{FF2B5EF4-FFF2-40B4-BE49-F238E27FC236}">
                <a16:creationId xmlns:a16="http://schemas.microsoft.com/office/drawing/2014/main" id="{92946C4A-438E-594C-6D69-FA2A84FD5C11}"/>
              </a:ext>
            </a:extLst>
          </p:cNvPr>
          <p:cNvSpPr txBox="1"/>
          <p:nvPr/>
        </p:nvSpPr>
        <p:spPr>
          <a:xfrm>
            <a:off x="548174" y="394433"/>
            <a:ext cx="10032740" cy="2031325"/>
          </a:xfrm>
          <a:prstGeom prst="rect">
            <a:avLst/>
          </a:prstGeom>
          <a:noFill/>
        </p:spPr>
        <p:txBody>
          <a:bodyPr wrap="square">
            <a:spAutoFit/>
          </a:bodyPr>
          <a:lstStyle/>
          <a:p>
            <a:r>
              <a:rPr lang="en-US" b="1" dirty="0"/>
              <a:t>3. Key Advantages</a:t>
            </a:r>
          </a:p>
          <a:p>
            <a:pPr marL="285750" indent="-285750">
              <a:buFont typeface="Arial" panose="020B0604020202020204" pitchFamily="34" charset="0"/>
              <a:buChar char="•"/>
            </a:pPr>
            <a:r>
              <a:rPr lang="en-US" u="sng" dirty="0"/>
              <a:t>Precision &amp; Repeatability: </a:t>
            </a:r>
            <a:r>
              <a:rPr lang="en-US" dirty="0"/>
              <a:t>A human might miss a weld by a millimeter after eight hours; a robot hits the exact same spot within 0.02mm every single time.</a:t>
            </a:r>
          </a:p>
          <a:p>
            <a:pPr marL="285750" indent="-285750">
              <a:buFont typeface="Arial" panose="020B0604020202020204" pitchFamily="34" charset="0"/>
              <a:buChar char="•"/>
            </a:pPr>
            <a:r>
              <a:rPr lang="en-US" u="sng" dirty="0"/>
              <a:t>High Throughput:</a:t>
            </a:r>
            <a:r>
              <a:rPr lang="en-US" dirty="0"/>
              <a:t> Robots don't need breaks, sleep, or lighting to see, allowing factories to run "lights-out" (24/7 operations).</a:t>
            </a:r>
          </a:p>
          <a:p>
            <a:pPr marL="285750" indent="-285750">
              <a:buFont typeface="Arial" panose="020B0604020202020204" pitchFamily="34" charset="0"/>
              <a:buChar char="•"/>
            </a:pPr>
            <a:r>
              <a:rPr lang="en-US" u="sng" dirty="0"/>
              <a:t>Adaptability: </a:t>
            </a:r>
            <a:r>
              <a:rPr lang="en-US" dirty="0"/>
              <a:t>If a factory stops making sedans and starts making SUVs, the robots don't need to be replaced—they just need new code and perhaps a different gripper.</a:t>
            </a:r>
            <a:endParaRPr lang="en-IN" dirty="0"/>
          </a:p>
        </p:txBody>
      </p:sp>
      <p:sp>
        <p:nvSpPr>
          <p:cNvPr id="9" name="TextBox 8">
            <a:extLst>
              <a:ext uri="{FF2B5EF4-FFF2-40B4-BE49-F238E27FC236}">
                <a16:creationId xmlns:a16="http://schemas.microsoft.com/office/drawing/2014/main" id="{657E7980-742A-E7CA-5994-E4F62F925EA8}"/>
              </a:ext>
            </a:extLst>
          </p:cNvPr>
          <p:cNvSpPr txBox="1"/>
          <p:nvPr/>
        </p:nvSpPr>
        <p:spPr>
          <a:xfrm>
            <a:off x="548174" y="2677917"/>
            <a:ext cx="11311034" cy="1477328"/>
          </a:xfrm>
          <a:prstGeom prst="rect">
            <a:avLst/>
          </a:prstGeom>
          <a:noFill/>
        </p:spPr>
        <p:txBody>
          <a:bodyPr wrap="square">
            <a:spAutoFit/>
          </a:bodyPr>
          <a:lstStyle/>
          <a:p>
            <a:r>
              <a:rPr lang="en-US" b="1" dirty="0"/>
              <a:t>4. Modern Trend: "</a:t>
            </a:r>
            <a:r>
              <a:rPr lang="en-US" b="1" dirty="0" err="1"/>
              <a:t>Cobots</a:t>
            </a:r>
            <a:r>
              <a:rPr lang="en-US" b="1" dirty="0"/>
              <a:t>"</a:t>
            </a:r>
          </a:p>
          <a:p>
            <a:r>
              <a:rPr lang="en-US" dirty="0"/>
              <a:t>The newest generation of industrial robots is the Collaborative Robot (</a:t>
            </a:r>
            <a:r>
              <a:rPr lang="en-US" dirty="0" err="1"/>
              <a:t>Cobot</a:t>
            </a:r>
            <a:r>
              <a:rPr lang="en-US" dirty="0"/>
              <a:t>).</a:t>
            </a:r>
          </a:p>
          <a:p>
            <a:r>
              <a:rPr lang="en-US" dirty="0"/>
              <a:t>Traditional Robots: High-speed, heavy, and dangerous. They must stay behind safety cages.</a:t>
            </a:r>
          </a:p>
          <a:p>
            <a:r>
              <a:rPr lang="en-US" dirty="0" err="1"/>
              <a:t>Cobots</a:t>
            </a:r>
            <a:r>
              <a:rPr lang="en-US" dirty="0"/>
              <a:t>: Equipped with advanced force sensors. If they touch a human, they stop instantly. They are designed to work side-by-side with people without a cage.</a:t>
            </a:r>
            <a:endParaRPr lang="en-IN" dirty="0"/>
          </a:p>
        </p:txBody>
      </p:sp>
      <p:pic>
        <p:nvPicPr>
          <p:cNvPr id="10" name="Picture 9">
            <a:extLst>
              <a:ext uri="{FF2B5EF4-FFF2-40B4-BE49-F238E27FC236}">
                <a16:creationId xmlns:a16="http://schemas.microsoft.com/office/drawing/2014/main" id="{89CB0BB2-4E97-08A6-A065-47693850EBA7}"/>
              </a:ext>
            </a:extLst>
          </p:cNvPr>
          <p:cNvPicPr>
            <a:picLocks noChangeAspect="1"/>
          </p:cNvPicPr>
          <p:nvPr/>
        </p:nvPicPr>
        <p:blipFill>
          <a:blip r:embed="rId2"/>
          <a:stretch>
            <a:fillRect/>
          </a:stretch>
        </p:blipFill>
        <p:spPr>
          <a:xfrm>
            <a:off x="8113745" y="4005683"/>
            <a:ext cx="3834882" cy="2556588"/>
          </a:xfrm>
          <a:prstGeom prst="rect">
            <a:avLst/>
          </a:prstGeom>
        </p:spPr>
      </p:pic>
      <p:sp>
        <p:nvSpPr>
          <p:cNvPr id="12" name="TextBox 11">
            <a:extLst>
              <a:ext uri="{FF2B5EF4-FFF2-40B4-BE49-F238E27FC236}">
                <a16:creationId xmlns:a16="http://schemas.microsoft.com/office/drawing/2014/main" id="{51044536-8D2F-DA43-3FCC-0590B8D532EA}"/>
              </a:ext>
            </a:extLst>
          </p:cNvPr>
          <p:cNvSpPr txBox="1"/>
          <p:nvPr/>
        </p:nvSpPr>
        <p:spPr>
          <a:xfrm>
            <a:off x="699408" y="4864941"/>
            <a:ext cx="6757696" cy="1477328"/>
          </a:xfrm>
          <a:prstGeom prst="rect">
            <a:avLst/>
          </a:prstGeom>
          <a:noFill/>
          <a:ln>
            <a:solidFill>
              <a:schemeClr val="tx1"/>
            </a:solidFill>
          </a:ln>
        </p:spPr>
        <p:txBody>
          <a:bodyPr wrap="square">
            <a:spAutoFit/>
          </a:bodyPr>
          <a:lstStyle/>
          <a:p>
            <a:pPr lvl="0" algn="just" defTabSz="914400" eaLnBrk="0" fontAlgn="base" hangingPunct="0">
              <a:spcBef>
                <a:spcPct val="0"/>
              </a:spcBef>
              <a:spcAft>
                <a:spcPct val="0"/>
              </a:spcAft>
            </a:pPr>
            <a:r>
              <a:rPr lang="en-US" b="1" dirty="0">
                <a:latin typeface="Arial" panose="020B0604020202020204" pitchFamily="34" charset="0"/>
              </a:rPr>
              <a:t>Industrial Robots</a:t>
            </a:r>
          </a:p>
          <a:p>
            <a:pPr marL="285750" lvl="0" indent="-285750" algn="just" defTabSz="914400" eaLnBrk="0" fontAlgn="base" hangingPunct="0">
              <a:spcBef>
                <a:spcPct val="0"/>
              </a:spcBef>
              <a:spcAft>
                <a:spcPct val="0"/>
              </a:spcAft>
              <a:buFont typeface="Arial" panose="020B0604020202020204" pitchFamily="34" charset="0"/>
              <a:buChar char="•"/>
            </a:pPr>
            <a:r>
              <a:rPr lang="en-US" dirty="0">
                <a:latin typeface="Arial" panose="020B0604020202020204" pitchFamily="34" charset="0"/>
              </a:rPr>
              <a:t>Robots automate repetitive tasks like assembly, welding, material handling, and packaging.</a:t>
            </a:r>
          </a:p>
          <a:p>
            <a:pPr marL="285750" lvl="0" indent="-285750" algn="just" defTabSz="914400" eaLnBrk="0" fontAlgn="base" hangingPunct="0">
              <a:spcBef>
                <a:spcPct val="0"/>
              </a:spcBef>
              <a:spcAft>
                <a:spcPct val="0"/>
              </a:spcAft>
              <a:buFont typeface="Arial" panose="020B0604020202020204" pitchFamily="34" charset="0"/>
              <a:buChar char="•"/>
            </a:pPr>
            <a:r>
              <a:rPr lang="en-US" dirty="0">
                <a:latin typeface="Arial" panose="020B0604020202020204" pitchFamily="34" charset="0"/>
              </a:rPr>
              <a:t>They improve accuracy and productivity while minimizing the need for human labor.</a:t>
            </a:r>
          </a:p>
        </p:txBody>
      </p:sp>
    </p:spTree>
    <p:extLst>
      <p:ext uri="{BB962C8B-B14F-4D97-AF65-F5344CB8AC3E}">
        <p14:creationId xmlns:p14="http://schemas.microsoft.com/office/powerpoint/2010/main" val="37850034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2E750-0A02-E7EE-72C2-914D5ECEA7BC}"/>
              </a:ext>
            </a:extLst>
          </p:cNvPr>
          <p:cNvSpPr>
            <a:spLocks noGrp="1"/>
          </p:cNvSpPr>
          <p:nvPr>
            <p:ph type="title"/>
          </p:nvPr>
        </p:nvSpPr>
        <p:spPr>
          <a:xfrm>
            <a:off x="646110" y="157902"/>
            <a:ext cx="9404723" cy="1400530"/>
          </a:xfrm>
        </p:spPr>
        <p:txBody>
          <a:bodyPr/>
          <a:lstStyle/>
          <a:p>
            <a:r>
              <a:rPr lang="en-US" sz="2400" dirty="0">
                <a:solidFill>
                  <a:srgbClr val="FFFF00"/>
                </a:solidFill>
                <a:latin typeface="Arial" panose="020B0604020202020204" pitchFamily="34" charset="0"/>
              </a:rPr>
              <a:t>5. </a:t>
            </a:r>
            <a:r>
              <a:rPr lang="en-US" sz="2400" b="1" dirty="0">
                <a:solidFill>
                  <a:srgbClr val="FFFF00"/>
                </a:solidFill>
                <a:latin typeface="Arial" panose="020B0604020202020204" pitchFamily="34" charset="0"/>
              </a:rPr>
              <a:t>Human-Machine Interfaces (HMI)</a:t>
            </a:r>
            <a:br>
              <a:rPr lang="en-US" sz="2400" b="1" dirty="0">
                <a:solidFill>
                  <a:srgbClr val="FFFF00"/>
                </a:solidFill>
                <a:latin typeface="Arial" panose="020B0604020202020204" pitchFamily="34" charset="0"/>
              </a:rPr>
            </a:br>
            <a:endParaRPr lang="en-IN" sz="2400" dirty="0">
              <a:solidFill>
                <a:srgbClr val="FFFF00"/>
              </a:solidFill>
            </a:endParaRPr>
          </a:p>
        </p:txBody>
      </p:sp>
      <p:sp>
        <p:nvSpPr>
          <p:cNvPr id="3" name="Slide Number Placeholder 2">
            <a:extLst>
              <a:ext uri="{FF2B5EF4-FFF2-40B4-BE49-F238E27FC236}">
                <a16:creationId xmlns:a16="http://schemas.microsoft.com/office/drawing/2014/main" id="{CF86D330-474E-1002-1964-67794D12F70F}"/>
              </a:ext>
            </a:extLst>
          </p:cNvPr>
          <p:cNvSpPr>
            <a:spLocks noGrp="1"/>
          </p:cNvSpPr>
          <p:nvPr>
            <p:ph type="sldNum" sz="quarter" idx="12"/>
          </p:nvPr>
        </p:nvSpPr>
        <p:spPr/>
        <p:txBody>
          <a:bodyPr/>
          <a:lstStyle/>
          <a:p>
            <a:fld id="{D57F1E4F-1CFF-5643-939E-02111984F565}" type="slidenum">
              <a:rPr lang="en-US" smtClean="0"/>
              <a:pPr/>
              <a:t>43</a:t>
            </a:fld>
            <a:endParaRPr lang="en-US" dirty="0"/>
          </a:p>
        </p:txBody>
      </p:sp>
      <p:sp>
        <p:nvSpPr>
          <p:cNvPr id="6" name="TextBox 5">
            <a:extLst>
              <a:ext uri="{FF2B5EF4-FFF2-40B4-BE49-F238E27FC236}">
                <a16:creationId xmlns:a16="http://schemas.microsoft.com/office/drawing/2014/main" id="{DDD277B9-F010-940A-09ED-F44309494D26}"/>
              </a:ext>
            </a:extLst>
          </p:cNvPr>
          <p:cNvSpPr txBox="1"/>
          <p:nvPr/>
        </p:nvSpPr>
        <p:spPr>
          <a:xfrm>
            <a:off x="646111" y="679572"/>
            <a:ext cx="9706429" cy="1200329"/>
          </a:xfrm>
          <a:prstGeom prst="rect">
            <a:avLst/>
          </a:prstGeom>
          <a:noFill/>
        </p:spPr>
        <p:txBody>
          <a:bodyPr wrap="square">
            <a:spAutoFit/>
          </a:bodyPr>
          <a:lstStyle/>
          <a:p>
            <a:r>
              <a:rPr lang="en-US" dirty="0"/>
              <a:t>If SCADA is the control tower for the whole factory, the Human-Machine Interface (HMI) is the dashboard on an individual machine.</a:t>
            </a:r>
          </a:p>
          <a:p>
            <a:r>
              <a:rPr lang="en-US" dirty="0"/>
              <a:t>It is the physical screen (usually a touchscreen) that allows a human operator to "talk" to a PLC without needing to understand complex computer code.</a:t>
            </a:r>
          </a:p>
        </p:txBody>
      </p:sp>
      <p:sp>
        <p:nvSpPr>
          <p:cNvPr id="8" name="TextBox 7">
            <a:extLst>
              <a:ext uri="{FF2B5EF4-FFF2-40B4-BE49-F238E27FC236}">
                <a16:creationId xmlns:a16="http://schemas.microsoft.com/office/drawing/2014/main" id="{9DDEFA5A-09BE-9FFD-7EB4-436848AE47EA}"/>
              </a:ext>
            </a:extLst>
          </p:cNvPr>
          <p:cNvSpPr txBox="1"/>
          <p:nvPr/>
        </p:nvSpPr>
        <p:spPr>
          <a:xfrm>
            <a:off x="646110" y="2142477"/>
            <a:ext cx="10961171" cy="1754326"/>
          </a:xfrm>
          <a:prstGeom prst="rect">
            <a:avLst/>
          </a:prstGeom>
          <a:noFill/>
        </p:spPr>
        <p:txBody>
          <a:bodyPr wrap="square">
            <a:spAutoFit/>
          </a:bodyPr>
          <a:lstStyle/>
          <a:p>
            <a:r>
              <a:rPr lang="en-US" b="1" dirty="0"/>
              <a:t>1. The Digital "Dashboard"</a:t>
            </a:r>
          </a:p>
          <a:p>
            <a:r>
              <a:rPr lang="en-US" dirty="0"/>
              <a:t>An HMI replaces physical buttons, switches, and dials with a digital display.</a:t>
            </a:r>
          </a:p>
          <a:p>
            <a:r>
              <a:rPr lang="en-US" dirty="0"/>
              <a:t>Visual Controls: Instead of 20 physical buttons, an operator sees a screen with "Start," "Stop," and "Reset" icons.</a:t>
            </a:r>
          </a:p>
          <a:p>
            <a:r>
              <a:rPr lang="en-US" dirty="0"/>
              <a:t>Live Feedback: It shows real-time data like "Current Temperature: 180°F" or "Parts Produced: 450."</a:t>
            </a:r>
          </a:p>
          <a:p>
            <a:r>
              <a:rPr lang="en-US" dirty="0"/>
              <a:t>System Status: It uses color-coding—Green for running, Yellow for standby, and Red for an error.</a:t>
            </a:r>
          </a:p>
        </p:txBody>
      </p:sp>
      <p:sp>
        <p:nvSpPr>
          <p:cNvPr id="10" name="TextBox 9">
            <a:extLst>
              <a:ext uri="{FF2B5EF4-FFF2-40B4-BE49-F238E27FC236}">
                <a16:creationId xmlns:a16="http://schemas.microsoft.com/office/drawing/2014/main" id="{59B5AE02-1656-A958-C187-A6A8237F939D}"/>
              </a:ext>
            </a:extLst>
          </p:cNvPr>
          <p:cNvSpPr txBox="1"/>
          <p:nvPr/>
        </p:nvSpPr>
        <p:spPr>
          <a:xfrm>
            <a:off x="646110" y="4114775"/>
            <a:ext cx="11063808" cy="2585323"/>
          </a:xfrm>
          <a:prstGeom prst="rect">
            <a:avLst/>
          </a:prstGeom>
          <a:noFill/>
        </p:spPr>
        <p:txBody>
          <a:bodyPr wrap="square">
            <a:spAutoFit/>
          </a:bodyPr>
          <a:lstStyle/>
          <a:p>
            <a:r>
              <a:rPr lang="en-US" b="1" dirty="0"/>
              <a:t>2. Why Use an HMI?</a:t>
            </a:r>
          </a:p>
          <a:p>
            <a:r>
              <a:rPr lang="en-US" dirty="0"/>
              <a:t>Before HMIs, machines had massive control panels with hundreds of wires. HMIs changed the game by offering:</a:t>
            </a:r>
          </a:p>
          <a:p>
            <a:r>
              <a:rPr lang="en-US" dirty="0"/>
              <a:t>Flexibility: If you want to add a new function to a machine, you just update the software on the HMI instead of drilling holes and wiring new physical buttons.</a:t>
            </a:r>
          </a:p>
          <a:p>
            <a:r>
              <a:rPr lang="en-US" dirty="0"/>
              <a:t>Detailed Diagnostics: When a machine breaks, the HMI can display a specific error message (e.g., "Emergency Stop Pressed on Conveyor 3") instead of just a generic warning light.</a:t>
            </a:r>
          </a:p>
          <a:p>
            <a:r>
              <a:rPr lang="en-US" dirty="0"/>
              <a:t>Historical Trends: Operators can view a small graph of the last hour’s performance right at the machine.</a:t>
            </a:r>
            <a:endParaRPr lang="en-IN" dirty="0"/>
          </a:p>
        </p:txBody>
      </p:sp>
    </p:spTree>
    <p:extLst>
      <p:ext uri="{BB962C8B-B14F-4D97-AF65-F5344CB8AC3E}">
        <p14:creationId xmlns:p14="http://schemas.microsoft.com/office/powerpoint/2010/main" val="33702747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952C9D7-43E1-09E4-5612-7866CD9042D1}"/>
              </a:ext>
            </a:extLst>
          </p:cNvPr>
          <p:cNvSpPr>
            <a:spLocks noGrp="1"/>
          </p:cNvSpPr>
          <p:nvPr>
            <p:ph type="sldNum" sz="quarter" idx="12"/>
          </p:nvPr>
        </p:nvSpPr>
        <p:spPr/>
        <p:txBody>
          <a:bodyPr/>
          <a:lstStyle/>
          <a:p>
            <a:fld id="{D57F1E4F-1CFF-5643-939E-02111984F565}" type="slidenum">
              <a:rPr lang="en-US" smtClean="0"/>
              <a:pPr/>
              <a:t>44</a:t>
            </a:fld>
            <a:endParaRPr lang="en-US" dirty="0"/>
          </a:p>
        </p:txBody>
      </p:sp>
      <p:sp>
        <p:nvSpPr>
          <p:cNvPr id="7" name="TextBox 6">
            <a:extLst>
              <a:ext uri="{FF2B5EF4-FFF2-40B4-BE49-F238E27FC236}">
                <a16:creationId xmlns:a16="http://schemas.microsoft.com/office/drawing/2014/main" id="{F1EF9113-FF35-A1FD-8F39-E2C7192513A5}"/>
              </a:ext>
            </a:extLst>
          </p:cNvPr>
          <p:cNvSpPr txBox="1"/>
          <p:nvPr/>
        </p:nvSpPr>
        <p:spPr>
          <a:xfrm>
            <a:off x="649257" y="4976335"/>
            <a:ext cx="8466752" cy="1200329"/>
          </a:xfrm>
          <a:prstGeom prst="rect">
            <a:avLst/>
          </a:prstGeom>
          <a:noFill/>
          <a:ln>
            <a:solidFill>
              <a:schemeClr val="tx1"/>
            </a:solidFill>
          </a:ln>
        </p:spPr>
        <p:txBody>
          <a:bodyPr wrap="square">
            <a:spAutoFit/>
          </a:bodyPr>
          <a:lstStyle/>
          <a:p>
            <a:pPr lvl="0" algn="just" defTabSz="914400" eaLnBrk="0" fontAlgn="base" hangingPunct="0">
              <a:spcBef>
                <a:spcPct val="0"/>
              </a:spcBef>
              <a:spcAft>
                <a:spcPct val="0"/>
              </a:spcAft>
            </a:pPr>
            <a:r>
              <a:rPr lang="en-US" b="1" dirty="0">
                <a:latin typeface="Arial" panose="020B0604020202020204" pitchFamily="34" charset="0"/>
              </a:rPr>
              <a:t>Human-Machine Interfaces (HMI)</a:t>
            </a:r>
          </a:p>
          <a:p>
            <a:pPr marL="285750" lvl="0" indent="-285750" algn="just" defTabSz="914400" eaLnBrk="0" fontAlgn="base" hangingPunct="0">
              <a:spcBef>
                <a:spcPct val="0"/>
              </a:spcBef>
              <a:spcAft>
                <a:spcPct val="0"/>
              </a:spcAft>
              <a:buFont typeface="Arial" panose="020B0604020202020204" pitchFamily="34" charset="0"/>
              <a:buChar char="•"/>
            </a:pPr>
            <a:r>
              <a:rPr lang="en-US" dirty="0">
                <a:latin typeface="Arial" panose="020B0604020202020204" pitchFamily="34" charset="0"/>
              </a:rPr>
              <a:t>HMIs provide operators with a graphical interface to interact with industrial systems.</a:t>
            </a:r>
          </a:p>
          <a:p>
            <a:pPr marL="285750" lvl="0" indent="-285750" algn="just" defTabSz="914400" eaLnBrk="0" fontAlgn="base" hangingPunct="0">
              <a:spcBef>
                <a:spcPct val="0"/>
              </a:spcBef>
              <a:spcAft>
                <a:spcPct val="0"/>
              </a:spcAft>
              <a:buFont typeface="Arial" panose="020B0604020202020204" pitchFamily="34" charset="0"/>
              <a:buChar char="•"/>
            </a:pPr>
            <a:r>
              <a:rPr lang="en-US" dirty="0">
                <a:latin typeface="Arial" panose="020B0604020202020204" pitchFamily="34" charset="0"/>
              </a:rPr>
              <a:t>They enable real-time data visualization and process control.</a:t>
            </a:r>
          </a:p>
        </p:txBody>
      </p:sp>
      <p:sp>
        <p:nvSpPr>
          <p:cNvPr id="10" name="TextBox 9">
            <a:extLst>
              <a:ext uri="{FF2B5EF4-FFF2-40B4-BE49-F238E27FC236}">
                <a16:creationId xmlns:a16="http://schemas.microsoft.com/office/drawing/2014/main" id="{218BD7A5-EB91-BFF2-6085-C45062DB7E8E}"/>
              </a:ext>
            </a:extLst>
          </p:cNvPr>
          <p:cNvSpPr txBox="1"/>
          <p:nvPr/>
        </p:nvSpPr>
        <p:spPr>
          <a:xfrm>
            <a:off x="445537" y="379705"/>
            <a:ext cx="9981648" cy="1754326"/>
          </a:xfrm>
          <a:prstGeom prst="rect">
            <a:avLst/>
          </a:prstGeom>
          <a:noFill/>
        </p:spPr>
        <p:txBody>
          <a:bodyPr wrap="square">
            <a:spAutoFit/>
          </a:bodyPr>
          <a:lstStyle/>
          <a:p>
            <a:r>
              <a:rPr lang="en-US" b="1" dirty="0"/>
              <a:t>3. HMI vs. SCADA: What’s the difference?</a:t>
            </a:r>
          </a:p>
          <a:p>
            <a:r>
              <a:rPr lang="en-US" dirty="0"/>
              <a:t>They look similar, but their scope is different:</a:t>
            </a:r>
          </a:p>
          <a:p>
            <a:r>
              <a:rPr lang="en-US" dirty="0"/>
              <a:t>HMI: Local. It controls one machine or a small part of a line. It is located right next to the hardware.</a:t>
            </a:r>
          </a:p>
          <a:p>
            <a:r>
              <a:rPr lang="en-US" dirty="0"/>
              <a:t>SCADA: Global. It monitors the entire factory or multiple sites. It is usually located in a central office.</a:t>
            </a:r>
            <a:endParaRPr lang="en-IN" dirty="0"/>
          </a:p>
        </p:txBody>
      </p:sp>
      <p:sp>
        <p:nvSpPr>
          <p:cNvPr id="12" name="TextBox 11">
            <a:extLst>
              <a:ext uri="{FF2B5EF4-FFF2-40B4-BE49-F238E27FC236}">
                <a16:creationId xmlns:a16="http://schemas.microsoft.com/office/drawing/2014/main" id="{3C6D2E19-2259-F310-6D91-82C60EA7D0BE}"/>
              </a:ext>
            </a:extLst>
          </p:cNvPr>
          <p:cNvSpPr txBox="1"/>
          <p:nvPr/>
        </p:nvSpPr>
        <p:spPr>
          <a:xfrm>
            <a:off x="445537" y="2413337"/>
            <a:ext cx="11572292" cy="2031325"/>
          </a:xfrm>
          <a:prstGeom prst="rect">
            <a:avLst/>
          </a:prstGeom>
          <a:noFill/>
        </p:spPr>
        <p:txBody>
          <a:bodyPr wrap="square">
            <a:spAutoFit/>
          </a:bodyPr>
          <a:lstStyle/>
          <a:p>
            <a:r>
              <a:rPr lang="en-US" b="1" dirty="0"/>
              <a:t>4. Real-World Example: </a:t>
            </a:r>
            <a:r>
              <a:rPr lang="en-US" dirty="0"/>
              <a:t>A High-Speed Bottling Line</a:t>
            </a:r>
          </a:p>
          <a:p>
            <a:pPr marL="285750" indent="-285750">
              <a:buFont typeface="Arial" panose="020B0604020202020204" pitchFamily="34" charset="0"/>
              <a:buChar char="•"/>
            </a:pPr>
            <a:r>
              <a:rPr lang="en-US" dirty="0"/>
              <a:t>The Operator's View: A technician walks up to a filling machine and looks at the HMI screen.</a:t>
            </a:r>
          </a:p>
          <a:p>
            <a:pPr marL="285750" indent="-285750">
              <a:buFont typeface="Arial" panose="020B0604020202020204" pitchFamily="34" charset="0"/>
              <a:buChar char="•"/>
            </a:pPr>
            <a:r>
              <a:rPr lang="en-US" dirty="0"/>
              <a:t>Input: They tap the screen to change the "Bottle Size" from 500ml to 1L.</a:t>
            </a:r>
          </a:p>
          <a:p>
            <a:pPr marL="285750" indent="-285750">
              <a:buFont typeface="Arial" panose="020B0604020202020204" pitchFamily="34" charset="0"/>
              <a:buChar char="•"/>
            </a:pPr>
            <a:r>
              <a:rPr lang="en-US" dirty="0"/>
              <a:t>Communication: The HMI sends this command to the PLC.</a:t>
            </a:r>
          </a:p>
          <a:p>
            <a:pPr marL="285750" indent="-285750">
              <a:buFont typeface="Arial" panose="020B0604020202020204" pitchFamily="34" charset="0"/>
              <a:buChar char="•"/>
            </a:pPr>
            <a:r>
              <a:rPr lang="en-US" dirty="0"/>
              <a:t>Execution: The PLC adjusts the actuators (valves) to stay open longer.</a:t>
            </a:r>
          </a:p>
          <a:p>
            <a:pPr marL="285750" indent="-285750">
              <a:buFont typeface="Arial" panose="020B0604020202020204" pitchFamily="34" charset="0"/>
              <a:buChar char="•"/>
            </a:pPr>
            <a:r>
              <a:rPr lang="en-US" dirty="0"/>
              <a:t>Feedback: The HMI screen updates to show "Target: 1000ml" so the operator knows the change worked.</a:t>
            </a:r>
          </a:p>
        </p:txBody>
      </p:sp>
      <p:pic>
        <p:nvPicPr>
          <p:cNvPr id="13" name="Picture 12">
            <a:extLst>
              <a:ext uri="{FF2B5EF4-FFF2-40B4-BE49-F238E27FC236}">
                <a16:creationId xmlns:a16="http://schemas.microsoft.com/office/drawing/2014/main" id="{DA19AD71-51E1-A7C2-E948-4A08F0E4303B}"/>
              </a:ext>
            </a:extLst>
          </p:cNvPr>
          <p:cNvPicPr>
            <a:picLocks noChangeAspect="1"/>
          </p:cNvPicPr>
          <p:nvPr/>
        </p:nvPicPr>
        <p:blipFill>
          <a:blip r:embed="rId2"/>
          <a:stretch>
            <a:fillRect/>
          </a:stretch>
        </p:blipFill>
        <p:spPr>
          <a:xfrm>
            <a:off x="9348528" y="4107154"/>
            <a:ext cx="2669301" cy="2669301"/>
          </a:xfrm>
          <a:prstGeom prst="rect">
            <a:avLst/>
          </a:prstGeom>
        </p:spPr>
      </p:pic>
    </p:spTree>
    <p:extLst>
      <p:ext uri="{BB962C8B-B14F-4D97-AF65-F5344CB8AC3E}">
        <p14:creationId xmlns:p14="http://schemas.microsoft.com/office/powerpoint/2010/main" val="6872842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45</a:t>
            </a:fld>
            <a:endParaRPr lang="en-US" dirty="0"/>
          </a:p>
        </p:txBody>
      </p:sp>
      <p:sp>
        <p:nvSpPr>
          <p:cNvPr id="5" name="TextBox 4"/>
          <p:cNvSpPr txBox="1"/>
          <p:nvPr/>
        </p:nvSpPr>
        <p:spPr>
          <a:xfrm>
            <a:off x="130628" y="548559"/>
            <a:ext cx="9144000" cy="6832640"/>
          </a:xfrm>
          <a:prstGeom prst="rect">
            <a:avLst/>
          </a:prstGeom>
          <a:noFill/>
        </p:spPr>
        <p:txBody>
          <a:bodyPr wrap="square" rtlCol="0">
            <a:spAutoFit/>
          </a:bodyPr>
          <a:lstStyle/>
          <a:p>
            <a:pPr algn="just"/>
            <a:r>
              <a:rPr lang="en-US" sz="2400" b="1" dirty="0">
                <a:solidFill>
                  <a:srgbClr val="FFFF00"/>
                </a:solidFill>
              </a:rPr>
              <a:t>Types of Industrial Automation</a:t>
            </a:r>
          </a:p>
          <a:p>
            <a:pPr algn="just"/>
            <a:r>
              <a:rPr lang="en-US" dirty="0"/>
              <a:t>Industrial automation is classified into different levels:</a:t>
            </a:r>
          </a:p>
          <a:p>
            <a:pPr algn="just"/>
            <a:endParaRPr lang="en-US" dirty="0"/>
          </a:p>
          <a:p>
            <a:pPr algn="just"/>
            <a:r>
              <a:rPr lang="en-US" b="1" dirty="0"/>
              <a:t>1. Fixed Automation (Hard Automation)</a:t>
            </a:r>
            <a:endParaRPr lang="en-US" dirty="0"/>
          </a:p>
          <a:p>
            <a:pPr marL="742950" lvl="1" indent="-285750" algn="just">
              <a:buFont typeface="Arial" panose="020B0604020202020204" pitchFamily="34" charset="0"/>
              <a:buChar char="•"/>
            </a:pPr>
            <a:r>
              <a:rPr lang="en-US" dirty="0"/>
              <a:t>Used for mass production with </a:t>
            </a:r>
            <a:r>
              <a:rPr lang="en-US" b="1" dirty="0"/>
              <a:t>highly repetitive</a:t>
            </a:r>
            <a:r>
              <a:rPr lang="en-US" dirty="0"/>
              <a:t> processes.</a:t>
            </a:r>
          </a:p>
          <a:p>
            <a:pPr marL="742950" lvl="1" indent="-285750" algn="just">
              <a:buFont typeface="Arial" panose="020B0604020202020204" pitchFamily="34" charset="0"/>
              <a:buChar char="•"/>
            </a:pPr>
            <a:r>
              <a:rPr lang="en-US" dirty="0"/>
              <a:t>Best suited for large-volume manufacturing (e.g., automotive assembly lines).</a:t>
            </a:r>
          </a:p>
          <a:p>
            <a:pPr marL="742950" lvl="1" indent="-285750" algn="just">
              <a:buFont typeface="Arial" panose="020B0604020202020204" pitchFamily="34" charset="0"/>
              <a:buChar char="•"/>
            </a:pPr>
            <a:r>
              <a:rPr lang="en-US" dirty="0"/>
              <a:t>Example: In a car manufacturing plant, a fixed automation line might use dedicated robotic arms, transfer lines, and conveyors to repeatedly perform the same welding or assembly steps on thousands of identical car bodies.</a:t>
            </a:r>
          </a:p>
          <a:p>
            <a:pPr marL="742950" lvl="1" indent="-285750" algn="just">
              <a:buFont typeface="Arial" panose="020B0604020202020204" pitchFamily="34" charset="0"/>
              <a:buChar char="•"/>
            </a:pPr>
            <a:endParaRPr lang="en-US" dirty="0"/>
          </a:p>
          <a:p>
            <a:pPr algn="just"/>
            <a:r>
              <a:rPr lang="en-US" b="1" dirty="0"/>
              <a:t>2. Programmable Automation</a:t>
            </a:r>
            <a:endParaRPr lang="en-US" dirty="0"/>
          </a:p>
          <a:p>
            <a:pPr marL="742950" lvl="1" indent="-285750" algn="just">
              <a:buFont typeface="Arial" panose="020B0604020202020204" pitchFamily="34" charset="0"/>
              <a:buChar char="•"/>
            </a:pPr>
            <a:r>
              <a:rPr lang="en-US" dirty="0"/>
              <a:t>Allows modification of process parameters using </a:t>
            </a:r>
            <a:r>
              <a:rPr lang="en-US" b="1" dirty="0"/>
              <a:t>software programming</a:t>
            </a:r>
            <a:r>
              <a:rPr lang="en-US" dirty="0"/>
              <a:t>.</a:t>
            </a:r>
          </a:p>
          <a:p>
            <a:pPr marL="742950" lvl="1" indent="-285750" algn="just">
              <a:buFont typeface="Arial" panose="020B0604020202020204" pitchFamily="34" charset="0"/>
              <a:buChar char="•"/>
            </a:pPr>
            <a:r>
              <a:rPr lang="en-US" dirty="0"/>
              <a:t>Ideal for batch production with varying product specifications.</a:t>
            </a:r>
          </a:p>
          <a:p>
            <a:pPr marL="742950" lvl="1" indent="-285750" algn="just">
              <a:buFont typeface="Arial" panose="020B0604020202020204" pitchFamily="34" charset="0"/>
              <a:buChar char="•"/>
            </a:pPr>
            <a:r>
              <a:rPr lang="en-US" dirty="0"/>
              <a:t>Example: In programmable robotic assembly cells in electronics manufacturing, where robots can be reprogrammed to assemble different smartphone models or circuit boards by changing the control software.</a:t>
            </a:r>
          </a:p>
          <a:p>
            <a:pPr marL="742950" lvl="1" indent="-285750" algn="just">
              <a:buFont typeface="Arial" panose="020B0604020202020204" pitchFamily="34" charset="0"/>
              <a:buChar char="•"/>
            </a:pPr>
            <a:endParaRPr lang="en-US" dirty="0"/>
          </a:p>
          <a:p>
            <a:pPr marL="742950" lvl="1" indent="-285750" algn="just">
              <a:buFont typeface="Arial" panose="020B0604020202020204" pitchFamily="34" charset="0"/>
              <a:buChar char="•"/>
            </a:pPr>
            <a:endParaRPr lang="en-US" dirty="0"/>
          </a:p>
          <a:p>
            <a:pPr marL="714375" lvl="1" indent="-257175" algn="just"/>
            <a:endParaRPr lang="en-US" dirty="0"/>
          </a:p>
          <a:p>
            <a:pPr lvl="1" algn="just"/>
            <a:endParaRPr lang="en-US" dirty="0"/>
          </a:p>
          <a:p>
            <a:pPr lvl="1" algn="just"/>
            <a:endParaRPr lang="en-US" dirty="0"/>
          </a:p>
        </p:txBody>
      </p:sp>
      <p:pic>
        <p:nvPicPr>
          <p:cNvPr id="4" name="Picture 3">
            <a:extLst>
              <a:ext uri="{FF2B5EF4-FFF2-40B4-BE49-F238E27FC236}">
                <a16:creationId xmlns:a16="http://schemas.microsoft.com/office/drawing/2014/main" id="{36E42059-B98A-E71B-060D-9EC665D19A79}"/>
              </a:ext>
            </a:extLst>
          </p:cNvPr>
          <p:cNvPicPr>
            <a:picLocks noChangeAspect="1"/>
          </p:cNvPicPr>
          <p:nvPr/>
        </p:nvPicPr>
        <p:blipFill>
          <a:blip r:embed="rId2"/>
          <a:stretch>
            <a:fillRect/>
          </a:stretch>
        </p:blipFill>
        <p:spPr>
          <a:xfrm>
            <a:off x="9237822" y="1889449"/>
            <a:ext cx="2847975" cy="1600200"/>
          </a:xfrm>
          <a:prstGeom prst="rect">
            <a:avLst/>
          </a:prstGeom>
        </p:spPr>
      </p:pic>
      <p:pic>
        <p:nvPicPr>
          <p:cNvPr id="7" name="Picture 6">
            <a:extLst>
              <a:ext uri="{FF2B5EF4-FFF2-40B4-BE49-F238E27FC236}">
                <a16:creationId xmlns:a16="http://schemas.microsoft.com/office/drawing/2014/main" id="{538561F1-8465-FE13-3D5E-E0C5D4A741CC}"/>
              </a:ext>
            </a:extLst>
          </p:cNvPr>
          <p:cNvPicPr>
            <a:picLocks noChangeAspect="1"/>
          </p:cNvPicPr>
          <p:nvPr/>
        </p:nvPicPr>
        <p:blipFill>
          <a:blip r:embed="rId3"/>
          <a:stretch>
            <a:fillRect/>
          </a:stretch>
        </p:blipFill>
        <p:spPr>
          <a:xfrm>
            <a:off x="9299024" y="4168451"/>
            <a:ext cx="2847975" cy="1600200"/>
          </a:xfrm>
          <a:prstGeom prst="rect">
            <a:avLst/>
          </a:prstGeom>
        </p:spPr>
      </p:pic>
    </p:spTree>
    <p:extLst>
      <p:ext uri="{BB962C8B-B14F-4D97-AF65-F5344CB8AC3E}">
        <p14:creationId xmlns:p14="http://schemas.microsoft.com/office/powerpoint/2010/main" val="41852327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292D384-0A0B-9D5F-5E10-2F6A2669B8C0}"/>
              </a:ext>
            </a:extLst>
          </p:cNvPr>
          <p:cNvSpPr>
            <a:spLocks noGrp="1"/>
          </p:cNvSpPr>
          <p:nvPr>
            <p:ph type="sldNum" sz="quarter" idx="12"/>
          </p:nvPr>
        </p:nvSpPr>
        <p:spPr/>
        <p:txBody>
          <a:bodyPr/>
          <a:lstStyle/>
          <a:p>
            <a:fld id="{D57F1E4F-1CFF-5643-939E-02111984F565}" type="slidenum">
              <a:rPr lang="en-US" smtClean="0"/>
              <a:pPr/>
              <a:t>46</a:t>
            </a:fld>
            <a:endParaRPr lang="en-US" dirty="0"/>
          </a:p>
        </p:txBody>
      </p:sp>
      <p:sp>
        <p:nvSpPr>
          <p:cNvPr id="5" name="TextBox 4">
            <a:extLst>
              <a:ext uri="{FF2B5EF4-FFF2-40B4-BE49-F238E27FC236}">
                <a16:creationId xmlns:a16="http://schemas.microsoft.com/office/drawing/2014/main" id="{3E7E2A67-EC3B-662D-D4E3-9A27CA1873C9}"/>
              </a:ext>
            </a:extLst>
          </p:cNvPr>
          <p:cNvSpPr txBox="1"/>
          <p:nvPr/>
        </p:nvSpPr>
        <p:spPr>
          <a:xfrm>
            <a:off x="165617" y="0"/>
            <a:ext cx="11572293" cy="7294305"/>
          </a:xfrm>
          <a:prstGeom prst="rect">
            <a:avLst/>
          </a:prstGeom>
          <a:noFill/>
        </p:spPr>
        <p:txBody>
          <a:bodyPr wrap="square">
            <a:spAutoFit/>
          </a:bodyPr>
          <a:lstStyle/>
          <a:p>
            <a:pPr lvl="0" algn="just" defTabSz="914400" eaLnBrk="0" fontAlgn="base" hangingPunct="0">
              <a:spcBef>
                <a:spcPct val="0"/>
              </a:spcBef>
              <a:spcAft>
                <a:spcPct val="0"/>
              </a:spcAft>
            </a:pPr>
            <a:r>
              <a:rPr lang="en-US" b="1" dirty="0">
                <a:latin typeface="Arial" panose="020B0604020202020204" pitchFamily="34" charset="0"/>
              </a:rPr>
              <a:t>3. Flexible Automation</a:t>
            </a:r>
            <a:endParaRPr lang="en-US" dirty="0">
              <a:latin typeface="Arial" panose="020B0604020202020204" pitchFamily="34" charset="0"/>
            </a:endParaRPr>
          </a:p>
          <a:p>
            <a:pPr marL="714375" lvl="0" indent="-266700" algn="just" defTabSz="914400" eaLnBrk="0" fontAlgn="base" hangingPunct="0">
              <a:spcBef>
                <a:spcPct val="0"/>
              </a:spcBef>
              <a:spcAft>
                <a:spcPct val="0"/>
              </a:spcAft>
              <a:buFont typeface="Arial" panose="020B0604020202020204" pitchFamily="34" charset="0"/>
              <a:buChar char="•"/>
            </a:pPr>
            <a:r>
              <a:rPr lang="en-US" dirty="0">
                <a:latin typeface="Arial" panose="020B0604020202020204" pitchFamily="34" charset="0"/>
              </a:rPr>
              <a:t>Enables </a:t>
            </a:r>
            <a:r>
              <a:rPr lang="en-US" b="1" dirty="0">
                <a:latin typeface="Arial" panose="020B0604020202020204" pitchFamily="34" charset="0"/>
              </a:rPr>
              <a:t>rapid product changes</a:t>
            </a:r>
            <a:r>
              <a:rPr lang="en-US" dirty="0">
                <a:latin typeface="Arial" panose="020B0604020202020204" pitchFamily="34" charset="0"/>
              </a:rPr>
              <a:t> without significant system modifications.</a:t>
            </a:r>
          </a:p>
          <a:p>
            <a:pPr marL="714375" lvl="0" indent="-266700" algn="just" defTabSz="914400" eaLnBrk="0" fontAlgn="base" hangingPunct="0">
              <a:spcBef>
                <a:spcPct val="0"/>
              </a:spcBef>
              <a:spcAft>
                <a:spcPct val="0"/>
              </a:spcAft>
              <a:buFont typeface="Arial" panose="020B0604020202020204" pitchFamily="34" charset="0"/>
              <a:buChar char="•"/>
            </a:pPr>
            <a:r>
              <a:rPr lang="en-US" dirty="0">
                <a:latin typeface="Arial" panose="020B0604020202020204" pitchFamily="34" charset="0"/>
              </a:rPr>
              <a:t>Commonly used in </a:t>
            </a:r>
            <a:r>
              <a:rPr lang="en-US" b="1" dirty="0">
                <a:latin typeface="Arial" panose="020B0604020202020204" pitchFamily="34" charset="0"/>
              </a:rPr>
              <a:t>custom manufacturing</a:t>
            </a:r>
            <a:r>
              <a:rPr lang="en-US" dirty="0">
                <a:latin typeface="Arial" panose="020B0604020202020204" pitchFamily="34" charset="0"/>
              </a:rPr>
              <a:t> or industries with dynamic product demands.</a:t>
            </a:r>
          </a:p>
          <a:p>
            <a:pPr marL="714375" lvl="0" indent="-266700" algn="just" defTabSz="914400" eaLnBrk="0" fontAlgn="base" hangingPunct="0">
              <a:spcBef>
                <a:spcPct val="0"/>
              </a:spcBef>
              <a:spcAft>
                <a:spcPct val="0"/>
              </a:spcAft>
              <a:buFont typeface="Arial" panose="020B0604020202020204" pitchFamily="34" charset="0"/>
              <a:buChar char="•"/>
            </a:pPr>
            <a:endParaRPr lang="en-US" dirty="0">
              <a:latin typeface="Arial" panose="020B0604020202020204" pitchFamily="34" charset="0"/>
            </a:endParaRPr>
          </a:p>
          <a:p>
            <a:pPr marL="714375" lvl="0" indent="-266700" algn="just" defTabSz="914400" eaLnBrk="0" fontAlgn="base" hangingPunct="0">
              <a:spcBef>
                <a:spcPct val="0"/>
              </a:spcBef>
              <a:spcAft>
                <a:spcPct val="0"/>
              </a:spcAft>
              <a:buFont typeface="Arial" panose="020B0604020202020204" pitchFamily="34" charset="0"/>
              <a:buChar char="•"/>
            </a:pPr>
            <a:r>
              <a:rPr lang="en-US" dirty="0">
                <a:latin typeface="Arial" panose="020B0604020202020204" pitchFamily="34" charset="0"/>
              </a:rPr>
              <a:t>Example :  Flexible Manufacturing System (FMS) in the Automotive Industry Modern car factories (e.g., Tesla, BMW, or Toyota plants) use flexible automation to assemble different car models or variants (sedan, SUV, electric/gasoline versions) on the same production line. Robots with quick tool changers and smart vision systems automatically switch between welding different body styles, installing various interiors, or painting different colors with almost zero downtime. The system is controlled by software that schedules and routes parts dynamically.</a:t>
            </a:r>
          </a:p>
          <a:p>
            <a:pPr marL="714375" lvl="0" indent="-266700" algn="just" defTabSz="914400" eaLnBrk="0" fontAlgn="base" hangingPunct="0">
              <a:spcBef>
                <a:spcPct val="0"/>
              </a:spcBef>
              <a:spcAft>
                <a:spcPct val="0"/>
              </a:spcAft>
              <a:buFont typeface="Arial" panose="020B0604020202020204" pitchFamily="34" charset="0"/>
              <a:buChar char="•"/>
            </a:pPr>
            <a:endParaRPr lang="en-US" dirty="0">
              <a:latin typeface="Arial" panose="020B0604020202020204" pitchFamily="34" charset="0"/>
            </a:endParaRPr>
          </a:p>
          <a:p>
            <a:pPr lvl="0" algn="just" defTabSz="914400" eaLnBrk="0" fontAlgn="base" hangingPunct="0">
              <a:spcBef>
                <a:spcPct val="0"/>
              </a:spcBef>
              <a:spcAft>
                <a:spcPct val="0"/>
              </a:spcAft>
            </a:pPr>
            <a:r>
              <a:rPr lang="en-US" b="1" dirty="0">
                <a:latin typeface="Arial" panose="020B0604020202020204" pitchFamily="34" charset="0"/>
              </a:rPr>
              <a:t>4. Integrated Automation</a:t>
            </a:r>
            <a:endParaRPr lang="en-US" dirty="0">
              <a:latin typeface="Arial" panose="020B0604020202020204" pitchFamily="34" charset="0"/>
            </a:endParaRPr>
          </a:p>
          <a:p>
            <a:pPr marL="714375" lvl="0" indent="-257175" algn="just" defTabSz="914400" eaLnBrk="0" fontAlgn="base" hangingPunct="0">
              <a:spcBef>
                <a:spcPct val="0"/>
              </a:spcBef>
              <a:spcAft>
                <a:spcPct val="0"/>
              </a:spcAft>
              <a:buFontTx/>
              <a:buChar char="•"/>
            </a:pPr>
            <a:r>
              <a:rPr lang="en-US" dirty="0">
                <a:latin typeface="Arial" panose="020B0604020202020204" pitchFamily="34" charset="0"/>
              </a:rPr>
              <a:t>Combines </a:t>
            </a:r>
            <a:r>
              <a:rPr lang="en-US" b="1" dirty="0">
                <a:latin typeface="Arial" panose="020B0604020202020204" pitchFamily="34" charset="0"/>
              </a:rPr>
              <a:t>AI, IoT, and advanced robotics</a:t>
            </a:r>
            <a:r>
              <a:rPr lang="en-US" dirty="0">
                <a:latin typeface="Arial" panose="020B0604020202020204" pitchFamily="34" charset="0"/>
              </a:rPr>
              <a:t> for complete industrial automation.</a:t>
            </a:r>
          </a:p>
          <a:p>
            <a:pPr marL="714375" lvl="0" indent="-257175" algn="just" defTabSz="914400" eaLnBrk="0" fontAlgn="base" hangingPunct="0">
              <a:spcBef>
                <a:spcPct val="0"/>
              </a:spcBef>
              <a:spcAft>
                <a:spcPct val="0"/>
              </a:spcAft>
              <a:buFontTx/>
              <a:buChar char="•"/>
            </a:pPr>
            <a:r>
              <a:rPr lang="en-US" dirty="0">
                <a:latin typeface="Arial" panose="020B0604020202020204" pitchFamily="34" charset="0"/>
              </a:rPr>
              <a:t>Allows autonomous decision-making and process optimization.</a:t>
            </a:r>
          </a:p>
          <a:p>
            <a:pPr marL="714375" lvl="0" indent="-257175" algn="just" defTabSz="914400" eaLnBrk="0" fontAlgn="base" hangingPunct="0">
              <a:spcBef>
                <a:spcPct val="0"/>
              </a:spcBef>
              <a:spcAft>
                <a:spcPct val="0"/>
              </a:spcAft>
              <a:buFontTx/>
              <a:buChar char="•"/>
            </a:pPr>
            <a:r>
              <a:rPr lang="en-US" dirty="0">
                <a:latin typeface="Arial" panose="020B0604020202020204" pitchFamily="34" charset="0"/>
              </a:rPr>
              <a:t>Example : </a:t>
            </a:r>
            <a:r>
              <a:rPr lang="en-US" b="1" dirty="0"/>
              <a:t>Smart Factory / Lights-Out Manufacturing</a:t>
            </a:r>
            <a:r>
              <a:rPr lang="en-US" dirty="0"/>
              <a:t> (e.g., FANUC’s robot factory in Japan or modern Tesla Gigafactories)</a:t>
            </a:r>
          </a:p>
          <a:p>
            <a:r>
              <a:rPr lang="en-US" dirty="0"/>
              <a:t>In these facilities:</a:t>
            </a:r>
          </a:p>
          <a:p>
            <a:pPr marL="342900" indent="-342900">
              <a:buFont typeface="+mj-lt"/>
              <a:buAutoNum type="arabicPeriod"/>
            </a:pPr>
            <a:r>
              <a:rPr lang="en-US" dirty="0"/>
              <a:t>IoT sensors collect data from every machine and robot.</a:t>
            </a:r>
          </a:p>
          <a:p>
            <a:pPr marL="342900" indent="-342900">
              <a:buFont typeface="+mj-lt"/>
              <a:buAutoNum type="arabicPeriod"/>
            </a:pPr>
            <a:r>
              <a:rPr lang="en-US" dirty="0"/>
              <a:t>AI analyzes the data in real-time to predict maintenance needs, adjust production speed, optimize robot paths, and handle quality control automatically.</a:t>
            </a:r>
          </a:p>
          <a:p>
            <a:pPr marL="342900" indent="-342900">
              <a:buFont typeface="+mj-lt"/>
              <a:buAutoNum type="arabicPeriod"/>
            </a:pPr>
            <a:r>
              <a:rPr lang="en-US" dirty="0"/>
              <a:t>Advanced collaborative robots and AGVs (Automated Guided Vehicles) work together with minimal human supervision.</a:t>
            </a:r>
          </a:p>
          <a:p>
            <a:pPr marL="342900" indent="-342900">
              <a:buFont typeface="+mj-lt"/>
              <a:buAutoNum type="arabicPeriod"/>
            </a:pPr>
            <a:r>
              <a:rPr lang="en-US" dirty="0"/>
              <a:t>The system can autonomously switch between product variants, reroute production if a machine fails, and self-optimize for energy efficiency or output.</a:t>
            </a:r>
          </a:p>
          <a:p>
            <a:pPr marL="714375" lvl="0" indent="-257175" algn="just" defTabSz="914400" eaLnBrk="0" fontAlgn="base" hangingPunct="0">
              <a:spcBef>
                <a:spcPct val="0"/>
              </a:spcBef>
              <a:spcAft>
                <a:spcPct val="0"/>
              </a:spcAft>
              <a:buFontTx/>
              <a:buChar char="•"/>
            </a:pPr>
            <a:endParaRPr lang="en-US" dirty="0">
              <a:latin typeface="Arial" panose="020B0604020202020204" pitchFamily="34" charset="0"/>
            </a:endParaRPr>
          </a:p>
        </p:txBody>
      </p:sp>
    </p:spTree>
    <p:extLst>
      <p:ext uri="{BB962C8B-B14F-4D97-AF65-F5344CB8AC3E}">
        <p14:creationId xmlns:p14="http://schemas.microsoft.com/office/powerpoint/2010/main" val="37016780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47</a:t>
            </a:fld>
            <a:endParaRPr lang="en-US" dirty="0"/>
          </a:p>
        </p:txBody>
      </p:sp>
      <p:sp>
        <p:nvSpPr>
          <p:cNvPr id="4" name="TextBox 3"/>
          <p:cNvSpPr txBox="1"/>
          <p:nvPr/>
        </p:nvSpPr>
        <p:spPr>
          <a:xfrm>
            <a:off x="3369906" y="175311"/>
            <a:ext cx="4857750" cy="523220"/>
          </a:xfrm>
          <a:prstGeom prst="rect">
            <a:avLst/>
          </a:prstGeom>
          <a:noFill/>
        </p:spPr>
        <p:txBody>
          <a:bodyPr wrap="square" rtlCol="0">
            <a:spAutoFit/>
          </a:bodyPr>
          <a:lstStyle/>
          <a:p>
            <a:r>
              <a:rPr lang="en-US" sz="2800" b="1" dirty="0">
                <a:solidFill>
                  <a:srgbClr val="FFFF00"/>
                </a:solidFill>
              </a:rPr>
              <a:t>Industrial Sensors</a:t>
            </a:r>
          </a:p>
        </p:txBody>
      </p:sp>
      <p:sp>
        <p:nvSpPr>
          <p:cNvPr id="5" name="TextBox 4"/>
          <p:cNvSpPr txBox="1"/>
          <p:nvPr/>
        </p:nvSpPr>
        <p:spPr>
          <a:xfrm>
            <a:off x="257175" y="679572"/>
            <a:ext cx="7591425" cy="2031325"/>
          </a:xfrm>
          <a:prstGeom prst="rect">
            <a:avLst/>
          </a:prstGeom>
          <a:noFill/>
        </p:spPr>
        <p:txBody>
          <a:bodyPr wrap="square" rtlCol="0">
            <a:spAutoFit/>
          </a:bodyPr>
          <a:lstStyle/>
          <a:p>
            <a:r>
              <a:rPr lang="en-US" dirty="0"/>
              <a:t>Industrial sensors are essential components of modern automation and control systems. They enable machines and systems to </a:t>
            </a:r>
            <a:r>
              <a:rPr lang="en-US" b="1" dirty="0"/>
              <a:t>monitor, measure, and respond</a:t>
            </a:r>
            <a:r>
              <a:rPr lang="en-US" dirty="0"/>
              <a:t> to changes in environmental and operational conditions. Sensors help in detecting physical, chemical, and electrical properties, ensuring efficient and precise industrial processes.</a:t>
            </a:r>
          </a:p>
          <a:p>
            <a:endParaRPr lang="en-IN" dirty="0"/>
          </a:p>
        </p:txBody>
      </p:sp>
      <p:sp>
        <p:nvSpPr>
          <p:cNvPr id="6" name="Rectangle 5"/>
          <p:cNvSpPr/>
          <p:nvPr/>
        </p:nvSpPr>
        <p:spPr>
          <a:xfrm>
            <a:off x="257175" y="2485109"/>
            <a:ext cx="7410450" cy="3693319"/>
          </a:xfrm>
          <a:prstGeom prst="rect">
            <a:avLst/>
          </a:prstGeom>
        </p:spPr>
        <p:txBody>
          <a:bodyPr wrap="square">
            <a:spAutoFit/>
          </a:bodyPr>
          <a:lstStyle/>
          <a:p>
            <a:r>
              <a:rPr lang="en-US" b="1" dirty="0"/>
              <a:t>Types of Industrial Sensors</a:t>
            </a:r>
          </a:p>
          <a:p>
            <a:pPr algn="just"/>
            <a:r>
              <a:rPr lang="en-US" dirty="0"/>
              <a:t>Industrial sensors are classified based on the type of measurement they perform. Some of the most commonly used sensors include:</a:t>
            </a:r>
          </a:p>
          <a:p>
            <a:pPr algn="just"/>
            <a:r>
              <a:rPr lang="en-US" b="1" dirty="0"/>
              <a:t>1. Temperature Sensors</a:t>
            </a:r>
          </a:p>
          <a:p>
            <a:pPr marL="285750" indent="-285750" algn="just">
              <a:buFont typeface="Wingdings" panose="05000000000000000000" pitchFamily="2" charset="2"/>
              <a:buChar char="§"/>
            </a:pPr>
            <a:r>
              <a:rPr lang="en-US" dirty="0"/>
              <a:t>Measure temperature variations in industrial processes.</a:t>
            </a:r>
          </a:p>
          <a:p>
            <a:pPr algn="just"/>
            <a:r>
              <a:rPr lang="en-US" b="1" dirty="0"/>
              <a:t>Types:</a:t>
            </a:r>
          </a:p>
          <a:p>
            <a:pPr marL="742950" lvl="1" indent="-285750" algn="just">
              <a:buFont typeface="Arial" panose="020B0604020202020204" pitchFamily="34" charset="0"/>
              <a:buChar char="•"/>
            </a:pPr>
            <a:r>
              <a:rPr lang="en-US" b="1" dirty="0"/>
              <a:t>Thermocouples:</a:t>
            </a:r>
            <a:r>
              <a:rPr lang="en-US" dirty="0"/>
              <a:t> Used for high-temperature applications. </a:t>
            </a:r>
          </a:p>
          <a:p>
            <a:pPr marL="742950" lvl="1" indent="-285750" algn="just">
              <a:buFont typeface="Arial" panose="020B0604020202020204" pitchFamily="34" charset="0"/>
              <a:buChar char="•"/>
            </a:pPr>
            <a:endParaRPr lang="en-US" dirty="0"/>
          </a:p>
          <a:p>
            <a:pPr marL="742950" lvl="1" indent="-285750" algn="just">
              <a:buFont typeface="Arial" panose="020B0604020202020204" pitchFamily="34" charset="0"/>
              <a:buChar char="•"/>
            </a:pPr>
            <a:r>
              <a:rPr lang="en-US" b="1" dirty="0"/>
              <a:t>RTDs (Resistance Temperature Detectors):</a:t>
            </a:r>
            <a:r>
              <a:rPr lang="en-US" dirty="0"/>
              <a:t> Provide accurate temperature readings. </a:t>
            </a:r>
          </a:p>
          <a:p>
            <a:pPr marL="742950" lvl="1" indent="-285750" algn="just">
              <a:buFont typeface="Arial" panose="020B0604020202020204" pitchFamily="34" charset="0"/>
              <a:buChar char="•"/>
            </a:pPr>
            <a:endParaRPr lang="en-US" dirty="0"/>
          </a:p>
          <a:p>
            <a:pPr marL="742950" lvl="1" indent="-285750" algn="just">
              <a:buFont typeface="Arial" panose="020B0604020202020204" pitchFamily="34" charset="0"/>
              <a:buChar char="•"/>
            </a:pPr>
            <a:r>
              <a:rPr lang="en-US" b="1" dirty="0"/>
              <a:t>Infrared Sensors:</a:t>
            </a:r>
            <a:r>
              <a:rPr lang="en-US" dirty="0"/>
              <a:t> Non-contact temperature measurement.</a:t>
            </a:r>
          </a:p>
        </p:txBody>
      </p:sp>
      <p:pic>
        <p:nvPicPr>
          <p:cNvPr id="9" name="Picture 8">
            <a:extLst>
              <a:ext uri="{FF2B5EF4-FFF2-40B4-BE49-F238E27FC236}">
                <a16:creationId xmlns:a16="http://schemas.microsoft.com/office/drawing/2014/main" id="{4AC2D450-767F-5C69-1248-880F7724126C}"/>
              </a:ext>
            </a:extLst>
          </p:cNvPr>
          <p:cNvPicPr>
            <a:picLocks noChangeAspect="1"/>
          </p:cNvPicPr>
          <p:nvPr/>
        </p:nvPicPr>
        <p:blipFill>
          <a:blip r:embed="rId2"/>
          <a:stretch>
            <a:fillRect/>
          </a:stretch>
        </p:blipFill>
        <p:spPr>
          <a:xfrm>
            <a:off x="9353018" y="2419983"/>
            <a:ext cx="1999043" cy="1424374"/>
          </a:xfrm>
          <a:prstGeom prst="rect">
            <a:avLst/>
          </a:prstGeom>
        </p:spPr>
      </p:pic>
      <p:sp>
        <p:nvSpPr>
          <p:cNvPr id="11" name="TextBox 10">
            <a:extLst>
              <a:ext uri="{FF2B5EF4-FFF2-40B4-BE49-F238E27FC236}">
                <a16:creationId xmlns:a16="http://schemas.microsoft.com/office/drawing/2014/main" id="{37AD901C-7E1B-B448-D8C1-DC11959D7CDD}"/>
              </a:ext>
            </a:extLst>
          </p:cNvPr>
          <p:cNvSpPr txBox="1"/>
          <p:nvPr/>
        </p:nvSpPr>
        <p:spPr>
          <a:xfrm>
            <a:off x="9495271" y="3493237"/>
            <a:ext cx="2187834" cy="369332"/>
          </a:xfrm>
          <a:prstGeom prst="rect">
            <a:avLst/>
          </a:prstGeom>
          <a:noFill/>
        </p:spPr>
        <p:txBody>
          <a:bodyPr wrap="square">
            <a:spAutoFit/>
          </a:bodyPr>
          <a:lstStyle/>
          <a:p>
            <a:r>
              <a:rPr lang="en-US" b="1" dirty="0">
                <a:solidFill>
                  <a:schemeClr val="bg1"/>
                </a:solidFill>
              </a:rPr>
              <a:t>Thermocouples</a:t>
            </a:r>
            <a:endParaRPr lang="en-IN" dirty="0">
              <a:solidFill>
                <a:schemeClr val="bg1"/>
              </a:solidFill>
            </a:endParaRPr>
          </a:p>
        </p:txBody>
      </p:sp>
      <p:sp>
        <p:nvSpPr>
          <p:cNvPr id="13" name="TextBox 12">
            <a:extLst>
              <a:ext uri="{FF2B5EF4-FFF2-40B4-BE49-F238E27FC236}">
                <a16:creationId xmlns:a16="http://schemas.microsoft.com/office/drawing/2014/main" id="{8E189FEE-3B35-39CE-7118-2919FA2E5F14}"/>
              </a:ext>
            </a:extLst>
          </p:cNvPr>
          <p:cNvSpPr txBox="1"/>
          <p:nvPr/>
        </p:nvSpPr>
        <p:spPr>
          <a:xfrm>
            <a:off x="7933547" y="4438017"/>
            <a:ext cx="4142597" cy="1200329"/>
          </a:xfrm>
          <a:prstGeom prst="rect">
            <a:avLst/>
          </a:prstGeom>
          <a:noFill/>
          <a:ln>
            <a:solidFill>
              <a:schemeClr val="tx1"/>
            </a:solidFill>
          </a:ln>
        </p:spPr>
        <p:txBody>
          <a:bodyPr wrap="square">
            <a:spAutoFit/>
          </a:bodyPr>
          <a:lstStyle/>
          <a:p>
            <a:r>
              <a:rPr lang="en-US" dirty="0"/>
              <a:t>Best for: Precise temperature control in chemical processes, food &amp; beverage, pharmaceuticals, and HVAC.</a:t>
            </a:r>
            <a:endParaRPr lang="en-IN" dirty="0"/>
          </a:p>
        </p:txBody>
      </p:sp>
      <p:cxnSp>
        <p:nvCxnSpPr>
          <p:cNvPr id="17" name="Straight Arrow Connector 16">
            <a:extLst>
              <a:ext uri="{FF2B5EF4-FFF2-40B4-BE49-F238E27FC236}">
                <a16:creationId xmlns:a16="http://schemas.microsoft.com/office/drawing/2014/main" id="{F9EF546D-9EE7-4B00-6137-487FA38B04FC}"/>
              </a:ext>
            </a:extLst>
          </p:cNvPr>
          <p:cNvCxnSpPr>
            <a:cxnSpLocks/>
            <a:endCxn id="13" idx="1"/>
          </p:cNvCxnSpPr>
          <p:nvPr/>
        </p:nvCxnSpPr>
        <p:spPr>
          <a:xfrm flipV="1">
            <a:off x="7667625" y="5038182"/>
            <a:ext cx="265922" cy="69609"/>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sp>
        <p:nvSpPr>
          <p:cNvPr id="21" name="TextBox 20">
            <a:extLst>
              <a:ext uri="{FF2B5EF4-FFF2-40B4-BE49-F238E27FC236}">
                <a16:creationId xmlns:a16="http://schemas.microsoft.com/office/drawing/2014/main" id="{7CD8A6A1-00A6-5E1B-0D42-514DF1245FCE}"/>
              </a:ext>
            </a:extLst>
          </p:cNvPr>
          <p:cNvSpPr txBox="1"/>
          <p:nvPr/>
        </p:nvSpPr>
        <p:spPr>
          <a:xfrm>
            <a:off x="5027643" y="6127217"/>
            <a:ext cx="7048501" cy="646331"/>
          </a:xfrm>
          <a:prstGeom prst="rect">
            <a:avLst/>
          </a:prstGeom>
          <a:noFill/>
          <a:ln>
            <a:solidFill>
              <a:schemeClr val="tx1"/>
            </a:solidFill>
          </a:ln>
        </p:spPr>
        <p:txBody>
          <a:bodyPr wrap="square">
            <a:spAutoFit/>
          </a:bodyPr>
          <a:lstStyle/>
          <a:p>
            <a:r>
              <a:rPr lang="en-US" dirty="0"/>
              <a:t>Best for: Glass manufacturing, metal forging, food processing (baking), and monitoring rotating machinery.</a:t>
            </a:r>
            <a:endParaRPr lang="en-IN" dirty="0"/>
          </a:p>
        </p:txBody>
      </p:sp>
      <p:cxnSp>
        <p:nvCxnSpPr>
          <p:cNvPr id="22" name="Straight Arrow Connector 21">
            <a:extLst>
              <a:ext uri="{FF2B5EF4-FFF2-40B4-BE49-F238E27FC236}">
                <a16:creationId xmlns:a16="http://schemas.microsoft.com/office/drawing/2014/main" id="{F18F4201-D249-59BD-45DE-3344DAE39D8A}"/>
              </a:ext>
            </a:extLst>
          </p:cNvPr>
          <p:cNvCxnSpPr>
            <a:cxnSpLocks/>
            <a:stCxn id="6" idx="2"/>
          </p:cNvCxnSpPr>
          <p:nvPr/>
        </p:nvCxnSpPr>
        <p:spPr>
          <a:xfrm>
            <a:off x="3962400" y="6178428"/>
            <a:ext cx="1065243" cy="271954"/>
          </a:xfrm>
          <a:prstGeom prst="straightConnector1">
            <a:avLst/>
          </a:prstGeom>
          <a:ln>
            <a:headEnd type="none" w="med" len="med"/>
            <a:tailEnd type="arrow" w="med" len="med"/>
          </a:ln>
        </p:spPr>
        <p:style>
          <a:lnRef idx="2">
            <a:schemeClr val="accent3"/>
          </a:lnRef>
          <a:fillRef idx="0">
            <a:schemeClr val="accent3"/>
          </a:fillRef>
          <a:effectRef idx="1">
            <a:schemeClr val="accent3"/>
          </a:effectRef>
          <a:fontRef idx="minor">
            <a:schemeClr val="tx1"/>
          </a:fontRef>
        </p:style>
      </p:cxnSp>
      <p:pic>
        <p:nvPicPr>
          <p:cNvPr id="28" name="Picture 27">
            <a:extLst>
              <a:ext uri="{FF2B5EF4-FFF2-40B4-BE49-F238E27FC236}">
                <a16:creationId xmlns:a16="http://schemas.microsoft.com/office/drawing/2014/main" id="{DA83188E-C17A-81BE-6E32-2E6622907D88}"/>
              </a:ext>
            </a:extLst>
          </p:cNvPr>
          <p:cNvPicPr>
            <a:picLocks noChangeAspect="1"/>
          </p:cNvPicPr>
          <p:nvPr/>
        </p:nvPicPr>
        <p:blipFill>
          <a:blip r:embed="rId3"/>
          <a:stretch>
            <a:fillRect/>
          </a:stretch>
        </p:blipFill>
        <p:spPr>
          <a:xfrm rot="16200000">
            <a:off x="1327852" y="5907149"/>
            <a:ext cx="667553" cy="1065244"/>
          </a:xfrm>
          <a:prstGeom prst="rect">
            <a:avLst/>
          </a:prstGeom>
        </p:spPr>
      </p:pic>
    </p:spTree>
    <p:extLst>
      <p:ext uri="{BB962C8B-B14F-4D97-AF65-F5344CB8AC3E}">
        <p14:creationId xmlns:p14="http://schemas.microsoft.com/office/powerpoint/2010/main" val="42815556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48</a:t>
            </a:fld>
            <a:endParaRPr lang="en-US" dirty="0"/>
          </a:p>
        </p:txBody>
      </p:sp>
      <p:sp>
        <p:nvSpPr>
          <p:cNvPr id="4" name="Rectangle 3"/>
          <p:cNvSpPr/>
          <p:nvPr/>
        </p:nvSpPr>
        <p:spPr>
          <a:xfrm>
            <a:off x="371475" y="335846"/>
            <a:ext cx="8934450" cy="5355312"/>
          </a:xfrm>
          <a:prstGeom prst="rect">
            <a:avLst/>
          </a:prstGeom>
        </p:spPr>
        <p:txBody>
          <a:bodyPr wrap="square">
            <a:spAutoFit/>
          </a:bodyPr>
          <a:lstStyle/>
          <a:p>
            <a:r>
              <a:rPr lang="en-US" b="1" dirty="0"/>
              <a:t>2. Pressure Sensors</a:t>
            </a:r>
          </a:p>
          <a:p>
            <a:pPr>
              <a:buFont typeface="Arial" panose="020B0604020202020204" pitchFamily="34" charset="0"/>
              <a:buChar char="•"/>
            </a:pPr>
            <a:r>
              <a:rPr lang="en-US" dirty="0"/>
              <a:t>Detect pressure levels in fluids and gases.</a:t>
            </a:r>
          </a:p>
          <a:p>
            <a:pPr>
              <a:buFont typeface="Arial" panose="020B0604020202020204" pitchFamily="34" charset="0"/>
              <a:buChar char="•"/>
            </a:pPr>
            <a:r>
              <a:rPr lang="en-US" dirty="0"/>
              <a:t>Types:</a:t>
            </a:r>
          </a:p>
          <a:p>
            <a:pPr marL="742950" lvl="1" indent="-285750">
              <a:buFont typeface="Arial" panose="020B0604020202020204" pitchFamily="34" charset="0"/>
              <a:buChar char="•"/>
            </a:pPr>
            <a:r>
              <a:rPr lang="en-US" b="1" dirty="0"/>
              <a:t>Strain Gauge Pressure Sensors:</a:t>
            </a:r>
            <a:r>
              <a:rPr lang="en-US" dirty="0"/>
              <a:t>  A thin metal diaphragm deforms under pressure. Strain gauges (small resistors) bonded to the diaphragm change electrical resistance when stretched or compressed. This change is measured using a Wheatstone bridge circuit.</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b="1" dirty="0"/>
              <a:t>Capacitive Pressure Sensors:</a:t>
            </a:r>
            <a:r>
              <a:rPr lang="en-US" dirty="0"/>
              <a:t> Pressure changes the distance or area between two capacitor plates (one is a flexible diaphragm). This alters the capacitance, which is converted into an electrical signal.</a:t>
            </a:r>
          </a:p>
          <a:p>
            <a:pPr marL="742950" lvl="1" indent="-285750">
              <a:buFont typeface="Arial" panose="020B0604020202020204" pitchFamily="34" charset="0"/>
              <a:buChar char="•"/>
            </a:pPr>
            <a:endParaRPr lang="en-US" b="1" dirty="0"/>
          </a:p>
          <a:p>
            <a:pPr marL="742950" lvl="1" indent="-285750">
              <a:buFont typeface="Arial" panose="020B0604020202020204" pitchFamily="34" charset="0"/>
              <a:buChar char="•"/>
            </a:pPr>
            <a:r>
              <a:rPr lang="en-US" b="1" dirty="0"/>
              <a:t>Piezoelectric Pressure Sensors:</a:t>
            </a:r>
            <a:r>
              <a:rPr lang="en-US" dirty="0"/>
              <a:t> Certain crystals (like quartz) generate an electric charge when mechanical stress (pressure) is applied to them.</a:t>
            </a:r>
          </a:p>
          <a:p>
            <a:pPr marL="742950" lvl="1" indent="-285750">
              <a:buFont typeface="Arial" panose="020B0604020202020204" pitchFamily="34" charset="0"/>
              <a:buChar char="•"/>
            </a:pPr>
            <a:endParaRPr lang="en-US" dirty="0"/>
          </a:p>
          <a:p>
            <a:pPr marL="742950" lvl="1" indent="-285750">
              <a:buFont typeface="Arial" panose="020B0604020202020204" pitchFamily="34" charset="0"/>
              <a:buChar char="•"/>
            </a:pPr>
            <a:r>
              <a:rPr lang="en-US" b="1" dirty="0"/>
              <a:t>Differential Pressure Sensors:</a:t>
            </a:r>
            <a:r>
              <a:rPr lang="en-US" dirty="0"/>
              <a:t> Measure the difference between two pressure points (high side and low side). Often used with orifice plates or pitot tubes for flow measurement.</a:t>
            </a:r>
          </a:p>
          <a:p>
            <a:pPr marL="742950" lvl="1" indent="-285750">
              <a:buFont typeface="Arial" panose="020B0604020202020204" pitchFamily="34" charset="0"/>
              <a:buChar char="•"/>
            </a:pPr>
            <a:endParaRPr lang="en-US" dirty="0"/>
          </a:p>
        </p:txBody>
      </p:sp>
      <p:grpSp>
        <p:nvGrpSpPr>
          <p:cNvPr id="8" name="Group 7">
            <a:extLst>
              <a:ext uri="{FF2B5EF4-FFF2-40B4-BE49-F238E27FC236}">
                <a16:creationId xmlns:a16="http://schemas.microsoft.com/office/drawing/2014/main" id="{72714102-6E34-42A8-E2B4-4CBCE71F53AE}"/>
              </a:ext>
            </a:extLst>
          </p:cNvPr>
          <p:cNvGrpSpPr/>
          <p:nvPr/>
        </p:nvGrpSpPr>
        <p:grpSpPr>
          <a:xfrm>
            <a:off x="9191550" y="1184988"/>
            <a:ext cx="3000450" cy="2028339"/>
            <a:chOff x="9214226" y="0"/>
            <a:chExt cx="3000450" cy="2028339"/>
          </a:xfrm>
        </p:grpSpPr>
        <p:pic>
          <p:nvPicPr>
            <p:cNvPr id="5" name="Picture 4">
              <a:extLst>
                <a:ext uri="{FF2B5EF4-FFF2-40B4-BE49-F238E27FC236}">
                  <a16:creationId xmlns:a16="http://schemas.microsoft.com/office/drawing/2014/main" id="{067DB1C2-C6B2-425A-2F79-5652E42C23D0}"/>
                </a:ext>
              </a:extLst>
            </p:cNvPr>
            <p:cNvPicPr>
              <a:picLocks noChangeAspect="1"/>
            </p:cNvPicPr>
            <p:nvPr/>
          </p:nvPicPr>
          <p:blipFill>
            <a:blip r:embed="rId2"/>
            <a:stretch>
              <a:fillRect/>
            </a:stretch>
          </p:blipFill>
          <p:spPr>
            <a:xfrm>
              <a:off x="9214226" y="0"/>
              <a:ext cx="2977774" cy="2028339"/>
            </a:xfrm>
            <a:prstGeom prst="rect">
              <a:avLst/>
            </a:prstGeom>
          </p:spPr>
        </p:pic>
        <p:sp>
          <p:nvSpPr>
            <p:cNvPr id="7" name="TextBox 6">
              <a:extLst>
                <a:ext uri="{FF2B5EF4-FFF2-40B4-BE49-F238E27FC236}">
                  <a16:creationId xmlns:a16="http://schemas.microsoft.com/office/drawing/2014/main" id="{7B2439A6-CE23-18DE-B232-3F8F9A66383D}"/>
                </a:ext>
              </a:extLst>
            </p:cNvPr>
            <p:cNvSpPr txBox="1"/>
            <p:nvPr/>
          </p:nvSpPr>
          <p:spPr>
            <a:xfrm>
              <a:off x="9328601" y="1720562"/>
              <a:ext cx="2886075" cy="307777"/>
            </a:xfrm>
            <a:prstGeom prst="rect">
              <a:avLst/>
            </a:prstGeom>
            <a:solidFill>
              <a:schemeClr val="tx1"/>
            </a:solidFill>
          </p:spPr>
          <p:txBody>
            <a:bodyPr wrap="square">
              <a:spAutoFit/>
            </a:bodyPr>
            <a:lstStyle/>
            <a:p>
              <a:r>
                <a:rPr lang="en-US" sz="1400" b="1" dirty="0">
                  <a:solidFill>
                    <a:schemeClr val="bg1"/>
                  </a:solidFill>
                </a:rPr>
                <a:t>Strain Gauge Pressure Sensors</a:t>
              </a:r>
              <a:endParaRPr lang="en-IN" sz="1400" dirty="0">
                <a:solidFill>
                  <a:schemeClr val="bg1"/>
                </a:solidFill>
              </a:endParaRPr>
            </a:p>
          </p:txBody>
        </p:sp>
      </p:grpSp>
    </p:spTree>
    <p:extLst>
      <p:ext uri="{BB962C8B-B14F-4D97-AF65-F5344CB8AC3E}">
        <p14:creationId xmlns:p14="http://schemas.microsoft.com/office/powerpoint/2010/main" val="6591864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B5FBF1A-01D5-D6B2-5B6D-FEAD560B9DCD}"/>
              </a:ext>
            </a:extLst>
          </p:cNvPr>
          <p:cNvSpPr>
            <a:spLocks noGrp="1"/>
          </p:cNvSpPr>
          <p:nvPr>
            <p:ph type="sldNum" sz="quarter" idx="12"/>
          </p:nvPr>
        </p:nvSpPr>
        <p:spPr/>
        <p:txBody>
          <a:bodyPr/>
          <a:lstStyle/>
          <a:p>
            <a:fld id="{D57F1E4F-1CFF-5643-939E-02111984F565}" type="slidenum">
              <a:rPr lang="en-US" smtClean="0"/>
              <a:pPr/>
              <a:t>49</a:t>
            </a:fld>
            <a:endParaRPr lang="en-US" dirty="0"/>
          </a:p>
        </p:txBody>
      </p:sp>
      <p:sp>
        <p:nvSpPr>
          <p:cNvPr id="5" name="TextBox 4">
            <a:extLst>
              <a:ext uri="{FF2B5EF4-FFF2-40B4-BE49-F238E27FC236}">
                <a16:creationId xmlns:a16="http://schemas.microsoft.com/office/drawing/2014/main" id="{83FC0367-B6F9-B7B7-FD10-1447E6F4AC3F}"/>
              </a:ext>
            </a:extLst>
          </p:cNvPr>
          <p:cNvSpPr txBox="1"/>
          <p:nvPr/>
        </p:nvSpPr>
        <p:spPr>
          <a:xfrm>
            <a:off x="492189" y="407697"/>
            <a:ext cx="11339027" cy="5355312"/>
          </a:xfrm>
          <a:prstGeom prst="rect">
            <a:avLst/>
          </a:prstGeom>
          <a:noFill/>
        </p:spPr>
        <p:txBody>
          <a:bodyPr wrap="square">
            <a:spAutoFit/>
          </a:bodyPr>
          <a:lstStyle/>
          <a:p>
            <a:r>
              <a:rPr lang="en-US" b="1" dirty="0"/>
              <a:t>3. Proximity Sensors (</a:t>
            </a:r>
            <a:r>
              <a:rPr lang="en-US" dirty="0"/>
              <a:t>Detect objects without physical contact)</a:t>
            </a:r>
          </a:p>
          <a:p>
            <a:endParaRPr lang="en-US" dirty="0"/>
          </a:p>
          <a:p>
            <a:r>
              <a:rPr lang="en-US" dirty="0"/>
              <a:t>Types:</a:t>
            </a:r>
          </a:p>
          <a:p>
            <a:pPr marL="742950" lvl="1" indent="-285750">
              <a:buFont typeface="Arial" panose="020B0604020202020204" pitchFamily="34" charset="0"/>
              <a:buChar char="•"/>
            </a:pPr>
            <a:r>
              <a:rPr lang="en-US" b="1" dirty="0"/>
              <a:t>Inductive Proximity Sensors:</a:t>
            </a:r>
            <a:r>
              <a:rPr lang="en-US" dirty="0"/>
              <a:t> Used for metallic object detection.</a:t>
            </a:r>
          </a:p>
          <a:p>
            <a:pPr marL="1200150" lvl="2" indent="-285750">
              <a:buFont typeface="Arial" panose="020B0604020202020204" pitchFamily="34" charset="0"/>
              <a:buChar char="•"/>
            </a:pPr>
            <a:r>
              <a:rPr lang="en-US" dirty="0"/>
              <a:t>Working : Generate an electromagnetic field. When a metallic object enters the field, it induces eddy currents that change the oscillation amplitude, triggering the sensor.</a:t>
            </a:r>
          </a:p>
          <a:p>
            <a:pPr marL="1200150" lvl="2" indent="-285750">
              <a:buFont typeface="Arial" panose="020B0604020202020204" pitchFamily="34" charset="0"/>
              <a:buChar char="•"/>
            </a:pPr>
            <a:endParaRPr lang="en-US" dirty="0"/>
          </a:p>
          <a:p>
            <a:pPr marL="742950" lvl="1" indent="-285750">
              <a:buFont typeface="Arial" panose="020B0604020202020204" pitchFamily="34" charset="0"/>
              <a:buChar char="•"/>
            </a:pPr>
            <a:r>
              <a:rPr lang="en-US" b="1" dirty="0"/>
              <a:t>Capacitive Proximity Sensors:</a:t>
            </a:r>
            <a:r>
              <a:rPr lang="en-US" dirty="0"/>
              <a:t> Detect non-metallic objects (plastic, liquids).</a:t>
            </a:r>
          </a:p>
          <a:p>
            <a:pPr marL="1200150" lvl="2" indent="-285750">
              <a:buFont typeface="Arial" panose="020B0604020202020204" pitchFamily="34" charset="0"/>
              <a:buChar char="•"/>
            </a:pPr>
            <a:r>
              <a:rPr lang="en-US" dirty="0"/>
              <a:t>Work: Detect changes in capacitance between the sensor and the target object. Any material (conductive or non-conductive) that enters the electrostatic field changes the capacitance.</a:t>
            </a:r>
          </a:p>
          <a:p>
            <a:pPr marL="1200150" lvl="2" indent="-285750">
              <a:buFont typeface="Arial" panose="020B0604020202020204" pitchFamily="34" charset="0"/>
              <a:buChar char="•"/>
            </a:pPr>
            <a:endParaRPr lang="en-US" dirty="0"/>
          </a:p>
          <a:p>
            <a:pPr marL="742950" lvl="1" indent="-285750">
              <a:buFont typeface="Arial" panose="020B0604020202020204" pitchFamily="34" charset="0"/>
              <a:buChar char="•"/>
            </a:pPr>
            <a:r>
              <a:rPr lang="en-US" b="1" dirty="0"/>
              <a:t>Ultrasonic Sensors:</a:t>
            </a:r>
            <a:r>
              <a:rPr lang="en-US" dirty="0"/>
              <a:t> Measure distance using sound waves.</a:t>
            </a:r>
          </a:p>
          <a:p>
            <a:pPr marL="1200150" lvl="2" indent="-285750">
              <a:buFont typeface="Arial" panose="020B0604020202020204" pitchFamily="34" charset="0"/>
              <a:buChar char="•"/>
            </a:pPr>
            <a:r>
              <a:rPr lang="en-US" dirty="0"/>
              <a:t>Work: Emit high-frequency sound waves (ultrasound) and measure the time it takes for the echo to return (Time of Flight).</a:t>
            </a:r>
          </a:p>
          <a:p>
            <a:pPr marL="1200150" lvl="2" indent="-285750">
              <a:buFont typeface="Arial" panose="020B0604020202020204" pitchFamily="34" charset="0"/>
              <a:buChar char="•"/>
            </a:pPr>
            <a:endParaRPr lang="en-US" dirty="0"/>
          </a:p>
          <a:p>
            <a:pPr marL="742950" lvl="1" indent="-285750">
              <a:buFont typeface="Arial" panose="020B0604020202020204" pitchFamily="34" charset="0"/>
              <a:buChar char="•"/>
            </a:pPr>
            <a:r>
              <a:rPr lang="en-US" b="1" dirty="0"/>
              <a:t>Optical Sensors:</a:t>
            </a:r>
            <a:r>
              <a:rPr lang="en-US" dirty="0"/>
              <a:t> Use light beams to detect objects.</a:t>
            </a:r>
          </a:p>
          <a:p>
            <a:pPr marL="1200150" lvl="2" indent="-285750">
              <a:buFont typeface="Arial" panose="020B0604020202020204" pitchFamily="34" charset="0"/>
              <a:buChar char="•"/>
            </a:pPr>
            <a:r>
              <a:rPr lang="en-US" dirty="0"/>
              <a:t>Work: Use a light beam (usually infrared or red LED laser). Types include Through-beam, Retro-reflective, and Diffuse-reflective.</a:t>
            </a:r>
          </a:p>
        </p:txBody>
      </p:sp>
    </p:spTree>
    <p:extLst>
      <p:ext uri="{BB962C8B-B14F-4D97-AF65-F5344CB8AC3E}">
        <p14:creationId xmlns:p14="http://schemas.microsoft.com/office/powerpoint/2010/main" val="14867716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50</a:t>
            </a:fld>
            <a:endParaRPr lang="en-US" dirty="0"/>
          </a:p>
        </p:txBody>
      </p:sp>
      <p:sp>
        <p:nvSpPr>
          <p:cNvPr id="4" name="Rectangle 3"/>
          <p:cNvSpPr/>
          <p:nvPr/>
        </p:nvSpPr>
        <p:spPr>
          <a:xfrm>
            <a:off x="800099" y="124279"/>
            <a:ext cx="9552441" cy="2308324"/>
          </a:xfrm>
          <a:prstGeom prst="rect">
            <a:avLst/>
          </a:prstGeom>
        </p:spPr>
        <p:txBody>
          <a:bodyPr wrap="square">
            <a:spAutoFit/>
          </a:bodyPr>
          <a:lstStyle/>
          <a:p>
            <a:r>
              <a:rPr lang="en-US" b="1" dirty="0"/>
              <a:t>4. Flow Sensors</a:t>
            </a:r>
          </a:p>
          <a:p>
            <a:pPr>
              <a:buFont typeface="Arial" panose="020B0604020202020204" pitchFamily="34" charset="0"/>
              <a:buChar char="•"/>
            </a:pPr>
            <a:r>
              <a:rPr lang="en-US" dirty="0"/>
              <a:t>Measure the flow rate of liquids and gases.</a:t>
            </a:r>
          </a:p>
          <a:p>
            <a:pPr>
              <a:buFont typeface="Arial" panose="020B0604020202020204" pitchFamily="34" charset="0"/>
              <a:buChar char="•"/>
            </a:pPr>
            <a:r>
              <a:rPr lang="en-US" dirty="0"/>
              <a:t>Types:</a:t>
            </a:r>
          </a:p>
          <a:p>
            <a:pPr marL="742950" lvl="1" indent="-285750">
              <a:buFont typeface="Arial" panose="020B0604020202020204" pitchFamily="34" charset="0"/>
              <a:buChar char="•"/>
            </a:pPr>
            <a:r>
              <a:rPr lang="en-US" b="1" dirty="0"/>
              <a:t>Turbine Flow Meters:</a:t>
            </a:r>
            <a:r>
              <a:rPr lang="en-US" dirty="0"/>
              <a:t> Detect fluid movement using rotating blades.</a:t>
            </a:r>
          </a:p>
          <a:p>
            <a:pPr marL="742950" lvl="1" indent="-285750">
              <a:buFont typeface="Arial" panose="020B0604020202020204" pitchFamily="34" charset="0"/>
              <a:buChar char="•"/>
            </a:pPr>
            <a:r>
              <a:rPr lang="en-US" b="1" dirty="0"/>
              <a:t>Electromagnetic Flow Sensors:</a:t>
            </a:r>
            <a:r>
              <a:rPr lang="en-US" dirty="0"/>
              <a:t> Use magnetic fields to measure flow in conductive fluids.</a:t>
            </a:r>
          </a:p>
          <a:p>
            <a:pPr marL="742950" lvl="1" indent="-285750">
              <a:buFont typeface="Arial" panose="020B0604020202020204" pitchFamily="34" charset="0"/>
              <a:buChar char="•"/>
            </a:pPr>
            <a:r>
              <a:rPr lang="en-US" b="1" dirty="0"/>
              <a:t>Ultrasonic Flow Meters:</a:t>
            </a:r>
            <a:r>
              <a:rPr lang="en-US" dirty="0"/>
              <a:t> Use sound waves to detect fluid movement.</a:t>
            </a:r>
          </a:p>
          <a:p>
            <a:pPr marL="742950" lvl="1" indent="-285750">
              <a:buFont typeface="Arial" panose="020B0604020202020204" pitchFamily="34" charset="0"/>
              <a:buChar char="•"/>
            </a:pPr>
            <a:r>
              <a:rPr lang="en-US" b="1" dirty="0"/>
              <a:t>Mass Flow Sensors:</a:t>
            </a:r>
            <a:r>
              <a:rPr lang="en-US" dirty="0"/>
              <a:t> Measure flow rate based on mass transfer.</a:t>
            </a:r>
          </a:p>
        </p:txBody>
      </p:sp>
      <p:sp>
        <p:nvSpPr>
          <p:cNvPr id="5" name="Rectangle 4"/>
          <p:cNvSpPr/>
          <p:nvPr/>
        </p:nvSpPr>
        <p:spPr>
          <a:xfrm>
            <a:off x="800099" y="2685109"/>
            <a:ext cx="10163370" cy="2031325"/>
          </a:xfrm>
          <a:prstGeom prst="rect">
            <a:avLst/>
          </a:prstGeom>
        </p:spPr>
        <p:txBody>
          <a:bodyPr wrap="square">
            <a:spAutoFit/>
          </a:bodyPr>
          <a:lstStyle/>
          <a:p>
            <a:r>
              <a:rPr lang="en-IN" b="1" dirty="0"/>
              <a:t>5. Motion Sensors</a:t>
            </a:r>
          </a:p>
          <a:p>
            <a:pPr>
              <a:buFont typeface="Arial" panose="020B0604020202020204" pitchFamily="34" charset="0"/>
              <a:buChar char="•"/>
            </a:pPr>
            <a:r>
              <a:rPr lang="en-IN" dirty="0"/>
              <a:t>Detect movement in industrial settings.</a:t>
            </a:r>
          </a:p>
          <a:p>
            <a:pPr>
              <a:buFont typeface="Arial" panose="020B0604020202020204" pitchFamily="34" charset="0"/>
              <a:buChar char="•"/>
            </a:pPr>
            <a:r>
              <a:rPr lang="en-IN" dirty="0"/>
              <a:t>Types:</a:t>
            </a:r>
          </a:p>
          <a:p>
            <a:pPr marL="742950" lvl="1" indent="-285750">
              <a:buFont typeface="Arial" panose="020B0604020202020204" pitchFamily="34" charset="0"/>
              <a:buChar char="•"/>
            </a:pPr>
            <a:r>
              <a:rPr lang="en-IN" b="1" dirty="0"/>
              <a:t>Infrared Motion Sensors:</a:t>
            </a:r>
            <a:r>
              <a:rPr lang="en-IN" dirty="0"/>
              <a:t> Identify heat signatures.</a:t>
            </a:r>
          </a:p>
          <a:p>
            <a:pPr marL="742950" lvl="1" indent="-285750">
              <a:buFont typeface="Arial" panose="020B0604020202020204" pitchFamily="34" charset="0"/>
              <a:buChar char="•"/>
            </a:pPr>
            <a:r>
              <a:rPr lang="en-IN" b="1" dirty="0"/>
              <a:t>Ultrasonic Motion Sensors:</a:t>
            </a:r>
            <a:r>
              <a:rPr lang="en-IN" dirty="0"/>
              <a:t> Detect movement using sound waves.</a:t>
            </a:r>
          </a:p>
          <a:p>
            <a:pPr marL="742950" lvl="1" indent="-285750">
              <a:buFont typeface="Arial" panose="020B0604020202020204" pitchFamily="34" charset="0"/>
              <a:buChar char="•"/>
            </a:pPr>
            <a:r>
              <a:rPr lang="en-IN" b="1" dirty="0"/>
              <a:t>Laser Motion Sensors:</a:t>
            </a:r>
            <a:r>
              <a:rPr lang="en-IN" dirty="0"/>
              <a:t> High-precision detection for security and automation.</a:t>
            </a:r>
          </a:p>
          <a:p>
            <a:pPr marL="742950" lvl="1" indent="-285750">
              <a:buFont typeface="Arial" panose="020B0604020202020204" pitchFamily="34" charset="0"/>
              <a:buChar char="•"/>
            </a:pPr>
            <a:endParaRPr lang="en-IN" dirty="0"/>
          </a:p>
        </p:txBody>
      </p:sp>
    </p:spTree>
    <p:extLst>
      <p:ext uri="{BB962C8B-B14F-4D97-AF65-F5344CB8AC3E}">
        <p14:creationId xmlns:p14="http://schemas.microsoft.com/office/powerpoint/2010/main" val="11857942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B2DC5EB-7C94-9C5B-BA97-5E8D04BFF95E}"/>
              </a:ext>
            </a:extLst>
          </p:cNvPr>
          <p:cNvSpPr>
            <a:spLocks noGrp="1"/>
          </p:cNvSpPr>
          <p:nvPr>
            <p:ph type="sldNum" sz="quarter" idx="12"/>
          </p:nvPr>
        </p:nvSpPr>
        <p:spPr/>
        <p:txBody>
          <a:bodyPr/>
          <a:lstStyle/>
          <a:p>
            <a:fld id="{D57F1E4F-1CFF-5643-939E-02111984F565}" type="slidenum">
              <a:rPr lang="en-US" smtClean="0"/>
              <a:pPr/>
              <a:t>51</a:t>
            </a:fld>
            <a:endParaRPr lang="en-US" dirty="0"/>
          </a:p>
        </p:txBody>
      </p:sp>
      <p:sp>
        <p:nvSpPr>
          <p:cNvPr id="5" name="TextBox 4">
            <a:extLst>
              <a:ext uri="{FF2B5EF4-FFF2-40B4-BE49-F238E27FC236}">
                <a16:creationId xmlns:a16="http://schemas.microsoft.com/office/drawing/2014/main" id="{D1129654-3CB2-572D-8C27-FD893A2575C5}"/>
              </a:ext>
            </a:extLst>
          </p:cNvPr>
          <p:cNvSpPr txBox="1"/>
          <p:nvPr/>
        </p:nvSpPr>
        <p:spPr>
          <a:xfrm>
            <a:off x="538844" y="295729"/>
            <a:ext cx="9678176" cy="5632311"/>
          </a:xfrm>
          <a:prstGeom prst="rect">
            <a:avLst/>
          </a:prstGeom>
          <a:noFill/>
        </p:spPr>
        <p:txBody>
          <a:bodyPr wrap="square">
            <a:spAutoFit/>
          </a:bodyPr>
          <a:lstStyle/>
          <a:p>
            <a:r>
              <a:rPr lang="en-IN" b="1" dirty="0"/>
              <a:t>6. Gas Sensors</a:t>
            </a:r>
          </a:p>
          <a:p>
            <a:pPr>
              <a:buFont typeface="Arial" panose="020B0604020202020204" pitchFamily="34" charset="0"/>
              <a:buChar char="•"/>
            </a:pPr>
            <a:r>
              <a:rPr lang="en-IN" dirty="0"/>
              <a:t>Measure gas concentration and detect leaks.</a:t>
            </a:r>
          </a:p>
          <a:p>
            <a:pPr>
              <a:buFont typeface="Arial" panose="020B0604020202020204" pitchFamily="34" charset="0"/>
              <a:buChar char="•"/>
            </a:pPr>
            <a:r>
              <a:rPr lang="en-IN" dirty="0"/>
              <a:t>Types:</a:t>
            </a:r>
          </a:p>
          <a:p>
            <a:pPr marL="742950" lvl="1" indent="-285750">
              <a:buFont typeface="Arial" panose="020B0604020202020204" pitchFamily="34" charset="0"/>
              <a:buChar char="•"/>
            </a:pPr>
            <a:r>
              <a:rPr lang="en-IN" b="1" dirty="0"/>
              <a:t>Electrochemical Gas Sensors:</a:t>
            </a:r>
            <a:r>
              <a:rPr lang="en-IN" dirty="0"/>
              <a:t> Detect oxygen, CO, and toxic gases.</a:t>
            </a:r>
          </a:p>
          <a:p>
            <a:pPr marL="1200150" lvl="2" indent="-285750">
              <a:buFont typeface="Arial" panose="020B0604020202020204" pitchFamily="34" charset="0"/>
              <a:buChar char="•"/>
            </a:pPr>
            <a:r>
              <a:rPr lang="en-US" dirty="0"/>
              <a:t>Work: Gas reacts chemically with an electrolyte inside the sensor, producing an electrical current proportional to the gas concentration.</a:t>
            </a:r>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r>
              <a:rPr lang="en-IN" b="1" dirty="0"/>
              <a:t>Catalytic Bead Sensors:</a:t>
            </a:r>
            <a:r>
              <a:rPr lang="en-IN" dirty="0"/>
              <a:t> Used for detecting combustible gases.</a:t>
            </a:r>
          </a:p>
          <a:p>
            <a:pPr marL="1200150" lvl="2" indent="-285750">
              <a:buFont typeface="Arial" panose="020B0604020202020204" pitchFamily="34" charset="0"/>
              <a:buChar char="•"/>
            </a:pPr>
            <a:r>
              <a:rPr lang="en-US" dirty="0"/>
              <a:t>Work: A catalytic bead heats up and burns combustible gas on its surface. The temperature rise changes the resistance of a wire inside the bead.</a:t>
            </a:r>
          </a:p>
          <a:p>
            <a:pPr marL="742950" lvl="1" indent="-285750">
              <a:buFont typeface="Arial" panose="020B0604020202020204" pitchFamily="34" charset="0"/>
              <a:buChar char="•"/>
            </a:pPr>
            <a:endParaRPr lang="en-IN" dirty="0"/>
          </a:p>
          <a:p>
            <a:pPr marL="742950" lvl="1" indent="-285750">
              <a:buFont typeface="Arial" panose="020B0604020202020204" pitchFamily="34" charset="0"/>
              <a:buChar char="•"/>
            </a:pPr>
            <a:r>
              <a:rPr lang="en-IN" b="1" dirty="0"/>
              <a:t>Infrared Gas Sensors:</a:t>
            </a:r>
            <a:r>
              <a:rPr lang="en-IN" dirty="0"/>
              <a:t> Monitor gas emissions in industries.</a:t>
            </a:r>
          </a:p>
          <a:p>
            <a:pPr marL="1200150" lvl="2" indent="-285750">
              <a:buFont typeface="Arial" panose="020B0604020202020204" pitchFamily="34" charset="0"/>
              <a:buChar char="•"/>
            </a:pPr>
            <a:r>
              <a:rPr lang="en-US" dirty="0"/>
              <a:t>Work: Gases absorb specific wavelengths of infrared light. The sensor measures how much IR light is absorbed to determine gas concentration (NDIR – Non-Dispersive Infrared).</a:t>
            </a:r>
          </a:p>
          <a:p>
            <a:pPr marL="1200150" lvl="2" indent="-285750">
              <a:buFont typeface="Arial" panose="020B0604020202020204" pitchFamily="34" charset="0"/>
              <a:buChar char="•"/>
            </a:pPr>
            <a:endParaRPr lang="en-IN" dirty="0"/>
          </a:p>
          <a:p>
            <a:pPr marL="742950" lvl="1" indent="-285750">
              <a:buFont typeface="Arial" panose="020B0604020202020204" pitchFamily="34" charset="0"/>
              <a:buChar char="•"/>
            </a:pPr>
            <a:r>
              <a:rPr lang="en-IN" b="1" dirty="0"/>
              <a:t>Semiconductor Gas Sensors:</a:t>
            </a:r>
            <a:r>
              <a:rPr lang="en-IN" dirty="0"/>
              <a:t> Detect volatile organic compounds (VOCs)</a:t>
            </a:r>
          </a:p>
          <a:p>
            <a:pPr marL="1200150" lvl="2" indent="-285750">
              <a:buFont typeface="Arial" panose="020B0604020202020204" pitchFamily="34" charset="0"/>
              <a:buChar char="•"/>
            </a:pPr>
            <a:r>
              <a:rPr lang="en-US" dirty="0"/>
              <a:t>Work: Gas interacts with a heated metal oxide surface (e.g., </a:t>
            </a:r>
            <a:r>
              <a:rPr lang="en-US" dirty="0" err="1"/>
              <a:t>SnO</a:t>
            </a:r>
            <a:r>
              <a:rPr lang="en-US" dirty="0"/>
              <a:t>₂), changing its electrical resistance</a:t>
            </a:r>
          </a:p>
          <a:p>
            <a:pPr marL="742950" lvl="1" indent="-285750">
              <a:buFont typeface="Arial" panose="020B0604020202020204" pitchFamily="34" charset="0"/>
              <a:buChar char="•"/>
            </a:pPr>
            <a:endParaRPr lang="en-IN" dirty="0"/>
          </a:p>
        </p:txBody>
      </p:sp>
    </p:spTree>
    <p:extLst>
      <p:ext uri="{BB962C8B-B14F-4D97-AF65-F5344CB8AC3E}">
        <p14:creationId xmlns:p14="http://schemas.microsoft.com/office/powerpoint/2010/main" val="12556736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52</a:t>
            </a:fld>
            <a:endParaRPr lang="en-US" dirty="0"/>
          </a:p>
        </p:txBody>
      </p:sp>
      <p:sp>
        <p:nvSpPr>
          <p:cNvPr id="4" name="Rectangle 3"/>
          <p:cNvSpPr/>
          <p:nvPr/>
        </p:nvSpPr>
        <p:spPr>
          <a:xfrm>
            <a:off x="333375" y="296183"/>
            <a:ext cx="9639300" cy="5078313"/>
          </a:xfrm>
          <a:prstGeom prst="rect">
            <a:avLst/>
          </a:prstGeom>
        </p:spPr>
        <p:txBody>
          <a:bodyPr wrap="square">
            <a:spAutoFit/>
          </a:bodyPr>
          <a:lstStyle/>
          <a:p>
            <a:pPr algn="just"/>
            <a:r>
              <a:rPr lang="en-IN" b="1" dirty="0"/>
              <a:t>Applications of Industrial Sensors</a:t>
            </a:r>
          </a:p>
          <a:p>
            <a:pPr algn="just"/>
            <a:r>
              <a:rPr lang="en-IN" dirty="0"/>
              <a:t>Industrial sensors find applications across multiple sectors:</a:t>
            </a:r>
          </a:p>
          <a:p>
            <a:pPr algn="just"/>
            <a:endParaRPr lang="en-IN" dirty="0"/>
          </a:p>
          <a:p>
            <a:pPr algn="just">
              <a:buFont typeface="+mj-lt"/>
              <a:buAutoNum type="arabicPeriod"/>
            </a:pPr>
            <a:r>
              <a:rPr lang="en-IN" b="1" dirty="0"/>
              <a:t>Manufacturing</a:t>
            </a:r>
            <a:endParaRPr lang="en-IN" dirty="0"/>
          </a:p>
          <a:p>
            <a:pPr marL="742950" lvl="1" indent="-285750" algn="just">
              <a:buFont typeface="+mj-lt"/>
              <a:buAutoNum type="arabicPeriod"/>
            </a:pPr>
            <a:r>
              <a:rPr lang="en-IN" b="1" dirty="0"/>
              <a:t>Quality Control:</a:t>
            </a:r>
            <a:r>
              <a:rPr lang="en-IN" dirty="0"/>
              <a:t> Optical sensors inspect defects in production lines.</a:t>
            </a:r>
          </a:p>
          <a:p>
            <a:pPr marL="742950" lvl="1" indent="-285750" algn="just">
              <a:buFont typeface="+mj-lt"/>
              <a:buAutoNum type="arabicPeriod"/>
            </a:pPr>
            <a:r>
              <a:rPr lang="en-IN" b="1" dirty="0"/>
              <a:t>Process Monitoring:</a:t>
            </a:r>
            <a:r>
              <a:rPr lang="en-IN" dirty="0"/>
              <a:t> Temperature sensors regulate furnace temperatures.</a:t>
            </a:r>
          </a:p>
          <a:p>
            <a:pPr marL="742950" lvl="1" indent="-285750" algn="just">
              <a:buFont typeface="+mj-lt"/>
              <a:buAutoNum type="arabicPeriod"/>
            </a:pPr>
            <a:endParaRPr lang="en-IN" dirty="0"/>
          </a:p>
          <a:p>
            <a:pPr algn="just">
              <a:buFont typeface="+mj-lt"/>
              <a:buAutoNum type="arabicPeriod"/>
            </a:pPr>
            <a:r>
              <a:rPr lang="en-IN" b="1" dirty="0"/>
              <a:t>Automotive Industry</a:t>
            </a:r>
            <a:endParaRPr lang="en-IN" dirty="0"/>
          </a:p>
          <a:p>
            <a:pPr marL="742950" lvl="1" indent="-285750" algn="just">
              <a:buFont typeface="+mj-lt"/>
              <a:buAutoNum type="arabicPeriod"/>
            </a:pPr>
            <a:r>
              <a:rPr lang="en-IN" b="1" dirty="0"/>
              <a:t>Pressure Sensors:</a:t>
            </a:r>
            <a:r>
              <a:rPr lang="en-IN" dirty="0"/>
              <a:t> Monitor fuel and tire pressure.</a:t>
            </a:r>
          </a:p>
          <a:p>
            <a:pPr marL="742950" lvl="1" indent="-285750" algn="just">
              <a:buFont typeface="+mj-lt"/>
              <a:buAutoNum type="arabicPeriod"/>
            </a:pPr>
            <a:r>
              <a:rPr lang="en-IN" b="1" dirty="0"/>
              <a:t>Proximity Sensors:</a:t>
            </a:r>
            <a:r>
              <a:rPr lang="en-IN" dirty="0"/>
              <a:t> Used in vehicle collision avoidance systems.</a:t>
            </a:r>
          </a:p>
          <a:p>
            <a:pPr marL="742950" lvl="1" indent="-285750" algn="just">
              <a:buFont typeface="+mj-lt"/>
              <a:buAutoNum type="arabicPeriod"/>
            </a:pPr>
            <a:endParaRPr lang="en-IN" dirty="0"/>
          </a:p>
          <a:p>
            <a:pPr algn="just">
              <a:buFont typeface="+mj-lt"/>
              <a:buAutoNum type="arabicPeriod"/>
            </a:pPr>
            <a:r>
              <a:rPr lang="en-IN" b="1" dirty="0"/>
              <a:t>Chemical &amp; Petrochemical Industry</a:t>
            </a:r>
            <a:endParaRPr lang="en-IN" dirty="0"/>
          </a:p>
          <a:p>
            <a:pPr marL="742950" lvl="1" indent="-285750" algn="just">
              <a:buFont typeface="+mj-lt"/>
              <a:buAutoNum type="arabicPeriod"/>
            </a:pPr>
            <a:r>
              <a:rPr lang="en-IN" b="1" dirty="0"/>
              <a:t>Gas Sensors:</a:t>
            </a:r>
            <a:r>
              <a:rPr lang="en-IN" dirty="0"/>
              <a:t> Detect toxic gases and prevent leakage.</a:t>
            </a:r>
          </a:p>
          <a:p>
            <a:pPr marL="742950" lvl="1" indent="-285750" algn="just">
              <a:buFont typeface="+mj-lt"/>
              <a:buAutoNum type="arabicPeriod"/>
            </a:pPr>
            <a:r>
              <a:rPr lang="en-IN" b="1" dirty="0"/>
              <a:t>Flow Sensors:</a:t>
            </a:r>
            <a:r>
              <a:rPr lang="en-IN" dirty="0"/>
              <a:t> Monitor liquid flow rates in chemical plants.</a:t>
            </a:r>
          </a:p>
          <a:p>
            <a:pPr marL="742950" lvl="1" indent="-285750" algn="just">
              <a:buFont typeface="+mj-lt"/>
              <a:buAutoNum type="arabicPeriod"/>
            </a:pPr>
            <a:endParaRPr lang="en-IN" dirty="0"/>
          </a:p>
          <a:p>
            <a:pPr algn="just">
              <a:buFont typeface="+mj-lt"/>
              <a:buAutoNum type="arabicPeriod"/>
            </a:pPr>
            <a:r>
              <a:rPr lang="en-IN" b="1" dirty="0"/>
              <a:t>Pharmaceutical Industry</a:t>
            </a:r>
            <a:endParaRPr lang="en-IN" dirty="0"/>
          </a:p>
          <a:p>
            <a:pPr marL="742950" lvl="1" indent="-285750" algn="just">
              <a:buFont typeface="+mj-lt"/>
              <a:buAutoNum type="arabicPeriod"/>
            </a:pPr>
            <a:r>
              <a:rPr lang="en-IN" b="1" dirty="0"/>
              <a:t>Humidity Sensors:</a:t>
            </a:r>
            <a:r>
              <a:rPr lang="en-IN" dirty="0"/>
              <a:t> Ensure controlled moisture levels for drug storage.</a:t>
            </a:r>
          </a:p>
          <a:p>
            <a:pPr marL="742950" lvl="1" indent="-285750" algn="just">
              <a:buFont typeface="+mj-lt"/>
              <a:buAutoNum type="arabicPeriod"/>
            </a:pPr>
            <a:r>
              <a:rPr lang="en-IN" b="1" dirty="0"/>
              <a:t>Optical Sensors:</a:t>
            </a:r>
            <a:r>
              <a:rPr lang="en-IN" dirty="0"/>
              <a:t> Used for precision filling in medicine packaging.</a:t>
            </a:r>
          </a:p>
        </p:txBody>
      </p:sp>
    </p:spTree>
    <p:extLst>
      <p:ext uri="{BB962C8B-B14F-4D97-AF65-F5344CB8AC3E}">
        <p14:creationId xmlns:p14="http://schemas.microsoft.com/office/powerpoint/2010/main" val="29968914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D57F1E4F-1CFF-5643-939E-02111984F565}" type="slidenum">
              <a:rPr lang="en-US" smtClean="0"/>
              <a:pPr/>
              <a:t>53</a:t>
            </a:fld>
            <a:endParaRPr lang="en-US" dirty="0"/>
          </a:p>
        </p:txBody>
      </p:sp>
      <p:sp>
        <p:nvSpPr>
          <p:cNvPr id="4" name="TextBox 3"/>
          <p:cNvSpPr txBox="1"/>
          <p:nvPr/>
        </p:nvSpPr>
        <p:spPr>
          <a:xfrm>
            <a:off x="581025" y="295729"/>
            <a:ext cx="8239125" cy="2308324"/>
          </a:xfrm>
          <a:prstGeom prst="rect">
            <a:avLst/>
          </a:prstGeom>
          <a:noFill/>
        </p:spPr>
        <p:txBody>
          <a:bodyPr wrap="square" rtlCol="0">
            <a:spAutoFit/>
          </a:bodyPr>
          <a:lstStyle/>
          <a:p>
            <a:pPr marL="742950" lvl="1" indent="-285750">
              <a:buFont typeface="+mj-lt"/>
              <a:buAutoNum type="arabicPeriod"/>
            </a:pPr>
            <a:endParaRPr lang="en-IN" dirty="0"/>
          </a:p>
          <a:p>
            <a:r>
              <a:rPr lang="en-IN" b="1" dirty="0"/>
              <a:t>5. Aerospace Industry</a:t>
            </a:r>
            <a:endParaRPr lang="en-IN" dirty="0"/>
          </a:p>
          <a:p>
            <a:pPr marL="742950" lvl="1" indent="-285750">
              <a:buFont typeface="+mj-lt"/>
              <a:buAutoNum type="arabicPeriod"/>
            </a:pPr>
            <a:r>
              <a:rPr lang="en-IN" b="1" dirty="0"/>
              <a:t>Vibration Sensors:</a:t>
            </a:r>
            <a:r>
              <a:rPr lang="en-IN" dirty="0"/>
              <a:t> Monitor aircraft engine conditions.</a:t>
            </a:r>
          </a:p>
          <a:p>
            <a:pPr marL="742950" lvl="1" indent="-285750">
              <a:buFont typeface="+mj-lt"/>
              <a:buAutoNum type="arabicPeriod"/>
            </a:pPr>
            <a:r>
              <a:rPr lang="en-IN" b="1" dirty="0"/>
              <a:t>Temperature Sensors:</a:t>
            </a:r>
            <a:r>
              <a:rPr lang="en-IN" dirty="0"/>
              <a:t> Regulate heat levels in spacecraft.</a:t>
            </a:r>
          </a:p>
          <a:p>
            <a:r>
              <a:rPr lang="en-IN" b="1" dirty="0"/>
              <a:t>6. Food Processing Industry</a:t>
            </a:r>
            <a:endParaRPr lang="en-IN" dirty="0"/>
          </a:p>
          <a:p>
            <a:pPr marL="742950" lvl="1" indent="-285750">
              <a:buFont typeface="+mj-lt"/>
              <a:buAutoNum type="arabicPeriod"/>
            </a:pPr>
            <a:r>
              <a:rPr lang="en-IN" b="1" dirty="0"/>
              <a:t>Level Sensors:</a:t>
            </a:r>
            <a:r>
              <a:rPr lang="en-IN" dirty="0"/>
              <a:t> Maintain ingredient levels in storage tanks.</a:t>
            </a:r>
          </a:p>
          <a:p>
            <a:pPr marL="742950" lvl="1" indent="-285750">
              <a:buFont typeface="+mj-lt"/>
              <a:buAutoNum type="arabicPeriod"/>
            </a:pPr>
            <a:r>
              <a:rPr lang="en-IN" b="1" dirty="0"/>
              <a:t>Flow Sensors:</a:t>
            </a:r>
            <a:r>
              <a:rPr lang="en-IN" dirty="0"/>
              <a:t> Monitor fluid transfer in food production.</a:t>
            </a:r>
          </a:p>
          <a:p>
            <a:endParaRPr lang="en-IN" dirty="0"/>
          </a:p>
        </p:txBody>
      </p:sp>
    </p:spTree>
    <p:extLst>
      <p:ext uri="{BB962C8B-B14F-4D97-AF65-F5344CB8AC3E}">
        <p14:creationId xmlns:p14="http://schemas.microsoft.com/office/powerpoint/2010/main" val="872075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07364" y="2768628"/>
            <a:ext cx="7939043" cy="1470085"/>
          </a:xfrm>
        </p:spPr>
        <p:txBody>
          <a:bodyPr/>
          <a:lstStyle/>
          <a:p>
            <a:r>
              <a:rPr lang="en-US" sz="9600" dirty="0">
                <a:solidFill>
                  <a:srgbClr val="FFFF00"/>
                </a:solidFill>
              </a:rPr>
              <a:t>Thank You</a:t>
            </a:r>
            <a:endParaRPr lang="en-IN" sz="9600" dirty="0">
              <a:solidFill>
                <a:srgbClr val="FFFF00"/>
              </a:solidFill>
            </a:endParaRPr>
          </a:p>
        </p:txBody>
      </p:sp>
      <p:sp>
        <p:nvSpPr>
          <p:cNvPr id="3" name="Slide Number Placeholder 2"/>
          <p:cNvSpPr>
            <a:spLocks noGrp="1"/>
          </p:cNvSpPr>
          <p:nvPr>
            <p:ph type="sldNum" sz="quarter" idx="12"/>
          </p:nvPr>
        </p:nvSpPr>
        <p:spPr/>
        <p:txBody>
          <a:bodyPr/>
          <a:lstStyle/>
          <a:p>
            <a:fld id="{D57F1E4F-1CFF-5643-939E-02111984F565}" type="slidenum">
              <a:rPr lang="en-US" smtClean="0"/>
              <a:pPr/>
              <a:t>54</a:t>
            </a:fld>
            <a:endParaRPr lang="en-US" dirty="0"/>
          </a:p>
        </p:txBody>
      </p:sp>
    </p:spTree>
    <p:extLst>
      <p:ext uri="{BB962C8B-B14F-4D97-AF65-F5344CB8AC3E}">
        <p14:creationId xmlns:p14="http://schemas.microsoft.com/office/powerpoint/2010/main" val="19059087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60813</TotalTime>
  <Words>7300</Words>
  <Application>Microsoft Office PowerPoint</Application>
  <PresentationFormat>Widescreen</PresentationFormat>
  <Paragraphs>558</Paragraphs>
  <Slides>54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Century Gothic</vt:lpstr>
      <vt:lpstr>Times New Roman</vt:lpstr>
      <vt:lpstr>Wingdings</vt:lpstr>
      <vt:lpstr>Wingdings 3</vt:lpstr>
      <vt:lpstr>Ion</vt:lpstr>
      <vt:lpstr>Subject Code:21EEO304T Subject Name: Energy Efficient Practices           </vt:lpstr>
      <vt:lpstr>Unit-5 Industrial Sector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 Sensors and Actuators </vt:lpstr>
      <vt:lpstr>2. Programmable Logic Controllers (PLCs) </vt:lpstr>
      <vt:lpstr>PowerPoint Presentation</vt:lpstr>
      <vt:lpstr>3. Supervisory Control and Data Acquisition (SCADA) Systems </vt:lpstr>
      <vt:lpstr>PowerPoint Presentation</vt:lpstr>
      <vt:lpstr>4. Industrial Robots</vt:lpstr>
      <vt:lpstr>PowerPoint Presentation</vt:lpstr>
      <vt:lpstr>5. Human-Machine Interfaces (HMI)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MECHATRONICS:</dc:title>
  <dc:creator>balaj</dc:creator>
  <cp:lastModifiedBy>Dr Amit Kumar</cp:lastModifiedBy>
  <cp:revision>635</cp:revision>
  <dcterms:created xsi:type="dcterms:W3CDTF">2023-06-12T13:34:44Z</dcterms:created>
  <dcterms:modified xsi:type="dcterms:W3CDTF">2026-04-10T05:33:07Z</dcterms:modified>
</cp:coreProperties>
</file>